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8"/>
  </p:notesMasterIdLst>
  <p:sldIdLst>
    <p:sldId id="276" r:id="rId2"/>
    <p:sldId id="295" r:id="rId3"/>
    <p:sldId id="296" r:id="rId4"/>
    <p:sldId id="468" r:id="rId5"/>
    <p:sldId id="472" r:id="rId6"/>
    <p:sldId id="469" r:id="rId7"/>
    <p:sldId id="471" r:id="rId8"/>
    <p:sldId id="461" r:id="rId9"/>
    <p:sldId id="285" r:id="rId10"/>
    <p:sldId id="473" r:id="rId11"/>
    <p:sldId id="474" r:id="rId12"/>
    <p:sldId id="475" r:id="rId13"/>
    <p:sldId id="463" r:id="rId14"/>
    <p:sldId id="436" r:id="rId15"/>
    <p:sldId id="476" r:id="rId16"/>
    <p:sldId id="479" r:id="rId17"/>
    <p:sldId id="478" r:id="rId18"/>
    <p:sldId id="480" r:id="rId19"/>
    <p:sldId id="481" r:id="rId20"/>
    <p:sldId id="482" r:id="rId21"/>
    <p:sldId id="484" r:id="rId22"/>
    <p:sldId id="483" r:id="rId23"/>
    <p:sldId id="466" r:id="rId24"/>
    <p:sldId id="467" r:id="rId25"/>
    <p:sldId id="470" r:id="rId26"/>
    <p:sldId id="460" r:id="rId27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3898" autoAdjust="0"/>
  </p:normalViewPr>
  <p:slideViewPr>
    <p:cSldViewPr snapToGrid="0">
      <p:cViewPr varScale="1">
        <p:scale>
          <a:sx n="67" d="100"/>
          <a:sy n="67" d="100"/>
        </p:scale>
        <p:origin x="9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216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4315E-AA88-4C4F-BC7F-691CB14FAFBC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8D1EEC-C44F-4BFC-84C2-8741EE48D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828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800" b="0" i="0" u="none" strike="noStrike" kern="1200">
                <a:solidFill>
                  <a:srgbClr val="E6E6E6"/>
                </a:solidFill>
                <a:effectLst/>
                <a:latin typeface="+mn-lt"/>
                <a:ea typeface="+mn-ea"/>
                <a:cs typeface="+mn-cs"/>
              </a:rPr>
              <a:t>更多素材资源</a:t>
            </a:r>
            <a:r>
              <a:rPr lang="en-US" altLang="zh-CN" sz="800" b="0" i="0" u="none" strike="noStrike" kern="1200">
                <a:solidFill>
                  <a:srgbClr val="E6E6E6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800" b="0" i="0" u="none" strike="noStrike" kern="1200">
                <a:solidFill>
                  <a:srgbClr val="E6E6E6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800" b="0" i="0" u="none" strike="noStrike" kern="1200">
                <a:solidFill>
                  <a:srgbClr val="E6E6E6"/>
                </a:solidFill>
                <a:effectLst/>
                <a:latin typeface="+mn-lt"/>
                <a:ea typeface="+mn-ea"/>
                <a:cs typeface="+mn-cs"/>
              </a:rPr>
              <a:t>B-lue-D-ragonfly- </a:t>
            </a:r>
            <a:r>
              <a:rPr lang="en-US" altLang="zh-CN" sz="800">
                <a:solidFill>
                  <a:srgbClr val="E6E6E6"/>
                </a:solidFill>
              </a:rPr>
              <a:t>DESIGN</a:t>
            </a:r>
            <a:endParaRPr lang="zh-CN" altLang="en-US" sz="800">
              <a:solidFill>
                <a:srgbClr val="E6E6E6"/>
              </a:solidFill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D1EEC-C44F-4BFC-84C2-8741EE48D1A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565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3B4C3C-FBBD-4FF1-885B-547F55B793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3B4C3C-FBBD-4FF1-885B-547F55B793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03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80AF6-EF31-4F21-B0A3-694D839F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BC86D-9E9E-8D9A-9FFB-47DADCEC8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5F7C28-24E8-4149-A0F5-4CAE1EE07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0023D-9651-E7AE-3408-A77FD63042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3B4C3C-FBBD-4FF1-885B-547F55B793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2531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560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708F4-F190-368D-2DF9-0B78AA79E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B5B156-72C8-0F03-8D3F-0E65556C1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5CC24B-9264-3B0C-F5FB-F32765AE3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4BB77E-4CC4-3F8F-7DB5-DE58F07DC8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040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3B4C3C-FBBD-4FF1-885B-547F55B793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6989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9573C-4563-40E3-94F9-55383A434BA3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44F48-72E4-5F48-E5B8-587027DE2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2E7CC9-B8C9-BC6B-90C5-49769C512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8E115D-E70E-7755-0C01-9A51A2EB3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44E071-B07E-76FA-250B-95CE4EF08B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9573C-4563-40E3-94F9-55383A434BA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976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2A1EE-DA63-7D3D-8E08-AF95F3AC9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56B8B3-1921-383A-D3CA-2F87617D0F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643254-E20D-F4F3-6E82-7B9C47910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F7E754-0A38-68C4-A96A-C3BFB5562C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9573C-4563-40E3-94F9-55383A434BA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4283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25096-B898-10FC-F1FD-9554B64ED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5288E0-A186-0285-0DB8-ECD16FA79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467758A-2A76-E59C-50BD-380E69011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927BBF-EDFC-74B9-BCC2-297FA98E9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9573C-4563-40E3-94F9-55383A434BA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391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3B4C3C-FBBD-4FF1-885B-547F55B793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49646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A366C-94CB-4910-B403-493C3B05D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B91B01-4473-20E5-436E-19B9CC534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5A9A7-8F66-53C1-8881-40B33C6B8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AE400-2C2B-3988-CE2D-43B344E8F5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3B4C3C-FBBD-4FF1-885B-547F55B793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02968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6F67-1449-3D64-48FD-FA291FA35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9D0AFE-51F1-A3AB-8A3A-4F26CA02A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800D95-60C6-913C-F015-653448466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F3018E-4BD8-D2D9-B2D1-8E6BC4FD10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2489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42F65-602A-6781-CDE8-A74852532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047BDC-D0F9-AF65-D0AF-531E2C99ED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F385E7-9E2A-A36F-6380-B69DA0595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5CDD39-0F23-D094-B417-7BF4586B7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7899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CE4F8-EF5D-8139-18F8-FFD920268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3EB372-CEDB-A364-3392-A508BEFD9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31681A-CEBE-DB92-B19E-530173CE0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606A20-47C4-1088-7B68-B63BFA79EB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8980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569E6-E375-8062-3F42-E6AB80250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6C69FD-C141-3B01-A9D9-66E388DE8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161995-F51A-C367-3B3C-5E571932F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DE5D13-1235-552A-5C92-95F63F3DD0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5924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60813-DE9B-814E-9917-CC78D6878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87038B-DB79-BFD2-2DA0-0320BBE04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2BB8CA-2618-3B34-6655-834809D64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18BB63-CE4B-0621-CFB6-40A81E81D5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4614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6ECF9-FE31-58B9-DFB9-4CBEC0C2A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FDCE13-7A31-F89F-165B-6749741C8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58B8A1-046C-8E92-26CB-D2CA193F5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23B6A8-7D2C-D317-0A97-4031AED1F7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1539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BB6FE-2306-ACE5-B089-3CCCCCF2D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212D7D-7886-9FB1-D177-38A82980C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125C10-3941-1020-6903-3EAC440FF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B1F22E-2C7C-2858-137A-95D7DD26D4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201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3B4C3C-FBBD-4FF1-885B-547F55B793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34264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3B4C3C-FBBD-4FF1-885B-547F55B793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31991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6360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800" b="0" i="0" u="none" strike="noStrike" kern="1200">
                <a:solidFill>
                  <a:srgbClr val="E6E6E6"/>
                </a:solidFill>
                <a:effectLst/>
                <a:latin typeface="+mn-lt"/>
                <a:ea typeface="+mn-ea"/>
                <a:cs typeface="+mn-cs"/>
              </a:rPr>
              <a:t>更多素材资源</a:t>
            </a:r>
            <a:r>
              <a:rPr lang="en-US" altLang="zh-CN" sz="800" b="0" i="0" u="none" strike="noStrike" kern="1200">
                <a:solidFill>
                  <a:srgbClr val="E6E6E6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800" b="0" i="0" u="none" strike="noStrike" kern="1200">
                <a:solidFill>
                  <a:srgbClr val="E6E6E6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800" b="0" i="0" u="none" strike="noStrike" kern="1200">
                <a:solidFill>
                  <a:srgbClr val="E6E6E6"/>
                </a:solidFill>
                <a:effectLst/>
                <a:latin typeface="+mn-lt"/>
                <a:ea typeface="+mn-ea"/>
                <a:cs typeface="+mn-cs"/>
              </a:rPr>
              <a:t>B-lue-D-ragonfly- </a:t>
            </a:r>
            <a:r>
              <a:rPr lang="en-US" altLang="zh-CN" sz="800">
                <a:solidFill>
                  <a:srgbClr val="E6E6E6"/>
                </a:solidFill>
              </a:rPr>
              <a:t>DESIGN</a:t>
            </a:r>
            <a:endParaRPr lang="zh-CN" altLang="en-US" sz="800">
              <a:solidFill>
                <a:srgbClr val="E6E6E6"/>
              </a:solidFill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D1EEC-C44F-4BFC-84C2-8741EE48D1A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110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40ECCD6-BC05-4722-B6B6-C3135ABE5BE2}"/>
              </a:ext>
            </a:extLst>
          </p:cNvPr>
          <p:cNvSpPr txBox="1"/>
          <p:nvPr userDrawn="1"/>
        </p:nvSpPr>
        <p:spPr>
          <a:xfrm>
            <a:off x="-32063823" y="5259227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rgbClr val="E6E6E6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01F188-D72C-4D4B-9F32-8A9536FA8516}"/>
              </a:ext>
            </a:extLst>
          </p:cNvPr>
          <p:cNvSpPr/>
          <p:nvPr userDrawn="1"/>
        </p:nvSpPr>
        <p:spPr>
          <a:xfrm>
            <a:off x="-15098004" y="6488668"/>
            <a:ext cx="1197764" cy="369332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r>
              <a:rPr lang="fr-FR" altLang="fr-FR">
                <a:solidFill>
                  <a:srgbClr val="E6E6E6"/>
                </a:solidFill>
                <a:latin typeface="Lato"/>
                <a:ea typeface="Lato"/>
              </a:rPr>
              <a:t>61536760</a:t>
            </a:r>
            <a:endParaRPr lang="zh-CN" altLang="en-US">
              <a:solidFill>
                <a:srgbClr val="E6E6E6"/>
              </a:solidFill>
            </a:endParaRPr>
          </a:p>
        </p:txBody>
      </p:sp>
      <p:sp>
        <p:nvSpPr>
          <p:cNvPr id="9" name="图片占位符 8">
            <a:extLst>
              <a:ext uri="{FF2B5EF4-FFF2-40B4-BE49-F238E27FC236}">
                <a16:creationId xmlns:a16="http://schemas.microsoft.com/office/drawing/2014/main" id="{F83E322F-582A-473B-A891-98619F917A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52922" y="2276451"/>
            <a:ext cx="1816100" cy="1129150"/>
          </a:xfrm>
          <a:custGeom>
            <a:avLst/>
            <a:gdLst>
              <a:gd name="connsiteX0" fmla="*/ 0 w 1816100"/>
              <a:gd name="connsiteY0" fmla="*/ 0 h 1129150"/>
              <a:gd name="connsiteX1" fmla="*/ 1816100 w 1816100"/>
              <a:gd name="connsiteY1" fmla="*/ 0 h 1129150"/>
              <a:gd name="connsiteX2" fmla="*/ 1816100 w 1816100"/>
              <a:gd name="connsiteY2" fmla="*/ 1129150 h 1129150"/>
              <a:gd name="connsiteX3" fmla="*/ 0 w 1816100"/>
              <a:gd name="connsiteY3" fmla="*/ 1129150 h 112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6100" h="1129150">
                <a:moveTo>
                  <a:pt x="0" y="0"/>
                </a:moveTo>
                <a:lnTo>
                  <a:pt x="1816100" y="0"/>
                </a:lnTo>
                <a:lnTo>
                  <a:pt x="1816100" y="1129150"/>
                </a:lnTo>
                <a:lnTo>
                  <a:pt x="0" y="112915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 sz="1600"/>
            </a:lvl1pPr>
          </a:lstStyle>
          <a:p>
            <a:endParaRPr lang="zh-CN" altLang="en-US"/>
          </a:p>
        </p:txBody>
      </p:sp>
      <p:sp>
        <p:nvSpPr>
          <p:cNvPr id="10" name="图片占位符 9">
            <a:extLst>
              <a:ext uri="{FF2B5EF4-FFF2-40B4-BE49-F238E27FC236}">
                <a16:creationId xmlns:a16="http://schemas.microsoft.com/office/drawing/2014/main" id="{0AFB00B9-C503-434C-A556-9A7BA358ED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83458" y="3449534"/>
            <a:ext cx="1816100" cy="1129150"/>
          </a:xfrm>
          <a:custGeom>
            <a:avLst/>
            <a:gdLst>
              <a:gd name="connsiteX0" fmla="*/ 0 w 1816100"/>
              <a:gd name="connsiteY0" fmla="*/ 0 h 1129150"/>
              <a:gd name="connsiteX1" fmla="*/ 1816100 w 1816100"/>
              <a:gd name="connsiteY1" fmla="*/ 0 h 1129150"/>
              <a:gd name="connsiteX2" fmla="*/ 1816100 w 1816100"/>
              <a:gd name="connsiteY2" fmla="*/ 1129150 h 1129150"/>
              <a:gd name="connsiteX3" fmla="*/ 0 w 1816100"/>
              <a:gd name="connsiteY3" fmla="*/ 1129150 h 112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6100" h="1129150">
                <a:moveTo>
                  <a:pt x="0" y="0"/>
                </a:moveTo>
                <a:lnTo>
                  <a:pt x="1816100" y="0"/>
                </a:lnTo>
                <a:lnTo>
                  <a:pt x="1816100" y="1129150"/>
                </a:lnTo>
                <a:lnTo>
                  <a:pt x="0" y="112915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 sz="1600"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2468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40ECCD6-BC05-4722-B6B6-C3135ABE5BE2}"/>
              </a:ext>
            </a:extLst>
          </p:cNvPr>
          <p:cNvSpPr txBox="1"/>
          <p:nvPr userDrawn="1"/>
        </p:nvSpPr>
        <p:spPr>
          <a:xfrm>
            <a:off x="-32063823" y="5259227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rgbClr val="E6E6E6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01F188-D72C-4D4B-9F32-8A9536FA8516}"/>
              </a:ext>
            </a:extLst>
          </p:cNvPr>
          <p:cNvSpPr/>
          <p:nvPr userDrawn="1"/>
        </p:nvSpPr>
        <p:spPr>
          <a:xfrm>
            <a:off x="-15098004" y="6488668"/>
            <a:ext cx="1197764" cy="369332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r>
              <a:rPr lang="fr-FR" altLang="fr-FR">
                <a:solidFill>
                  <a:srgbClr val="E6E6E6"/>
                </a:solidFill>
                <a:latin typeface="Lato"/>
                <a:ea typeface="Lato"/>
              </a:rPr>
              <a:t>61536760</a:t>
            </a:r>
            <a:endParaRPr lang="zh-CN" altLang="en-US">
              <a:solidFill>
                <a:srgbClr val="E6E6E6"/>
              </a:solidFill>
            </a:endParaRPr>
          </a:p>
        </p:txBody>
      </p:sp>
      <p:sp>
        <p:nvSpPr>
          <p:cNvPr id="7" name="图片占位符 6">
            <a:extLst>
              <a:ext uri="{FF2B5EF4-FFF2-40B4-BE49-F238E27FC236}">
                <a16:creationId xmlns:a16="http://schemas.microsoft.com/office/drawing/2014/main" id="{E9E36D46-6A10-4149-8A37-8D7A928BA0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48024" y="2390927"/>
            <a:ext cx="1912302" cy="1915602"/>
          </a:xfrm>
          <a:custGeom>
            <a:avLst/>
            <a:gdLst>
              <a:gd name="connsiteX0" fmla="*/ 956151 w 1912302"/>
              <a:gd name="connsiteY0" fmla="*/ 0 h 1915602"/>
              <a:gd name="connsiteX1" fmla="*/ 1912302 w 1912302"/>
              <a:gd name="connsiteY1" fmla="*/ 0 h 1915602"/>
              <a:gd name="connsiteX2" fmla="*/ 1912302 w 1912302"/>
              <a:gd name="connsiteY2" fmla="*/ 957801 h 1915602"/>
              <a:gd name="connsiteX3" fmla="*/ 956151 w 1912302"/>
              <a:gd name="connsiteY3" fmla="*/ 1915602 h 1915602"/>
              <a:gd name="connsiteX4" fmla="*/ 0 w 1912302"/>
              <a:gd name="connsiteY4" fmla="*/ 957801 h 1915602"/>
              <a:gd name="connsiteX5" fmla="*/ 956151 w 1912302"/>
              <a:gd name="connsiteY5" fmla="*/ 0 h 1915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12302" h="1915602">
                <a:moveTo>
                  <a:pt x="956151" y="0"/>
                </a:moveTo>
                <a:lnTo>
                  <a:pt x="1912302" y="0"/>
                </a:lnTo>
                <a:lnTo>
                  <a:pt x="1912302" y="957801"/>
                </a:lnTo>
                <a:cubicBezTo>
                  <a:pt x="1912302" y="1486780"/>
                  <a:pt x="1484219" y="1915602"/>
                  <a:pt x="956151" y="1915602"/>
                </a:cubicBezTo>
                <a:cubicBezTo>
                  <a:pt x="428083" y="1915602"/>
                  <a:pt x="0" y="1486780"/>
                  <a:pt x="0" y="957801"/>
                </a:cubicBezTo>
                <a:cubicBezTo>
                  <a:pt x="0" y="428822"/>
                  <a:pt x="428083" y="0"/>
                  <a:pt x="95615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823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40ECCD6-BC05-4722-B6B6-C3135ABE5BE2}"/>
              </a:ext>
            </a:extLst>
          </p:cNvPr>
          <p:cNvSpPr txBox="1"/>
          <p:nvPr userDrawn="1"/>
        </p:nvSpPr>
        <p:spPr>
          <a:xfrm>
            <a:off x="-32063823" y="5259227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rgbClr val="E6E6E6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01F188-D72C-4D4B-9F32-8A9536FA8516}"/>
              </a:ext>
            </a:extLst>
          </p:cNvPr>
          <p:cNvSpPr/>
          <p:nvPr userDrawn="1"/>
        </p:nvSpPr>
        <p:spPr>
          <a:xfrm>
            <a:off x="-15098004" y="6488668"/>
            <a:ext cx="1197764" cy="369332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r>
              <a:rPr lang="fr-FR" altLang="fr-FR">
                <a:solidFill>
                  <a:srgbClr val="E6E6E6"/>
                </a:solidFill>
                <a:latin typeface="Lato"/>
                <a:ea typeface="Lato"/>
              </a:rPr>
              <a:t>61536760</a:t>
            </a:r>
            <a:endParaRPr lang="zh-CN" altLang="en-US">
              <a:solidFill>
                <a:srgbClr val="E6E6E6"/>
              </a:solidFill>
            </a:endParaRPr>
          </a:p>
        </p:txBody>
      </p:sp>
      <p:sp>
        <p:nvSpPr>
          <p:cNvPr id="11" name="图片占位符 10">
            <a:extLst>
              <a:ext uri="{FF2B5EF4-FFF2-40B4-BE49-F238E27FC236}">
                <a16:creationId xmlns:a16="http://schemas.microsoft.com/office/drawing/2014/main" id="{45B42495-727C-41A0-B2DF-569EF3443A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290" y="1532008"/>
            <a:ext cx="3634217" cy="2112235"/>
          </a:xfrm>
          <a:custGeom>
            <a:avLst/>
            <a:gdLst>
              <a:gd name="connsiteX0" fmla="*/ 0 w 3634217"/>
              <a:gd name="connsiteY0" fmla="*/ 0 h 2112235"/>
              <a:gd name="connsiteX1" fmla="*/ 3634217 w 3634217"/>
              <a:gd name="connsiteY1" fmla="*/ 0 h 2112235"/>
              <a:gd name="connsiteX2" fmla="*/ 3634217 w 3634217"/>
              <a:gd name="connsiteY2" fmla="*/ 2112235 h 2112235"/>
              <a:gd name="connsiteX3" fmla="*/ 0 w 3634217"/>
              <a:gd name="connsiteY3" fmla="*/ 2112235 h 2112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34217" h="2112235">
                <a:moveTo>
                  <a:pt x="0" y="0"/>
                </a:moveTo>
                <a:lnTo>
                  <a:pt x="3634217" y="0"/>
                </a:lnTo>
                <a:lnTo>
                  <a:pt x="3634217" y="2112235"/>
                </a:lnTo>
                <a:lnTo>
                  <a:pt x="0" y="2112235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A83F9692-151B-4D5B-9812-CA0C23EEA53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65808" y="3634566"/>
            <a:ext cx="3634217" cy="2112235"/>
          </a:xfrm>
          <a:custGeom>
            <a:avLst/>
            <a:gdLst>
              <a:gd name="connsiteX0" fmla="*/ 0 w 3634217"/>
              <a:gd name="connsiteY0" fmla="*/ 0 h 2112235"/>
              <a:gd name="connsiteX1" fmla="*/ 3634217 w 3634217"/>
              <a:gd name="connsiteY1" fmla="*/ 0 h 2112235"/>
              <a:gd name="connsiteX2" fmla="*/ 3634217 w 3634217"/>
              <a:gd name="connsiteY2" fmla="*/ 2112235 h 2112235"/>
              <a:gd name="connsiteX3" fmla="*/ 0 w 3634217"/>
              <a:gd name="connsiteY3" fmla="*/ 2112235 h 2112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34217" h="2112235">
                <a:moveTo>
                  <a:pt x="0" y="0"/>
                </a:moveTo>
                <a:lnTo>
                  <a:pt x="3634217" y="0"/>
                </a:lnTo>
                <a:lnTo>
                  <a:pt x="3634217" y="2112235"/>
                </a:lnTo>
                <a:lnTo>
                  <a:pt x="0" y="2112235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D44B1743-D888-45B8-855D-8AE355B1C2E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7325" y="1532008"/>
            <a:ext cx="3634217" cy="2112235"/>
          </a:xfrm>
          <a:custGeom>
            <a:avLst/>
            <a:gdLst>
              <a:gd name="connsiteX0" fmla="*/ 0 w 3634217"/>
              <a:gd name="connsiteY0" fmla="*/ 0 h 2112235"/>
              <a:gd name="connsiteX1" fmla="*/ 3634217 w 3634217"/>
              <a:gd name="connsiteY1" fmla="*/ 0 h 2112235"/>
              <a:gd name="connsiteX2" fmla="*/ 3634217 w 3634217"/>
              <a:gd name="connsiteY2" fmla="*/ 2112235 h 2112235"/>
              <a:gd name="connsiteX3" fmla="*/ 0 w 3634217"/>
              <a:gd name="connsiteY3" fmla="*/ 2112235 h 2112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34217" h="2112235">
                <a:moveTo>
                  <a:pt x="0" y="0"/>
                </a:moveTo>
                <a:lnTo>
                  <a:pt x="3634217" y="0"/>
                </a:lnTo>
                <a:lnTo>
                  <a:pt x="3634217" y="2112235"/>
                </a:lnTo>
                <a:lnTo>
                  <a:pt x="0" y="2112235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7606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>
            <a:extLst>
              <a:ext uri="{FF2B5EF4-FFF2-40B4-BE49-F238E27FC236}">
                <a16:creationId xmlns:a16="http://schemas.microsoft.com/office/drawing/2014/main" id="{7E213577-AF8D-487A-AAE2-B2746E82D9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005013"/>
            <a:ext cx="5310188" cy="28321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40ECCD6-BC05-4722-B6B6-C3135ABE5BE2}"/>
              </a:ext>
            </a:extLst>
          </p:cNvPr>
          <p:cNvSpPr txBox="1"/>
          <p:nvPr userDrawn="1"/>
        </p:nvSpPr>
        <p:spPr>
          <a:xfrm>
            <a:off x="-32063823" y="5259227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rgbClr val="E6E6E6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01F188-D72C-4D4B-9F32-8A9536FA8516}"/>
              </a:ext>
            </a:extLst>
          </p:cNvPr>
          <p:cNvSpPr/>
          <p:nvPr userDrawn="1"/>
        </p:nvSpPr>
        <p:spPr>
          <a:xfrm>
            <a:off x="-15098004" y="6488668"/>
            <a:ext cx="1197764" cy="369332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r>
              <a:rPr lang="fr-FR" altLang="fr-FR">
                <a:solidFill>
                  <a:srgbClr val="E6E6E6"/>
                </a:solidFill>
                <a:latin typeface="Lato"/>
                <a:ea typeface="Lato"/>
              </a:rPr>
              <a:t>61536760</a:t>
            </a:r>
            <a:endParaRPr lang="zh-CN" altLang="en-US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46188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plate from Qian t u 8 4 3 5 7 5 9">
            <a:extLst>
              <a:ext uri="{FF2B5EF4-FFF2-40B4-BE49-F238E27FC236}">
                <a16:creationId xmlns:a16="http://schemas.microsoft.com/office/drawing/2014/main" id="{E3062B5B-4B7E-4CB9-964C-2B3C8DD797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E6E6E6"/>
              </a:solidFill>
            </a:endParaRPr>
          </a:p>
        </p:txBody>
      </p:sp>
      <p:sp>
        <p:nvSpPr>
          <p:cNvPr id="3" name="Template from Qian t u 8 4 3 5 7 5 9">
            <a:extLst>
              <a:ext uri="{FF2B5EF4-FFF2-40B4-BE49-F238E27FC236}">
                <a16:creationId xmlns:a16="http://schemas.microsoft.com/office/drawing/2014/main" id="{17E90A3C-F8B0-4BEB-A9C7-2B3EBEA69E44}"/>
              </a:ext>
            </a:extLst>
          </p:cNvPr>
          <p:cNvSpPr txBox="1"/>
          <p:nvPr userDrawn="1"/>
        </p:nvSpPr>
        <p:spPr>
          <a:xfrm>
            <a:off x="-32063823" y="5259227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rgbClr val="E6E6E6"/>
              </a:solidFill>
            </a:endParaRPr>
          </a:p>
        </p:txBody>
      </p:sp>
      <p:sp>
        <p:nvSpPr>
          <p:cNvPr id="4" name="Template from Qian t u 8 4 3 5 7 5 9">
            <a:extLst>
              <a:ext uri="{FF2B5EF4-FFF2-40B4-BE49-F238E27FC236}">
                <a16:creationId xmlns:a16="http://schemas.microsoft.com/office/drawing/2014/main" id="{8E8929C5-08AE-4C1A-B1A1-FDFE45F42A68}"/>
              </a:ext>
            </a:extLst>
          </p:cNvPr>
          <p:cNvSpPr txBox="1"/>
          <p:nvPr userDrawn="1"/>
        </p:nvSpPr>
        <p:spPr>
          <a:xfrm>
            <a:off x="-34029697" y="0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rgbClr val="E6E6E6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884D17-2E3C-4F6B-AB1E-EFCC73F7439E}"/>
              </a:ext>
            </a:extLst>
          </p:cNvPr>
          <p:cNvSpPr txBox="1"/>
          <p:nvPr userDrawn="1"/>
        </p:nvSpPr>
        <p:spPr>
          <a:xfrm>
            <a:off x="38852977" y="20296026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rgbClr val="E6E6E6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1F0FE0-FE81-4426-91B6-6B3A8200C3CF}"/>
              </a:ext>
            </a:extLst>
          </p:cNvPr>
          <p:cNvSpPr txBox="1"/>
          <p:nvPr userDrawn="1"/>
        </p:nvSpPr>
        <p:spPr>
          <a:xfrm>
            <a:off x="-16011023" y="-21258374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rgbClr val="E6E6E6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89A45E-A6D0-4936-AA0B-344C6675BDAA}"/>
              </a:ext>
            </a:extLst>
          </p:cNvPr>
          <p:cNvSpPr/>
          <p:nvPr userDrawn="1"/>
        </p:nvSpPr>
        <p:spPr>
          <a:xfrm>
            <a:off x="-15098004" y="6488668"/>
            <a:ext cx="1197764" cy="369332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r>
              <a:rPr lang="fr-FR" altLang="fr-FR">
                <a:solidFill>
                  <a:srgbClr val="E6E6E6"/>
                </a:solidFill>
                <a:latin typeface="Lato"/>
                <a:ea typeface="Lato"/>
              </a:rPr>
              <a:t>61536760</a:t>
            </a:r>
            <a:endParaRPr lang="zh-CN" altLang="en-US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82797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>
            <a:extLst>
              <a:ext uri="{FF2B5EF4-FFF2-40B4-BE49-F238E27FC236}">
                <a16:creationId xmlns:a16="http://schemas.microsoft.com/office/drawing/2014/main" id="{688F0AC0-EE18-4A3A-B29F-377AA7A0EC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51075"/>
            <a:ext cx="12192000" cy="2617788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mplate from Qian t u 8 4 3 5 7 5 9">
            <a:extLst>
              <a:ext uri="{FF2B5EF4-FFF2-40B4-BE49-F238E27FC236}">
                <a16:creationId xmlns:a16="http://schemas.microsoft.com/office/drawing/2014/main" id="{17E90A3C-F8B0-4BEB-A9C7-2B3EBEA69E44}"/>
              </a:ext>
            </a:extLst>
          </p:cNvPr>
          <p:cNvSpPr txBox="1"/>
          <p:nvPr userDrawn="1"/>
        </p:nvSpPr>
        <p:spPr>
          <a:xfrm>
            <a:off x="-32063823" y="5259227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rgbClr val="E6E6E6"/>
              </a:solidFill>
            </a:endParaRPr>
          </a:p>
        </p:txBody>
      </p:sp>
      <p:sp>
        <p:nvSpPr>
          <p:cNvPr id="4" name="Template from Qian t u 8 4 3 5 7 5 9">
            <a:extLst>
              <a:ext uri="{FF2B5EF4-FFF2-40B4-BE49-F238E27FC236}">
                <a16:creationId xmlns:a16="http://schemas.microsoft.com/office/drawing/2014/main" id="{8E8929C5-08AE-4C1A-B1A1-FDFE45F42A68}"/>
              </a:ext>
            </a:extLst>
          </p:cNvPr>
          <p:cNvSpPr txBox="1"/>
          <p:nvPr userDrawn="1"/>
        </p:nvSpPr>
        <p:spPr>
          <a:xfrm>
            <a:off x="-34029697" y="0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rgbClr val="E6E6E6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884D17-2E3C-4F6B-AB1E-EFCC73F7439E}"/>
              </a:ext>
            </a:extLst>
          </p:cNvPr>
          <p:cNvSpPr txBox="1"/>
          <p:nvPr userDrawn="1"/>
        </p:nvSpPr>
        <p:spPr>
          <a:xfrm>
            <a:off x="38852977" y="20296026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rgbClr val="E6E6E6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1F0FE0-FE81-4426-91B6-6B3A8200C3CF}"/>
              </a:ext>
            </a:extLst>
          </p:cNvPr>
          <p:cNvSpPr txBox="1"/>
          <p:nvPr userDrawn="1"/>
        </p:nvSpPr>
        <p:spPr>
          <a:xfrm>
            <a:off x="-16011023" y="-21258374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rgbClr val="E6E6E6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89A45E-A6D0-4936-AA0B-344C6675BDAA}"/>
              </a:ext>
            </a:extLst>
          </p:cNvPr>
          <p:cNvSpPr/>
          <p:nvPr userDrawn="1"/>
        </p:nvSpPr>
        <p:spPr>
          <a:xfrm>
            <a:off x="-15098004" y="6488668"/>
            <a:ext cx="1197764" cy="369332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r>
              <a:rPr lang="fr-FR" altLang="fr-FR">
                <a:solidFill>
                  <a:srgbClr val="E6E6E6"/>
                </a:solidFill>
                <a:latin typeface="Lato"/>
                <a:ea typeface="Lato"/>
              </a:rPr>
              <a:t>61536760</a:t>
            </a:r>
            <a:endParaRPr lang="zh-CN" altLang="en-US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5256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4E60768-9E33-4B47-AC49-4BD7A2D7113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E6E6E6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9B6907-6BBF-4117-B1BF-AABA6B18BCE6}"/>
              </a:ext>
            </a:extLst>
          </p:cNvPr>
          <p:cNvSpPr txBox="1"/>
          <p:nvPr userDrawn="1"/>
        </p:nvSpPr>
        <p:spPr>
          <a:xfrm>
            <a:off x="2378578" y="-10793573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rgbClr val="E6E6E6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0EF643-CDBD-45C0-9A15-9537830847D1}"/>
              </a:ext>
            </a:extLst>
          </p:cNvPr>
          <p:cNvSpPr txBox="1"/>
          <p:nvPr userDrawn="1"/>
        </p:nvSpPr>
        <p:spPr>
          <a:xfrm>
            <a:off x="38852977" y="20296026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rgbClr val="E6E6E6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43FBB6-3649-409B-B354-54D19325ECFC}"/>
              </a:ext>
            </a:extLst>
          </p:cNvPr>
          <p:cNvSpPr txBox="1"/>
          <p:nvPr userDrawn="1"/>
        </p:nvSpPr>
        <p:spPr>
          <a:xfrm>
            <a:off x="-24850223" y="18772026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rgbClr val="E6E6E6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87AA50-0B18-4F37-ACE4-B2AD85F7E579}"/>
              </a:ext>
            </a:extLst>
          </p:cNvPr>
          <p:cNvSpPr/>
          <p:nvPr userDrawn="1"/>
        </p:nvSpPr>
        <p:spPr>
          <a:xfrm>
            <a:off x="-15098004" y="6488668"/>
            <a:ext cx="1197764" cy="369332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r>
              <a:rPr lang="fr-FR" altLang="fr-FR">
                <a:solidFill>
                  <a:srgbClr val="E6E6E6"/>
                </a:solidFill>
                <a:latin typeface="Lato"/>
                <a:ea typeface="Lato"/>
              </a:rPr>
              <a:t>61536760</a:t>
            </a:r>
            <a:endParaRPr lang="zh-CN" altLang="en-US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37692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0CB790D-A6A3-4DF5-A838-3B9F9E5790FB}"/>
              </a:ext>
            </a:extLst>
          </p:cNvPr>
          <p:cNvSpPr txBox="1"/>
          <p:nvPr userDrawn="1"/>
        </p:nvSpPr>
        <p:spPr>
          <a:xfrm>
            <a:off x="1591321" y="3733800"/>
            <a:ext cx="3056879" cy="3352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fontAlgn="base"/>
            <a:r>
              <a:rPr lang="fr-FR" altLang="fr-FR" sz="800" b="0" i="0" u="none" strike="noStrike" kern="1200">
                <a:solidFill>
                  <a:srgbClr val="E6E6E6"/>
                </a:solidFill>
                <a:effectLst/>
                <a:latin typeface="Lato"/>
                <a:ea typeface="Lato"/>
                <a:cs typeface="+mn-cs"/>
              </a:rPr>
              <a:t>slidesdocs : Blu et Drago nfly</a:t>
            </a:r>
            <a:endParaRPr lang="en-US" altLang="zh-CN" sz="800" b="0" i="0" u="none" strike="noStrike" kern="1200">
              <a:solidFill>
                <a:srgbClr val="E6E6E6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altLang="fr-FR" sz="800">
                <a:solidFill>
                  <a:srgbClr val="E6E6E6"/>
                </a:solidFill>
                <a:latin typeface="Lato"/>
                <a:ea typeface="Lato"/>
              </a:rPr>
              <a:t>CONCEPTION</a:t>
            </a:r>
            <a:endParaRPr lang="zh-CN" altLang="en-US" sz="800">
              <a:solidFill>
                <a:srgbClr val="E6E6E6"/>
              </a:solidFill>
            </a:endParaRPr>
          </a:p>
        </p:txBody>
      </p:sp>
      <p:sp>
        <p:nvSpPr>
          <p:cNvPr id="3" name="8435759">
            <a:extLst>
              <a:ext uri="{FF2B5EF4-FFF2-40B4-BE49-F238E27FC236}">
                <a16:creationId xmlns:a16="http://schemas.microsoft.com/office/drawing/2014/main" id="{00A8853D-AB50-4CD6-916C-C53BF4F749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DC18EE2-ECC1-43AC-A74F-63FD6DFF49A4}"/>
              </a:ext>
            </a:extLst>
          </p:cNvPr>
          <p:cNvSpPr txBox="1"/>
          <p:nvPr userDrawn="1"/>
        </p:nvSpPr>
        <p:spPr>
          <a:xfrm>
            <a:off x="2378578" y="-10793573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rgbClr val="E6E6E6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6A394B-751A-4395-A207-B679971548FA}"/>
              </a:ext>
            </a:extLst>
          </p:cNvPr>
          <p:cNvSpPr txBox="1"/>
          <p:nvPr userDrawn="1"/>
        </p:nvSpPr>
        <p:spPr>
          <a:xfrm>
            <a:off x="38852977" y="20296026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rgbClr val="E6E6E6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BBE956C-C935-4ECC-9DF4-56A2FB202FF8}"/>
              </a:ext>
            </a:extLst>
          </p:cNvPr>
          <p:cNvSpPr txBox="1"/>
          <p:nvPr userDrawn="1"/>
        </p:nvSpPr>
        <p:spPr>
          <a:xfrm>
            <a:off x="-24850223" y="18772026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rgbClr val="E6E6E6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3A6E06-FE3A-44B6-BF0D-FD49CBA996A5}"/>
              </a:ext>
            </a:extLst>
          </p:cNvPr>
          <p:cNvSpPr/>
          <p:nvPr userDrawn="1"/>
        </p:nvSpPr>
        <p:spPr>
          <a:xfrm>
            <a:off x="-15098004" y="6488668"/>
            <a:ext cx="1197764" cy="369332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r>
              <a:rPr lang="fr-FR" altLang="fr-FR">
                <a:solidFill>
                  <a:srgbClr val="E6E6E6"/>
                </a:solidFill>
                <a:latin typeface="Lato"/>
                <a:ea typeface="Lato"/>
              </a:rPr>
              <a:t>61536760</a:t>
            </a:r>
            <a:endParaRPr lang="zh-CN" altLang="en-US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1981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07606F3-AC03-44B3-82D4-A28F1060013F}"/>
              </a:ext>
            </a:extLst>
          </p:cNvPr>
          <p:cNvSpPr txBox="1"/>
          <p:nvPr userDrawn="1"/>
        </p:nvSpPr>
        <p:spPr>
          <a:xfrm>
            <a:off x="2378578" y="-10793573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C68887-BEB9-48B3-9D32-2D9741925CFB}"/>
              </a:ext>
            </a:extLst>
          </p:cNvPr>
          <p:cNvSpPr txBox="1"/>
          <p:nvPr userDrawn="1"/>
        </p:nvSpPr>
        <p:spPr>
          <a:xfrm>
            <a:off x="38852977" y="20296026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A84732-7AEF-4010-B554-4E6548B2394C}"/>
              </a:ext>
            </a:extLst>
          </p:cNvPr>
          <p:cNvSpPr txBox="1"/>
          <p:nvPr userDrawn="1"/>
        </p:nvSpPr>
        <p:spPr>
          <a:xfrm>
            <a:off x="-24850223" y="18772026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chemeClr val="bg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E30BAC-3EFA-4972-B62C-AF8DE118CE80}"/>
              </a:ext>
            </a:extLst>
          </p:cNvPr>
          <p:cNvSpPr/>
          <p:nvPr userDrawn="1"/>
        </p:nvSpPr>
        <p:spPr>
          <a:xfrm>
            <a:off x="-15098004" y="6488668"/>
            <a:ext cx="1197764" cy="369332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r>
              <a:rPr lang="fr-FR" altLang="fr-FR">
                <a:solidFill>
                  <a:srgbClr val="CCD1D4"/>
                </a:solidFill>
                <a:latin typeface="Lato"/>
                <a:ea typeface="Lato"/>
              </a:rPr>
              <a:t>61536760</a:t>
            </a:r>
            <a:endParaRPr lang="zh-CN" altLang="en-US">
              <a:solidFill>
                <a:srgbClr val="CCD1D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910000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155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ED34861-AAA6-470C-8FAB-ED882951C6A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41502" y="2229138"/>
            <a:ext cx="2106704" cy="32541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D8EC6E-0205-4DE3-8DA5-68FEA08FAB3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831484" y="2229138"/>
            <a:ext cx="2106704" cy="32541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5471DE2-33A8-42D0-BBD3-3A747362679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1490" y="2229138"/>
            <a:ext cx="2106704" cy="32541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DDDF936-A792-4522-AEC9-C1B42B3B6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71496" y="2229138"/>
            <a:ext cx="2106704" cy="32541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14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 userDrawn="1"/>
        </p:nvSpPr>
        <p:spPr>
          <a:xfrm>
            <a:off x="838200" y="6268029"/>
            <a:ext cx="105156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 userDrawn="1"/>
        </p:nvSpPr>
        <p:spPr>
          <a:xfrm>
            <a:off x="10932341" y="6424036"/>
            <a:ext cx="315589" cy="3155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10915247" y="6455364"/>
            <a:ext cx="349776" cy="261610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pPr algn="ctr"/>
            <a:fld id="{52D6D798-CB88-473E-97C8-67A016EA1979}" type="slidenum">
              <a:rPr lang="fr-FR" altLang="fr-FR" sz="1100" smtClean="0">
                <a:solidFill>
                  <a:schemeClr val="bg1"/>
                </a:solidFill>
                <a:latin typeface="Lato"/>
                <a:ea typeface="Lato"/>
                <a:cs typeface="Open Sans Light" panose="020B0306030504020204" pitchFamily="34" charset="0"/>
              </a:rPr>
              <a:t>‹#›</a:t>
            </a:fld>
            <a:endParaRPr lang="en-US" sz="110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8" name="TextBox 43"/>
          <p:cNvSpPr txBox="1"/>
          <p:nvPr userDrawn="1"/>
        </p:nvSpPr>
        <p:spPr>
          <a:xfrm>
            <a:off x="749300" y="6436006"/>
            <a:ext cx="1634160" cy="21549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fr-FR" altLang="fr-FR" sz="800">
                <a:solidFill>
                  <a:schemeClr val="bg1">
                    <a:lumMod val="50000"/>
                  </a:schemeClr>
                </a:solidFill>
                <a:latin typeface="Lato"/>
                <a:ea typeface="Lato"/>
                <a:cs typeface="Open Sans Light" panose="020B0306030504020204" pitchFamily="34" charset="0"/>
              </a:rPr>
              <a:t>PEI XUN XU QIU YU JI HUA ZHI</a:t>
            </a:r>
          </a:p>
        </p:txBody>
      </p:sp>
      <p:sp>
        <p:nvSpPr>
          <p:cNvPr id="17" name="Picture Placeholder 27">
            <a:extLst>
              <a:ext uri="{FF2B5EF4-FFF2-40B4-BE49-F238E27FC236}">
                <a16:creationId xmlns:a16="http://schemas.microsoft.com/office/drawing/2014/main" id="{95AC21BC-CE00-41A7-B832-4B3552A59B8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8401" cy="17145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27">
            <a:extLst>
              <a:ext uri="{FF2B5EF4-FFF2-40B4-BE49-F238E27FC236}">
                <a16:creationId xmlns:a16="http://schemas.microsoft.com/office/drawing/2014/main" id="{EA35E782-E85E-46F6-8748-CD24FC98536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438399" y="0"/>
            <a:ext cx="2438401" cy="171450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Picture Placeholder 27">
            <a:extLst>
              <a:ext uri="{FF2B5EF4-FFF2-40B4-BE49-F238E27FC236}">
                <a16:creationId xmlns:a16="http://schemas.microsoft.com/office/drawing/2014/main" id="{4B4B5475-09A4-45D8-9D05-2EBEF1CFECF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797" y="0"/>
            <a:ext cx="2438401" cy="171450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Picture Placeholder 27">
            <a:extLst>
              <a:ext uri="{FF2B5EF4-FFF2-40B4-BE49-F238E27FC236}">
                <a16:creationId xmlns:a16="http://schemas.microsoft.com/office/drawing/2014/main" id="{B29058FF-7710-4362-8989-40FE2DF4E4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196" y="0"/>
            <a:ext cx="2438401" cy="171450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Picture Placeholder 27">
            <a:extLst>
              <a:ext uri="{FF2B5EF4-FFF2-40B4-BE49-F238E27FC236}">
                <a16:creationId xmlns:a16="http://schemas.microsoft.com/office/drawing/2014/main" id="{499E578F-D3E1-4524-A87E-405A43966F2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591" y="0"/>
            <a:ext cx="2438401" cy="17145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7">
            <a:extLst>
              <a:ext uri="{FF2B5EF4-FFF2-40B4-BE49-F238E27FC236}">
                <a16:creationId xmlns:a16="http://schemas.microsoft.com/office/drawing/2014/main" id="{21A55305-7179-45C2-8C60-878702DA1B0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714499"/>
            <a:ext cx="2438401" cy="17145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27">
            <a:extLst>
              <a:ext uri="{FF2B5EF4-FFF2-40B4-BE49-F238E27FC236}">
                <a16:creationId xmlns:a16="http://schemas.microsoft.com/office/drawing/2014/main" id="{1AD88E8A-4BC8-4F76-9F25-4B8FB9947ED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438399" y="1714499"/>
            <a:ext cx="2438401" cy="17145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7">
            <a:extLst>
              <a:ext uri="{FF2B5EF4-FFF2-40B4-BE49-F238E27FC236}">
                <a16:creationId xmlns:a16="http://schemas.microsoft.com/office/drawing/2014/main" id="{759E4797-4F52-457F-BFF4-A6BC6AD8D6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876797" y="1714499"/>
            <a:ext cx="2438401" cy="17145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02C05ED5-FF40-4E76-895E-C86C1A017E3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15196" y="1714499"/>
            <a:ext cx="2438401" cy="171450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Picture Placeholder 27">
            <a:extLst>
              <a:ext uri="{FF2B5EF4-FFF2-40B4-BE49-F238E27FC236}">
                <a16:creationId xmlns:a16="http://schemas.microsoft.com/office/drawing/2014/main" id="{8D118F81-16F0-4C75-9EC1-25CBB91B49A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753591" y="1714499"/>
            <a:ext cx="2438401" cy="171450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587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 animBg="1"/>
      <p:bldP spid="20" grpId="0" animBg="1"/>
      <p:bldP spid="21" grpId="0" animBg="1"/>
      <p:bldP spid="24" grpId="0"/>
      <p:bldP spid="25" grpId="0"/>
      <p:bldP spid="26" grpId="0"/>
      <p:bldP spid="27" grpId="0"/>
      <p:bldP spid="28" grpId="0" animBg="1"/>
      <p:bldP spid="29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341502" y="2229138"/>
            <a:ext cx="2106704" cy="325418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831484" y="2229138"/>
            <a:ext cx="2106704" cy="3254189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01490" y="2229138"/>
            <a:ext cx="2106704" cy="3254189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171496" y="2229138"/>
            <a:ext cx="2106704" cy="325418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4322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22500" lnSpcReduction="20000"/>
          </a:bodyPr>
          <a:lstStyle/>
          <a:p>
            <a:pPr lvl="0"/>
            <a:r>
              <a:rPr lang="fr-FR" altLang="fr-FR" sz="2100">
                <a:latin typeface="Lato"/>
                <a:ea typeface="Lato"/>
              </a:rPr>
              <a:t>Cliquez ici pour</a:t>
            </a:r>
          </a:p>
          <a:p>
            <a:pPr lvl="1"/>
            <a:r>
              <a:rPr lang="fr-FR" altLang="fr-FR" sz="700">
                <a:latin typeface="Lato"/>
                <a:ea typeface="Lato"/>
              </a:rPr>
              <a:t>deuxième niveau</a:t>
            </a:r>
          </a:p>
          <a:p>
            <a:pPr lvl="2"/>
            <a:r>
              <a:rPr lang="fr-FR" altLang="fr-FR" sz="700">
                <a:latin typeface="Lato"/>
                <a:ea typeface="Lato"/>
              </a:rPr>
              <a:t>Niveau 3</a:t>
            </a:r>
          </a:p>
          <a:p>
            <a:pPr lvl="3"/>
            <a:r>
              <a:rPr lang="fr-FR" altLang="fr-FR" sz="700">
                <a:latin typeface="Lato"/>
                <a:ea typeface="Lato"/>
              </a:rPr>
              <a:t>Niveau 4</a:t>
            </a:r>
          </a:p>
          <a:p>
            <a:pPr lvl="4"/>
            <a:r>
              <a:rPr lang="fr-FR" altLang="fr-FR" sz="700">
                <a:latin typeface="Lato"/>
                <a:ea typeface="Lato"/>
              </a:rPr>
              <a:t>Niveau 5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 fontScale="22500" lnSpcReduction="20000"/>
          </a:bodyPr>
          <a:lstStyle/>
          <a:p>
            <a:fld id="{747C3213-509F-48F2-89BC-C4D2144A55E5}" type="datetimeFigureOut">
              <a:rPr lang="fr-FR" altLang="fr-FR" sz="1500" smtClean="0">
                <a:latin typeface="Lato"/>
                <a:ea typeface="Lato"/>
              </a:rPr>
              <a:t>11/11/2025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2500" lnSpcReduction="20000"/>
          </a:bodyPr>
          <a:lstStyle/>
          <a:p>
            <a:fld id="{41B81E90-7A14-4305-A058-460373899884}" type="slidenum">
              <a:rPr lang="fr-FR" altLang="fr-FR" smtClean="0">
                <a:latin typeface="Lato"/>
                <a:ea typeface="Lato"/>
              </a:r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62082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BA86F5B0-BE1F-4236-898D-DC5095464704}"/>
              </a:ext>
            </a:extLst>
          </p:cNvPr>
          <p:cNvSpPr txBox="1"/>
          <p:nvPr userDrawn="1"/>
        </p:nvSpPr>
        <p:spPr>
          <a:xfrm>
            <a:off x="2378578" y="-10793573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rgbClr val="E6E6E6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173AC5-DE76-496B-87BE-81B7CD1AD32A}"/>
              </a:ext>
            </a:extLst>
          </p:cNvPr>
          <p:cNvSpPr txBox="1"/>
          <p:nvPr userDrawn="1"/>
        </p:nvSpPr>
        <p:spPr>
          <a:xfrm>
            <a:off x="38852977" y="20296026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rgbClr val="E6E6E6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0DED289-F196-41EE-8718-AEF8CFC1C56B}"/>
              </a:ext>
            </a:extLst>
          </p:cNvPr>
          <p:cNvSpPr txBox="1"/>
          <p:nvPr userDrawn="1"/>
        </p:nvSpPr>
        <p:spPr>
          <a:xfrm>
            <a:off x="-24850223" y="18772026"/>
            <a:ext cx="1965874" cy="113995"/>
          </a:xfrm>
          <a:custGeom>
            <a:avLst/>
            <a:gdLst/>
            <a:ahLst/>
            <a:cxnLst/>
            <a:rect l="l" t="t" r="r" b="b"/>
            <a:pathLst>
              <a:path w="1965874" h="113994">
                <a:moveTo>
                  <a:pt x="891806" y="87487"/>
                </a:moveTo>
                <a:cubicBezTo>
                  <a:pt x="887684" y="90420"/>
                  <a:pt x="885624" y="93808"/>
                  <a:pt x="885624" y="97650"/>
                </a:cubicBezTo>
                <a:cubicBezTo>
                  <a:pt x="885624" y="100793"/>
                  <a:pt x="887126" y="103308"/>
                  <a:pt x="890130" y="105194"/>
                </a:cubicBezTo>
                <a:cubicBezTo>
                  <a:pt x="893134" y="107080"/>
                  <a:pt x="897290" y="108023"/>
                  <a:pt x="902598" y="108023"/>
                </a:cubicBezTo>
                <a:cubicBezTo>
                  <a:pt x="908046" y="108023"/>
                  <a:pt x="912586" y="106765"/>
                  <a:pt x="916218" y="104251"/>
                </a:cubicBezTo>
                <a:cubicBezTo>
                  <a:pt x="919572" y="101876"/>
                  <a:pt x="921248" y="99082"/>
                  <a:pt x="921248" y="95869"/>
                </a:cubicBezTo>
                <a:cubicBezTo>
                  <a:pt x="921248" y="90909"/>
                  <a:pt x="917302" y="88430"/>
                  <a:pt x="909408" y="88430"/>
                </a:cubicBezTo>
                <a:lnTo>
                  <a:pt x="899036" y="88430"/>
                </a:lnTo>
                <a:cubicBezTo>
                  <a:pt x="896870" y="88430"/>
                  <a:pt x="894460" y="88115"/>
                  <a:pt x="891806" y="87487"/>
                </a:cubicBezTo>
                <a:close/>
                <a:moveTo>
                  <a:pt x="429472" y="75438"/>
                </a:moveTo>
                <a:cubicBezTo>
                  <a:pt x="431288" y="75438"/>
                  <a:pt x="432824" y="76066"/>
                  <a:pt x="434082" y="77324"/>
                </a:cubicBezTo>
                <a:cubicBezTo>
                  <a:pt x="435340" y="78651"/>
                  <a:pt x="435968" y="80327"/>
                  <a:pt x="435968" y="82353"/>
                </a:cubicBezTo>
                <a:cubicBezTo>
                  <a:pt x="435968" y="84309"/>
                  <a:pt x="435340" y="85915"/>
                  <a:pt x="434082" y="87172"/>
                </a:cubicBezTo>
                <a:cubicBezTo>
                  <a:pt x="432824" y="88430"/>
                  <a:pt x="431288" y="89058"/>
                  <a:pt x="429472" y="89058"/>
                </a:cubicBezTo>
                <a:cubicBezTo>
                  <a:pt x="427726" y="89058"/>
                  <a:pt x="426224" y="88430"/>
                  <a:pt x="424966" y="87172"/>
                </a:cubicBezTo>
                <a:cubicBezTo>
                  <a:pt x="423710" y="85915"/>
                  <a:pt x="423080" y="84309"/>
                  <a:pt x="423080" y="82353"/>
                </a:cubicBezTo>
                <a:cubicBezTo>
                  <a:pt x="423080" y="80327"/>
                  <a:pt x="423710" y="78651"/>
                  <a:pt x="424966" y="77324"/>
                </a:cubicBezTo>
                <a:cubicBezTo>
                  <a:pt x="426224" y="76066"/>
                  <a:pt x="427726" y="75438"/>
                  <a:pt x="429472" y="75438"/>
                </a:cubicBezTo>
                <a:close/>
                <a:moveTo>
                  <a:pt x="335384" y="66846"/>
                </a:moveTo>
                <a:lnTo>
                  <a:pt x="335384" y="83191"/>
                </a:lnTo>
                <a:lnTo>
                  <a:pt x="392172" y="83191"/>
                </a:lnTo>
                <a:lnTo>
                  <a:pt x="392172" y="66846"/>
                </a:lnTo>
                <a:close/>
                <a:moveTo>
                  <a:pt x="856868" y="57731"/>
                </a:moveTo>
                <a:cubicBezTo>
                  <a:pt x="847158" y="58848"/>
                  <a:pt x="840174" y="60629"/>
                  <a:pt x="835914" y="63074"/>
                </a:cubicBezTo>
                <a:cubicBezTo>
                  <a:pt x="832002" y="65449"/>
                  <a:pt x="830046" y="68627"/>
                  <a:pt x="830046" y="72609"/>
                </a:cubicBezTo>
                <a:cubicBezTo>
                  <a:pt x="830046" y="78965"/>
                  <a:pt x="833538" y="82143"/>
                  <a:pt x="840524" y="82143"/>
                </a:cubicBezTo>
                <a:cubicBezTo>
                  <a:pt x="845552" y="82143"/>
                  <a:pt x="851000" y="79524"/>
                  <a:pt x="856868" y="74285"/>
                </a:cubicBezTo>
                <a:close/>
                <a:moveTo>
                  <a:pt x="482440" y="50606"/>
                </a:moveTo>
                <a:lnTo>
                  <a:pt x="482440" y="80781"/>
                </a:lnTo>
                <a:lnTo>
                  <a:pt x="496270" y="80781"/>
                </a:lnTo>
                <a:cubicBezTo>
                  <a:pt x="510870" y="80781"/>
                  <a:pt x="518168" y="75507"/>
                  <a:pt x="518168" y="64960"/>
                </a:cubicBezTo>
                <a:cubicBezTo>
                  <a:pt x="518168" y="55391"/>
                  <a:pt x="510870" y="50606"/>
                  <a:pt x="496270" y="50606"/>
                </a:cubicBezTo>
                <a:close/>
                <a:moveTo>
                  <a:pt x="1220056" y="49977"/>
                </a:moveTo>
                <a:cubicBezTo>
                  <a:pt x="1212652" y="54657"/>
                  <a:pt x="1208950" y="60664"/>
                  <a:pt x="1208950" y="67999"/>
                </a:cubicBezTo>
                <a:cubicBezTo>
                  <a:pt x="1208950" y="72190"/>
                  <a:pt x="1210522" y="75682"/>
                  <a:pt x="1213666" y="78476"/>
                </a:cubicBezTo>
                <a:cubicBezTo>
                  <a:pt x="1216878" y="81270"/>
                  <a:pt x="1220860" y="82667"/>
                  <a:pt x="1225610" y="82667"/>
                </a:cubicBezTo>
                <a:cubicBezTo>
                  <a:pt x="1230150" y="82667"/>
                  <a:pt x="1233886" y="81375"/>
                  <a:pt x="1236820" y="78790"/>
                </a:cubicBezTo>
                <a:cubicBezTo>
                  <a:pt x="1239614" y="76276"/>
                  <a:pt x="1241012" y="73063"/>
                  <a:pt x="1241012" y="69151"/>
                </a:cubicBezTo>
                <a:cubicBezTo>
                  <a:pt x="1241012" y="64401"/>
                  <a:pt x="1238916" y="60420"/>
                  <a:pt x="1234724" y="57207"/>
                </a:cubicBezTo>
                <a:cubicBezTo>
                  <a:pt x="1232140" y="55321"/>
                  <a:pt x="1227250" y="52911"/>
                  <a:pt x="1220056" y="49977"/>
                </a:cubicBezTo>
                <a:close/>
                <a:moveTo>
                  <a:pt x="335384" y="44215"/>
                </a:moveTo>
                <a:lnTo>
                  <a:pt x="335384" y="60350"/>
                </a:lnTo>
                <a:lnTo>
                  <a:pt x="392172" y="60350"/>
                </a:lnTo>
                <a:lnTo>
                  <a:pt x="392172" y="44215"/>
                </a:lnTo>
                <a:close/>
                <a:moveTo>
                  <a:pt x="62130" y="37299"/>
                </a:moveTo>
                <a:cubicBezTo>
                  <a:pt x="64786" y="49942"/>
                  <a:pt x="68662" y="60490"/>
                  <a:pt x="73760" y="68942"/>
                </a:cubicBezTo>
                <a:cubicBezTo>
                  <a:pt x="79558" y="60071"/>
                  <a:pt x="83644" y="49523"/>
                  <a:pt x="86020" y="37299"/>
                </a:cubicBezTo>
                <a:close/>
                <a:moveTo>
                  <a:pt x="961320" y="36880"/>
                </a:moveTo>
                <a:cubicBezTo>
                  <a:pt x="956220" y="36880"/>
                  <a:pt x="952100" y="38976"/>
                  <a:pt x="948956" y="43167"/>
                </a:cubicBezTo>
                <a:cubicBezTo>
                  <a:pt x="945742" y="47288"/>
                  <a:pt x="944136" y="52736"/>
                  <a:pt x="944136" y="59512"/>
                </a:cubicBezTo>
                <a:cubicBezTo>
                  <a:pt x="944136" y="66217"/>
                  <a:pt x="945742" y="71631"/>
                  <a:pt x="948956" y="75752"/>
                </a:cubicBezTo>
                <a:cubicBezTo>
                  <a:pt x="952100" y="79873"/>
                  <a:pt x="956220" y="81934"/>
                  <a:pt x="961320" y="81934"/>
                </a:cubicBezTo>
                <a:cubicBezTo>
                  <a:pt x="966418" y="81934"/>
                  <a:pt x="970574" y="79873"/>
                  <a:pt x="973788" y="75752"/>
                </a:cubicBezTo>
                <a:cubicBezTo>
                  <a:pt x="977000" y="71631"/>
                  <a:pt x="978608" y="66217"/>
                  <a:pt x="978608" y="59512"/>
                </a:cubicBezTo>
                <a:cubicBezTo>
                  <a:pt x="978608" y="52806"/>
                  <a:pt x="977000" y="47358"/>
                  <a:pt x="973788" y="43167"/>
                </a:cubicBezTo>
                <a:cubicBezTo>
                  <a:pt x="970574" y="38976"/>
                  <a:pt x="966418" y="36880"/>
                  <a:pt x="961320" y="36880"/>
                </a:cubicBezTo>
                <a:close/>
                <a:moveTo>
                  <a:pt x="655890" y="36566"/>
                </a:moveTo>
                <a:cubicBezTo>
                  <a:pt x="651560" y="36566"/>
                  <a:pt x="647822" y="38173"/>
                  <a:pt x="644680" y="41386"/>
                </a:cubicBezTo>
                <a:cubicBezTo>
                  <a:pt x="641396" y="44808"/>
                  <a:pt x="639476" y="49384"/>
                  <a:pt x="638918" y="55111"/>
                </a:cubicBezTo>
                <a:lnTo>
                  <a:pt x="670560" y="55111"/>
                </a:lnTo>
                <a:cubicBezTo>
                  <a:pt x="670560" y="42748"/>
                  <a:pt x="665670" y="36566"/>
                  <a:pt x="655890" y="36566"/>
                </a:cubicBezTo>
                <a:close/>
                <a:moveTo>
                  <a:pt x="901236" y="36042"/>
                </a:moveTo>
                <a:cubicBezTo>
                  <a:pt x="897604" y="36042"/>
                  <a:pt x="894600" y="37265"/>
                  <a:pt x="892224" y="39709"/>
                </a:cubicBezTo>
                <a:cubicBezTo>
                  <a:pt x="889780" y="42224"/>
                  <a:pt x="888558" y="45612"/>
                  <a:pt x="888558" y="49872"/>
                </a:cubicBezTo>
                <a:cubicBezTo>
                  <a:pt x="888558" y="53994"/>
                  <a:pt x="889816" y="57381"/>
                  <a:pt x="892330" y="60036"/>
                </a:cubicBezTo>
                <a:cubicBezTo>
                  <a:pt x="894774" y="62620"/>
                  <a:pt x="897744" y="63912"/>
                  <a:pt x="901236" y="63912"/>
                </a:cubicBezTo>
                <a:cubicBezTo>
                  <a:pt x="904728" y="63912"/>
                  <a:pt x="907696" y="62620"/>
                  <a:pt x="910142" y="60036"/>
                </a:cubicBezTo>
                <a:cubicBezTo>
                  <a:pt x="912656" y="57381"/>
                  <a:pt x="913914" y="53994"/>
                  <a:pt x="913914" y="49872"/>
                </a:cubicBezTo>
                <a:cubicBezTo>
                  <a:pt x="913914" y="45681"/>
                  <a:pt x="912656" y="42294"/>
                  <a:pt x="910142" y="39709"/>
                </a:cubicBezTo>
                <a:cubicBezTo>
                  <a:pt x="907766" y="37265"/>
                  <a:pt x="904798" y="36042"/>
                  <a:pt x="901236" y="36042"/>
                </a:cubicBezTo>
                <a:close/>
                <a:moveTo>
                  <a:pt x="429472" y="32689"/>
                </a:moveTo>
                <a:cubicBezTo>
                  <a:pt x="431288" y="32689"/>
                  <a:pt x="432824" y="33318"/>
                  <a:pt x="434082" y="34575"/>
                </a:cubicBezTo>
                <a:cubicBezTo>
                  <a:pt x="435340" y="35902"/>
                  <a:pt x="435968" y="37579"/>
                  <a:pt x="435968" y="39605"/>
                </a:cubicBezTo>
                <a:cubicBezTo>
                  <a:pt x="435968" y="41560"/>
                  <a:pt x="435340" y="43167"/>
                  <a:pt x="434082" y="44424"/>
                </a:cubicBezTo>
                <a:cubicBezTo>
                  <a:pt x="432824" y="45681"/>
                  <a:pt x="431288" y="46310"/>
                  <a:pt x="429472" y="46310"/>
                </a:cubicBezTo>
                <a:cubicBezTo>
                  <a:pt x="427726" y="46310"/>
                  <a:pt x="426224" y="45681"/>
                  <a:pt x="424966" y="44424"/>
                </a:cubicBezTo>
                <a:cubicBezTo>
                  <a:pt x="423710" y="43167"/>
                  <a:pt x="423080" y="41560"/>
                  <a:pt x="423080" y="39605"/>
                </a:cubicBezTo>
                <a:cubicBezTo>
                  <a:pt x="423080" y="37579"/>
                  <a:pt x="423710" y="35902"/>
                  <a:pt x="424966" y="34575"/>
                </a:cubicBezTo>
                <a:cubicBezTo>
                  <a:pt x="426224" y="33318"/>
                  <a:pt x="427726" y="32689"/>
                  <a:pt x="429472" y="32689"/>
                </a:cubicBezTo>
                <a:close/>
                <a:moveTo>
                  <a:pt x="1121644" y="31118"/>
                </a:moveTo>
                <a:lnTo>
                  <a:pt x="1130550" y="31118"/>
                </a:lnTo>
                <a:lnTo>
                  <a:pt x="1142600" y="63493"/>
                </a:lnTo>
                <a:lnTo>
                  <a:pt x="1148258" y="79419"/>
                </a:lnTo>
                <a:lnTo>
                  <a:pt x="1148780" y="79419"/>
                </a:lnTo>
                <a:cubicBezTo>
                  <a:pt x="1149130" y="78371"/>
                  <a:pt x="1149934" y="75682"/>
                  <a:pt x="1151190" y="71351"/>
                </a:cubicBezTo>
                <a:cubicBezTo>
                  <a:pt x="1152168" y="67999"/>
                  <a:pt x="1152972" y="65379"/>
                  <a:pt x="1153600" y="63493"/>
                </a:cubicBezTo>
                <a:lnTo>
                  <a:pt x="1164182" y="31118"/>
                </a:lnTo>
                <a:lnTo>
                  <a:pt x="1172564" y="31118"/>
                </a:lnTo>
                <a:lnTo>
                  <a:pt x="1150982" y="92935"/>
                </a:lnTo>
                <a:cubicBezTo>
                  <a:pt x="1146440" y="105927"/>
                  <a:pt x="1139560" y="112423"/>
                  <a:pt x="1130340" y="112423"/>
                </a:cubicBezTo>
                <a:cubicBezTo>
                  <a:pt x="1127896" y="112423"/>
                  <a:pt x="1125730" y="112039"/>
                  <a:pt x="1123844" y="111271"/>
                </a:cubicBezTo>
                <a:lnTo>
                  <a:pt x="1125626" y="104355"/>
                </a:lnTo>
                <a:cubicBezTo>
                  <a:pt x="1127162" y="104914"/>
                  <a:pt x="1128630" y="105194"/>
                  <a:pt x="1130026" y="105194"/>
                </a:cubicBezTo>
                <a:cubicBezTo>
                  <a:pt x="1135894" y="105194"/>
                  <a:pt x="1140294" y="100933"/>
                  <a:pt x="1143228" y="92411"/>
                </a:cubicBezTo>
                <a:lnTo>
                  <a:pt x="1144486" y="88011"/>
                </a:lnTo>
                <a:close/>
                <a:moveTo>
                  <a:pt x="567422" y="31118"/>
                </a:moveTo>
                <a:lnTo>
                  <a:pt x="575910" y="31118"/>
                </a:lnTo>
                <a:lnTo>
                  <a:pt x="575910" y="66008"/>
                </a:lnTo>
                <a:cubicBezTo>
                  <a:pt x="575910" y="71456"/>
                  <a:pt x="576782" y="75403"/>
                  <a:pt x="578528" y="77847"/>
                </a:cubicBezTo>
                <a:cubicBezTo>
                  <a:pt x="580274" y="80362"/>
                  <a:pt x="583138" y="81619"/>
                  <a:pt x="587120" y="81619"/>
                </a:cubicBezTo>
                <a:cubicBezTo>
                  <a:pt x="592290" y="81619"/>
                  <a:pt x="597598" y="78301"/>
                  <a:pt x="603046" y="71666"/>
                </a:cubicBezTo>
                <a:lnTo>
                  <a:pt x="603046" y="31118"/>
                </a:lnTo>
                <a:lnTo>
                  <a:pt x="611532" y="31118"/>
                </a:lnTo>
                <a:lnTo>
                  <a:pt x="611532" y="87696"/>
                </a:lnTo>
                <a:lnTo>
                  <a:pt x="604512" y="87696"/>
                </a:lnTo>
                <a:lnTo>
                  <a:pt x="603780" y="78686"/>
                </a:lnTo>
                <a:lnTo>
                  <a:pt x="603466" y="78686"/>
                </a:lnTo>
                <a:cubicBezTo>
                  <a:pt x="597458" y="85601"/>
                  <a:pt x="591172" y="89058"/>
                  <a:pt x="584606" y="89058"/>
                </a:cubicBezTo>
                <a:cubicBezTo>
                  <a:pt x="573150" y="89058"/>
                  <a:pt x="567422" y="81724"/>
                  <a:pt x="567422" y="67056"/>
                </a:cubicBezTo>
                <a:close/>
                <a:moveTo>
                  <a:pt x="1033548" y="29651"/>
                </a:moveTo>
                <a:cubicBezTo>
                  <a:pt x="1045072" y="29651"/>
                  <a:pt x="1050836" y="37020"/>
                  <a:pt x="1050836" y="51758"/>
                </a:cubicBezTo>
                <a:lnTo>
                  <a:pt x="1050836" y="87696"/>
                </a:lnTo>
                <a:lnTo>
                  <a:pt x="1042244" y="87696"/>
                </a:lnTo>
                <a:lnTo>
                  <a:pt x="1042244" y="52806"/>
                </a:lnTo>
                <a:cubicBezTo>
                  <a:pt x="1042244" y="42329"/>
                  <a:pt x="1038506" y="37090"/>
                  <a:pt x="1031032" y="37090"/>
                </a:cubicBezTo>
                <a:cubicBezTo>
                  <a:pt x="1026214" y="37090"/>
                  <a:pt x="1020834" y="40163"/>
                  <a:pt x="1014898" y="46310"/>
                </a:cubicBezTo>
                <a:lnTo>
                  <a:pt x="1014898" y="87696"/>
                </a:lnTo>
                <a:lnTo>
                  <a:pt x="1006410" y="87696"/>
                </a:lnTo>
                <a:lnTo>
                  <a:pt x="1006410" y="31118"/>
                </a:lnTo>
                <a:lnTo>
                  <a:pt x="1013326" y="31118"/>
                </a:lnTo>
                <a:lnTo>
                  <a:pt x="1014164" y="39395"/>
                </a:lnTo>
                <a:lnTo>
                  <a:pt x="1014478" y="39395"/>
                </a:lnTo>
                <a:cubicBezTo>
                  <a:pt x="1021114" y="32899"/>
                  <a:pt x="1027470" y="29651"/>
                  <a:pt x="1033548" y="29651"/>
                </a:cubicBezTo>
                <a:close/>
                <a:moveTo>
                  <a:pt x="961320" y="29651"/>
                </a:moveTo>
                <a:cubicBezTo>
                  <a:pt x="968584" y="29651"/>
                  <a:pt x="974660" y="32270"/>
                  <a:pt x="979550" y="37509"/>
                </a:cubicBezTo>
                <a:cubicBezTo>
                  <a:pt x="984788" y="43027"/>
                  <a:pt x="987408" y="50361"/>
                  <a:pt x="987408" y="59512"/>
                </a:cubicBezTo>
                <a:cubicBezTo>
                  <a:pt x="987408" y="68522"/>
                  <a:pt x="984788" y="75787"/>
                  <a:pt x="979550" y="81305"/>
                </a:cubicBezTo>
                <a:cubicBezTo>
                  <a:pt x="974660" y="86474"/>
                  <a:pt x="968584" y="89058"/>
                  <a:pt x="961320" y="89058"/>
                </a:cubicBezTo>
                <a:cubicBezTo>
                  <a:pt x="954124" y="89058"/>
                  <a:pt x="948082" y="86474"/>
                  <a:pt x="943194" y="81305"/>
                </a:cubicBezTo>
                <a:cubicBezTo>
                  <a:pt x="937954" y="75787"/>
                  <a:pt x="935334" y="68522"/>
                  <a:pt x="935334" y="59512"/>
                </a:cubicBezTo>
                <a:cubicBezTo>
                  <a:pt x="935334" y="50361"/>
                  <a:pt x="937954" y="43027"/>
                  <a:pt x="943194" y="37509"/>
                </a:cubicBezTo>
                <a:cubicBezTo>
                  <a:pt x="948012" y="32270"/>
                  <a:pt x="954054" y="29651"/>
                  <a:pt x="961320" y="29651"/>
                </a:cubicBezTo>
                <a:close/>
                <a:moveTo>
                  <a:pt x="901236" y="29651"/>
                </a:moveTo>
                <a:cubicBezTo>
                  <a:pt x="903820" y="29651"/>
                  <a:pt x="906440" y="30140"/>
                  <a:pt x="909094" y="31118"/>
                </a:cubicBezTo>
                <a:lnTo>
                  <a:pt x="928686" y="31118"/>
                </a:lnTo>
                <a:lnTo>
                  <a:pt x="928686" y="37719"/>
                </a:lnTo>
                <a:lnTo>
                  <a:pt x="916742" y="37719"/>
                </a:lnTo>
                <a:cubicBezTo>
                  <a:pt x="920026" y="40862"/>
                  <a:pt x="921666" y="44948"/>
                  <a:pt x="921666" y="49977"/>
                </a:cubicBezTo>
                <a:cubicBezTo>
                  <a:pt x="921666" y="55914"/>
                  <a:pt x="919676" y="60734"/>
                  <a:pt x="915694" y="64436"/>
                </a:cubicBezTo>
                <a:cubicBezTo>
                  <a:pt x="911852" y="67999"/>
                  <a:pt x="907034" y="69780"/>
                  <a:pt x="901236" y="69780"/>
                </a:cubicBezTo>
                <a:cubicBezTo>
                  <a:pt x="898092" y="69780"/>
                  <a:pt x="895194" y="69081"/>
                  <a:pt x="892540" y="67684"/>
                </a:cubicBezTo>
                <a:cubicBezTo>
                  <a:pt x="890024" y="69850"/>
                  <a:pt x="888768" y="72224"/>
                  <a:pt x="888768" y="74809"/>
                </a:cubicBezTo>
                <a:cubicBezTo>
                  <a:pt x="888768" y="79070"/>
                  <a:pt x="892120" y="81200"/>
                  <a:pt x="898826" y="81200"/>
                </a:cubicBezTo>
                <a:lnTo>
                  <a:pt x="910142" y="81200"/>
                </a:lnTo>
                <a:cubicBezTo>
                  <a:pt x="923134" y="81200"/>
                  <a:pt x="929630" y="85671"/>
                  <a:pt x="929630" y="94611"/>
                </a:cubicBezTo>
                <a:cubicBezTo>
                  <a:pt x="929630" y="99920"/>
                  <a:pt x="927080" y="104425"/>
                  <a:pt x="921982" y="108127"/>
                </a:cubicBezTo>
                <a:cubicBezTo>
                  <a:pt x="916602" y="112039"/>
                  <a:pt x="909758" y="113995"/>
                  <a:pt x="901446" y="113995"/>
                </a:cubicBezTo>
                <a:cubicBezTo>
                  <a:pt x="894390" y="113995"/>
                  <a:pt x="888768" y="112668"/>
                  <a:pt x="884576" y="110013"/>
                </a:cubicBezTo>
                <a:cubicBezTo>
                  <a:pt x="880246" y="107289"/>
                  <a:pt x="878080" y="103517"/>
                  <a:pt x="878080" y="98698"/>
                </a:cubicBezTo>
                <a:cubicBezTo>
                  <a:pt x="878080" y="93738"/>
                  <a:pt x="880874" y="89408"/>
                  <a:pt x="886462" y="85706"/>
                </a:cubicBezTo>
                <a:lnTo>
                  <a:pt x="886462" y="85286"/>
                </a:lnTo>
                <a:cubicBezTo>
                  <a:pt x="883040" y="83191"/>
                  <a:pt x="881328" y="80083"/>
                  <a:pt x="881328" y="75961"/>
                </a:cubicBezTo>
                <a:cubicBezTo>
                  <a:pt x="881328" y="72050"/>
                  <a:pt x="883424" y="68557"/>
                  <a:pt x="887614" y="65484"/>
                </a:cubicBezTo>
                <a:lnTo>
                  <a:pt x="887614" y="65065"/>
                </a:lnTo>
                <a:cubicBezTo>
                  <a:pt x="882726" y="61153"/>
                  <a:pt x="880280" y="56089"/>
                  <a:pt x="880280" y="49872"/>
                </a:cubicBezTo>
                <a:cubicBezTo>
                  <a:pt x="880280" y="43865"/>
                  <a:pt x="882342" y="38976"/>
                  <a:pt x="886462" y="35204"/>
                </a:cubicBezTo>
                <a:cubicBezTo>
                  <a:pt x="890444" y="31502"/>
                  <a:pt x="895368" y="29651"/>
                  <a:pt x="901236" y="29651"/>
                </a:cubicBezTo>
                <a:close/>
                <a:moveTo>
                  <a:pt x="846182" y="29651"/>
                </a:moveTo>
                <a:cubicBezTo>
                  <a:pt x="858964" y="29651"/>
                  <a:pt x="865354" y="37299"/>
                  <a:pt x="865354" y="52597"/>
                </a:cubicBezTo>
                <a:lnTo>
                  <a:pt x="865354" y="87696"/>
                </a:lnTo>
                <a:lnTo>
                  <a:pt x="858334" y="87696"/>
                </a:lnTo>
                <a:lnTo>
                  <a:pt x="857602" y="80781"/>
                </a:lnTo>
                <a:lnTo>
                  <a:pt x="857288" y="80781"/>
                </a:lnTo>
                <a:cubicBezTo>
                  <a:pt x="850792" y="86299"/>
                  <a:pt x="844434" y="89058"/>
                  <a:pt x="838218" y="89058"/>
                </a:cubicBezTo>
                <a:cubicBezTo>
                  <a:pt x="833398" y="89058"/>
                  <a:pt x="829486" y="87696"/>
                  <a:pt x="826484" y="84972"/>
                </a:cubicBezTo>
                <a:cubicBezTo>
                  <a:pt x="823340" y="82038"/>
                  <a:pt x="821768" y="78092"/>
                  <a:pt x="821768" y="73133"/>
                </a:cubicBezTo>
                <a:cubicBezTo>
                  <a:pt x="821768" y="66986"/>
                  <a:pt x="824598" y="62236"/>
                  <a:pt x="830256" y="58883"/>
                </a:cubicBezTo>
                <a:cubicBezTo>
                  <a:pt x="835704" y="55670"/>
                  <a:pt x="844574" y="53365"/>
                  <a:pt x="856868" y="51968"/>
                </a:cubicBezTo>
                <a:cubicBezTo>
                  <a:pt x="857008" y="41840"/>
                  <a:pt x="852992" y="36776"/>
                  <a:pt x="844818" y="36776"/>
                </a:cubicBezTo>
                <a:cubicBezTo>
                  <a:pt x="839300" y="36776"/>
                  <a:pt x="833574" y="38871"/>
                  <a:pt x="827636" y="43062"/>
                </a:cubicBezTo>
                <a:lnTo>
                  <a:pt x="824178" y="37090"/>
                </a:lnTo>
                <a:cubicBezTo>
                  <a:pt x="831722" y="32131"/>
                  <a:pt x="839056" y="29651"/>
                  <a:pt x="846182" y="29651"/>
                </a:cubicBezTo>
                <a:close/>
                <a:moveTo>
                  <a:pt x="811434" y="29651"/>
                </a:moveTo>
                <a:cubicBezTo>
                  <a:pt x="813738" y="29651"/>
                  <a:pt x="815730" y="30070"/>
                  <a:pt x="817406" y="30908"/>
                </a:cubicBezTo>
                <a:lnTo>
                  <a:pt x="815730" y="38347"/>
                </a:lnTo>
                <a:cubicBezTo>
                  <a:pt x="813844" y="37719"/>
                  <a:pt x="812062" y="37404"/>
                  <a:pt x="810386" y="37404"/>
                </a:cubicBezTo>
                <a:cubicBezTo>
                  <a:pt x="804170" y="37404"/>
                  <a:pt x="799314" y="41875"/>
                  <a:pt x="795822" y="50815"/>
                </a:cubicBezTo>
                <a:lnTo>
                  <a:pt x="795822" y="87696"/>
                </a:lnTo>
                <a:lnTo>
                  <a:pt x="787336" y="87696"/>
                </a:lnTo>
                <a:lnTo>
                  <a:pt x="787336" y="31118"/>
                </a:lnTo>
                <a:lnTo>
                  <a:pt x="794250" y="31118"/>
                </a:lnTo>
                <a:lnTo>
                  <a:pt x="795090" y="41490"/>
                </a:lnTo>
                <a:lnTo>
                  <a:pt x="795404" y="41490"/>
                </a:lnTo>
                <a:cubicBezTo>
                  <a:pt x="799664" y="33597"/>
                  <a:pt x="805008" y="29651"/>
                  <a:pt x="811434" y="29651"/>
                </a:cubicBezTo>
                <a:close/>
                <a:moveTo>
                  <a:pt x="655786" y="29651"/>
                </a:moveTo>
                <a:cubicBezTo>
                  <a:pt x="662840" y="29651"/>
                  <a:pt x="668324" y="32026"/>
                  <a:pt x="672236" y="36776"/>
                </a:cubicBezTo>
                <a:cubicBezTo>
                  <a:pt x="676148" y="41456"/>
                  <a:pt x="678102" y="47917"/>
                  <a:pt x="678102" y="56159"/>
                </a:cubicBezTo>
                <a:cubicBezTo>
                  <a:pt x="678102" y="58394"/>
                  <a:pt x="677964" y="60105"/>
                  <a:pt x="677684" y="61293"/>
                </a:cubicBezTo>
                <a:lnTo>
                  <a:pt x="639022" y="61293"/>
                </a:lnTo>
                <a:cubicBezTo>
                  <a:pt x="639302" y="67579"/>
                  <a:pt x="641188" y="72644"/>
                  <a:pt x="644680" y="76485"/>
                </a:cubicBezTo>
                <a:cubicBezTo>
                  <a:pt x="648172" y="80327"/>
                  <a:pt x="652748" y="82248"/>
                  <a:pt x="658406" y="82248"/>
                </a:cubicBezTo>
                <a:cubicBezTo>
                  <a:pt x="663434" y="82248"/>
                  <a:pt x="668220" y="80711"/>
                  <a:pt x="672760" y="77638"/>
                </a:cubicBezTo>
                <a:lnTo>
                  <a:pt x="675902" y="83296"/>
                </a:lnTo>
                <a:cubicBezTo>
                  <a:pt x="669896" y="87137"/>
                  <a:pt x="663714" y="89058"/>
                  <a:pt x="657358" y="89058"/>
                </a:cubicBezTo>
                <a:cubicBezTo>
                  <a:pt x="649674" y="89058"/>
                  <a:pt x="643352" y="86439"/>
                  <a:pt x="638394" y="81200"/>
                </a:cubicBezTo>
                <a:cubicBezTo>
                  <a:pt x="633154" y="75752"/>
                  <a:pt x="630536" y="68522"/>
                  <a:pt x="630536" y="59512"/>
                </a:cubicBezTo>
                <a:cubicBezTo>
                  <a:pt x="630536" y="50641"/>
                  <a:pt x="633120" y="43341"/>
                  <a:pt x="638288" y="37614"/>
                </a:cubicBezTo>
                <a:cubicBezTo>
                  <a:pt x="643178" y="32305"/>
                  <a:pt x="649010" y="29651"/>
                  <a:pt x="655786" y="29651"/>
                </a:cubicBezTo>
                <a:close/>
                <a:moveTo>
                  <a:pt x="231970" y="22526"/>
                </a:moveTo>
                <a:cubicBezTo>
                  <a:pt x="237140" y="29791"/>
                  <a:pt x="240528" y="36391"/>
                  <a:pt x="242134" y="42329"/>
                </a:cubicBezTo>
                <a:lnTo>
                  <a:pt x="235638" y="44948"/>
                </a:lnTo>
                <a:cubicBezTo>
                  <a:pt x="233892" y="38662"/>
                  <a:pt x="230678" y="31956"/>
                  <a:pt x="225998" y="24831"/>
                </a:cubicBezTo>
                <a:close/>
                <a:moveTo>
                  <a:pt x="285406" y="22002"/>
                </a:moveTo>
                <a:lnTo>
                  <a:pt x="292636" y="24412"/>
                </a:lnTo>
                <a:cubicBezTo>
                  <a:pt x="288026" y="33353"/>
                  <a:pt x="283974" y="40303"/>
                  <a:pt x="280482" y="45262"/>
                </a:cubicBezTo>
                <a:lnTo>
                  <a:pt x="274614" y="43167"/>
                </a:lnTo>
                <a:cubicBezTo>
                  <a:pt x="279084" y="36252"/>
                  <a:pt x="282682" y="29197"/>
                  <a:pt x="285406" y="22002"/>
                </a:cubicBezTo>
                <a:close/>
                <a:moveTo>
                  <a:pt x="335384" y="21164"/>
                </a:moveTo>
                <a:lnTo>
                  <a:pt x="335384" y="37719"/>
                </a:lnTo>
                <a:lnTo>
                  <a:pt x="392172" y="37719"/>
                </a:lnTo>
                <a:lnTo>
                  <a:pt x="392172" y="21164"/>
                </a:lnTo>
                <a:close/>
                <a:moveTo>
                  <a:pt x="1289360" y="20955"/>
                </a:moveTo>
                <a:cubicBezTo>
                  <a:pt x="1287754" y="24098"/>
                  <a:pt x="1285728" y="27800"/>
                  <a:pt x="1283284" y="32061"/>
                </a:cubicBezTo>
                <a:lnTo>
                  <a:pt x="1264738" y="59512"/>
                </a:lnTo>
                <a:lnTo>
                  <a:pt x="1289256" y="59512"/>
                </a:lnTo>
                <a:lnTo>
                  <a:pt x="1289256" y="34575"/>
                </a:lnTo>
                <a:cubicBezTo>
                  <a:pt x="1289256" y="30524"/>
                  <a:pt x="1289466" y="25984"/>
                  <a:pt x="1289884" y="20955"/>
                </a:cubicBezTo>
                <a:close/>
                <a:moveTo>
                  <a:pt x="1625440" y="18126"/>
                </a:moveTo>
                <a:lnTo>
                  <a:pt x="1625440" y="80572"/>
                </a:lnTo>
                <a:lnTo>
                  <a:pt x="1634870" y="80572"/>
                </a:lnTo>
                <a:cubicBezTo>
                  <a:pt x="1644020" y="80572"/>
                  <a:pt x="1650970" y="77778"/>
                  <a:pt x="1655720" y="72190"/>
                </a:cubicBezTo>
                <a:cubicBezTo>
                  <a:pt x="1660260" y="66741"/>
                  <a:pt x="1662530" y="59023"/>
                  <a:pt x="1662530" y="49034"/>
                </a:cubicBezTo>
                <a:cubicBezTo>
                  <a:pt x="1662530" y="28429"/>
                  <a:pt x="1653310" y="18126"/>
                  <a:pt x="1634870" y="18126"/>
                </a:cubicBezTo>
                <a:close/>
                <a:moveTo>
                  <a:pt x="720566" y="18126"/>
                </a:moveTo>
                <a:lnTo>
                  <a:pt x="720566" y="80572"/>
                </a:lnTo>
                <a:lnTo>
                  <a:pt x="729996" y="80572"/>
                </a:lnTo>
                <a:cubicBezTo>
                  <a:pt x="739146" y="80572"/>
                  <a:pt x="746096" y="77778"/>
                  <a:pt x="750846" y="72190"/>
                </a:cubicBezTo>
                <a:cubicBezTo>
                  <a:pt x="755386" y="66741"/>
                  <a:pt x="757656" y="59023"/>
                  <a:pt x="757656" y="49034"/>
                </a:cubicBezTo>
                <a:cubicBezTo>
                  <a:pt x="757656" y="28429"/>
                  <a:pt x="748436" y="18126"/>
                  <a:pt x="729996" y="18126"/>
                </a:cubicBezTo>
                <a:close/>
                <a:moveTo>
                  <a:pt x="482440" y="17916"/>
                </a:moveTo>
                <a:lnTo>
                  <a:pt x="482440" y="43900"/>
                </a:lnTo>
                <a:lnTo>
                  <a:pt x="494176" y="43900"/>
                </a:lnTo>
                <a:cubicBezTo>
                  <a:pt x="507098" y="43900"/>
                  <a:pt x="513558" y="39535"/>
                  <a:pt x="513558" y="30803"/>
                </a:cubicBezTo>
                <a:cubicBezTo>
                  <a:pt x="513558" y="26193"/>
                  <a:pt x="511986" y="22875"/>
                  <a:pt x="508844" y="20850"/>
                </a:cubicBezTo>
                <a:cubicBezTo>
                  <a:pt x="505840" y="18894"/>
                  <a:pt x="501126" y="17916"/>
                  <a:pt x="494700" y="17916"/>
                </a:cubicBezTo>
                <a:close/>
                <a:moveTo>
                  <a:pt x="155694" y="16659"/>
                </a:moveTo>
                <a:cubicBezTo>
                  <a:pt x="159048" y="36077"/>
                  <a:pt x="164636" y="51549"/>
                  <a:pt x="172458" y="63074"/>
                </a:cubicBezTo>
                <a:cubicBezTo>
                  <a:pt x="181540" y="50431"/>
                  <a:pt x="187756" y="34959"/>
                  <a:pt x="191108" y="16659"/>
                </a:cubicBezTo>
                <a:close/>
                <a:moveTo>
                  <a:pt x="1556156" y="16344"/>
                </a:moveTo>
                <a:cubicBezTo>
                  <a:pt x="1552314" y="16344"/>
                  <a:pt x="1549136" y="18021"/>
                  <a:pt x="1546622" y="21374"/>
                </a:cubicBezTo>
                <a:cubicBezTo>
                  <a:pt x="1544036" y="24726"/>
                  <a:pt x="1542744" y="29057"/>
                  <a:pt x="1542744" y="34366"/>
                </a:cubicBezTo>
                <a:cubicBezTo>
                  <a:pt x="1542744" y="39814"/>
                  <a:pt x="1543896" y="44075"/>
                  <a:pt x="1546202" y="47148"/>
                </a:cubicBezTo>
                <a:cubicBezTo>
                  <a:pt x="1548716" y="50431"/>
                  <a:pt x="1552278" y="52073"/>
                  <a:pt x="1556890" y="52073"/>
                </a:cubicBezTo>
                <a:cubicBezTo>
                  <a:pt x="1562896" y="52073"/>
                  <a:pt x="1568414" y="48545"/>
                  <a:pt x="1573444" y="41490"/>
                </a:cubicBezTo>
                <a:cubicBezTo>
                  <a:pt x="1572536" y="24726"/>
                  <a:pt x="1566772" y="16344"/>
                  <a:pt x="1556156" y="16344"/>
                </a:cubicBezTo>
                <a:close/>
                <a:moveTo>
                  <a:pt x="1225504" y="16344"/>
                </a:moveTo>
                <a:cubicBezTo>
                  <a:pt x="1221872" y="16344"/>
                  <a:pt x="1218868" y="17532"/>
                  <a:pt x="1216494" y="19907"/>
                </a:cubicBezTo>
                <a:cubicBezTo>
                  <a:pt x="1214120" y="22352"/>
                  <a:pt x="1212932" y="25460"/>
                  <a:pt x="1212932" y="29232"/>
                </a:cubicBezTo>
                <a:cubicBezTo>
                  <a:pt x="1212932" y="33493"/>
                  <a:pt x="1214748" y="37090"/>
                  <a:pt x="1218380" y="40024"/>
                </a:cubicBezTo>
                <a:cubicBezTo>
                  <a:pt x="1220894" y="42049"/>
                  <a:pt x="1225016" y="44180"/>
                  <a:pt x="1230744" y="46415"/>
                </a:cubicBezTo>
                <a:cubicBezTo>
                  <a:pt x="1236332" y="41665"/>
                  <a:pt x="1239126" y="36356"/>
                  <a:pt x="1239126" y="30489"/>
                </a:cubicBezTo>
                <a:cubicBezTo>
                  <a:pt x="1239126" y="26438"/>
                  <a:pt x="1237938" y="23120"/>
                  <a:pt x="1235564" y="20535"/>
                </a:cubicBezTo>
                <a:cubicBezTo>
                  <a:pt x="1233048" y="17741"/>
                  <a:pt x="1229696" y="16344"/>
                  <a:pt x="1225504" y="16344"/>
                </a:cubicBezTo>
                <a:close/>
                <a:moveTo>
                  <a:pt x="1912018" y="11001"/>
                </a:moveTo>
                <a:lnTo>
                  <a:pt x="1920926" y="11001"/>
                </a:lnTo>
                <a:lnTo>
                  <a:pt x="1949948" y="60664"/>
                </a:lnTo>
                <a:lnTo>
                  <a:pt x="1958226" y="76381"/>
                </a:lnTo>
                <a:lnTo>
                  <a:pt x="1958748" y="76381"/>
                </a:lnTo>
                <a:cubicBezTo>
                  <a:pt x="1957980" y="65135"/>
                  <a:pt x="1957596" y="57172"/>
                  <a:pt x="1957596" y="52492"/>
                </a:cubicBezTo>
                <a:lnTo>
                  <a:pt x="1957596" y="11001"/>
                </a:lnTo>
                <a:lnTo>
                  <a:pt x="1965874" y="11001"/>
                </a:lnTo>
                <a:lnTo>
                  <a:pt x="1965874" y="87696"/>
                </a:lnTo>
                <a:lnTo>
                  <a:pt x="1956862" y="87696"/>
                </a:lnTo>
                <a:lnTo>
                  <a:pt x="1928050" y="38033"/>
                </a:lnTo>
                <a:lnTo>
                  <a:pt x="1919668" y="22317"/>
                </a:lnTo>
                <a:lnTo>
                  <a:pt x="1919144" y="22317"/>
                </a:lnTo>
                <a:cubicBezTo>
                  <a:pt x="1919842" y="35029"/>
                  <a:pt x="1920192" y="42818"/>
                  <a:pt x="1920192" y="45681"/>
                </a:cubicBezTo>
                <a:lnTo>
                  <a:pt x="1920192" y="87696"/>
                </a:lnTo>
                <a:lnTo>
                  <a:pt x="1912018" y="87696"/>
                </a:lnTo>
                <a:close/>
                <a:moveTo>
                  <a:pt x="1807244" y="11001"/>
                </a:moveTo>
                <a:lnTo>
                  <a:pt x="1815940" y="11001"/>
                </a:lnTo>
                <a:lnTo>
                  <a:pt x="1815940" y="87696"/>
                </a:lnTo>
                <a:lnTo>
                  <a:pt x="1807244" y="87696"/>
                </a:lnTo>
                <a:close/>
                <a:moveTo>
                  <a:pt x="1692944" y="11001"/>
                </a:moveTo>
                <a:lnTo>
                  <a:pt x="1736636" y="11001"/>
                </a:lnTo>
                <a:lnTo>
                  <a:pt x="1736636" y="18335"/>
                </a:lnTo>
                <a:lnTo>
                  <a:pt x="1701640" y="18335"/>
                </a:lnTo>
                <a:lnTo>
                  <a:pt x="1701640" y="43586"/>
                </a:lnTo>
                <a:lnTo>
                  <a:pt x="1731082" y="43586"/>
                </a:lnTo>
                <a:lnTo>
                  <a:pt x="1731082" y="50920"/>
                </a:lnTo>
                <a:lnTo>
                  <a:pt x="1701640" y="50920"/>
                </a:lnTo>
                <a:lnTo>
                  <a:pt x="1701640" y="80362"/>
                </a:lnTo>
                <a:lnTo>
                  <a:pt x="1737788" y="80362"/>
                </a:lnTo>
                <a:lnTo>
                  <a:pt x="1737788" y="87696"/>
                </a:lnTo>
                <a:lnTo>
                  <a:pt x="1692944" y="87696"/>
                </a:lnTo>
                <a:close/>
                <a:moveTo>
                  <a:pt x="1616744" y="11001"/>
                </a:moveTo>
                <a:lnTo>
                  <a:pt x="1635604" y="11001"/>
                </a:lnTo>
                <a:cubicBezTo>
                  <a:pt x="1647268" y="11001"/>
                  <a:pt x="1656174" y="14319"/>
                  <a:pt x="1662322" y="20955"/>
                </a:cubicBezTo>
                <a:cubicBezTo>
                  <a:pt x="1668398" y="27520"/>
                  <a:pt x="1671436" y="36880"/>
                  <a:pt x="1671436" y="49034"/>
                </a:cubicBezTo>
                <a:cubicBezTo>
                  <a:pt x="1671436" y="61258"/>
                  <a:pt x="1668434" y="70723"/>
                  <a:pt x="1662426" y="77428"/>
                </a:cubicBezTo>
                <a:cubicBezTo>
                  <a:pt x="1656280" y="84274"/>
                  <a:pt x="1647442" y="87696"/>
                  <a:pt x="1635918" y="87696"/>
                </a:cubicBezTo>
                <a:lnTo>
                  <a:pt x="1616744" y="87696"/>
                </a:lnTo>
                <a:close/>
                <a:moveTo>
                  <a:pt x="1484232" y="11001"/>
                </a:moveTo>
                <a:lnTo>
                  <a:pt x="1520904" y="11001"/>
                </a:lnTo>
                <a:lnTo>
                  <a:pt x="1520904" y="18335"/>
                </a:lnTo>
                <a:lnTo>
                  <a:pt x="1491776" y="18335"/>
                </a:lnTo>
                <a:lnTo>
                  <a:pt x="1489680" y="41595"/>
                </a:lnTo>
                <a:cubicBezTo>
                  <a:pt x="1493522" y="39430"/>
                  <a:pt x="1497504" y="38347"/>
                  <a:pt x="1501624" y="38347"/>
                </a:cubicBezTo>
                <a:cubicBezTo>
                  <a:pt x="1508400" y="38347"/>
                  <a:pt x="1513814" y="40303"/>
                  <a:pt x="1517866" y="44215"/>
                </a:cubicBezTo>
                <a:cubicBezTo>
                  <a:pt x="1522336" y="48545"/>
                  <a:pt x="1524570" y="54762"/>
                  <a:pt x="1524570" y="62865"/>
                </a:cubicBezTo>
                <a:cubicBezTo>
                  <a:pt x="1524570" y="70827"/>
                  <a:pt x="1522022" y="77289"/>
                  <a:pt x="1516922" y="82248"/>
                </a:cubicBezTo>
                <a:cubicBezTo>
                  <a:pt x="1512242" y="86788"/>
                  <a:pt x="1506550" y="89058"/>
                  <a:pt x="1499844" y="89058"/>
                </a:cubicBezTo>
                <a:cubicBezTo>
                  <a:pt x="1490484" y="89058"/>
                  <a:pt x="1482416" y="85671"/>
                  <a:pt x="1475640" y="78895"/>
                </a:cubicBezTo>
                <a:lnTo>
                  <a:pt x="1479936" y="73237"/>
                </a:lnTo>
                <a:cubicBezTo>
                  <a:pt x="1485594" y="79035"/>
                  <a:pt x="1491986" y="81934"/>
                  <a:pt x="1499110" y="81934"/>
                </a:cubicBezTo>
                <a:cubicBezTo>
                  <a:pt x="1503860" y="81934"/>
                  <a:pt x="1507842" y="80222"/>
                  <a:pt x="1511054" y="76800"/>
                </a:cubicBezTo>
                <a:cubicBezTo>
                  <a:pt x="1514338" y="73307"/>
                  <a:pt x="1515980" y="68732"/>
                  <a:pt x="1515980" y="63074"/>
                </a:cubicBezTo>
                <a:cubicBezTo>
                  <a:pt x="1515980" y="57486"/>
                  <a:pt x="1514478" y="53051"/>
                  <a:pt x="1511474" y="49768"/>
                </a:cubicBezTo>
                <a:cubicBezTo>
                  <a:pt x="1508540" y="46555"/>
                  <a:pt x="1504558" y="44948"/>
                  <a:pt x="1499530" y="44948"/>
                </a:cubicBezTo>
                <a:cubicBezTo>
                  <a:pt x="1495478" y="44948"/>
                  <a:pt x="1491148" y="46485"/>
                  <a:pt x="1486538" y="49558"/>
                </a:cubicBezTo>
                <a:lnTo>
                  <a:pt x="1481822" y="46624"/>
                </a:lnTo>
                <a:close/>
                <a:moveTo>
                  <a:pt x="1430216" y="11001"/>
                </a:moveTo>
                <a:lnTo>
                  <a:pt x="1477678" y="11001"/>
                </a:lnTo>
                <a:lnTo>
                  <a:pt x="1477678" y="16135"/>
                </a:lnTo>
                <a:cubicBezTo>
                  <a:pt x="1469158" y="27171"/>
                  <a:pt x="1463254" y="38277"/>
                  <a:pt x="1459972" y="49453"/>
                </a:cubicBezTo>
                <a:cubicBezTo>
                  <a:pt x="1457318" y="58674"/>
                  <a:pt x="1455642" y="71421"/>
                  <a:pt x="1454942" y="87696"/>
                </a:cubicBezTo>
                <a:lnTo>
                  <a:pt x="1446038" y="87696"/>
                </a:lnTo>
                <a:cubicBezTo>
                  <a:pt x="1447224" y="59966"/>
                  <a:pt x="1454488" y="36845"/>
                  <a:pt x="1467830" y="18335"/>
                </a:cubicBezTo>
                <a:lnTo>
                  <a:pt x="1430216" y="18335"/>
                </a:lnTo>
                <a:close/>
                <a:moveTo>
                  <a:pt x="1379458" y="11001"/>
                </a:moveTo>
                <a:lnTo>
                  <a:pt x="1416128" y="11001"/>
                </a:lnTo>
                <a:lnTo>
                  <a:pt x="1416128" y="18335"/>
                </a:lnTo>
                <a:lnTo>
                  <a:pt x="1387002" y="18335"/>
                </a:lnTo>
                <a:lnTo>
                  <a:pt x="1384906" y="41595"/>
                </a:lnTo>
                <a:cubicBezTo>
                  <a:pt x="1388748" y="39430"/>
                  <a:pt x="1392728" y="38347"/>
                  <a:pt x="1396850" y="38347"/>
                </a:cubicBezTo>
                <a:cubicBezTo>
                  <a:pt x="1403626" y="38347"/>
                  <a:pt x="1409038" y="40303"/>
                  <a:pt x="1413090" y="44215"/>
                </a:cubicBezTo>
                <a:cubicBezTo>
                  <a:pt x="1417560" y="48545"/>
                  <a:pt x="1419796" y="54762"/>
                  <a:pt x="1419796" y="62865"/>
                </a:cubicBezTo>
                <a:cubicBezTo>
                  <a:pt x="1419796" y="70827"/>
                  <a:pt x="1417246" y="77289"/>
                  <a:pt x="1412148" y="82248"/>
                </a:cubicBezTo>
                <a:cubicBezTo>
                  <a:pt x="1407468" y="86788"/>
                  <a:pt x="1401774" y="89058"/>
                  <a:pt x="1395068" y="89058"/>
                </a:cubicBezTo>
                <a:cubicBezTo>
                  <a:pt x="1385708" y="89058"/>
                  <a:pt x="1377642" y="85671"/>
                  <a:pt x="1370866" y="78895"/>
                </a:cubicBezTo>
                <a:lnTo>
                  <a:pt x="1375162" y="73237"/>
                </a:lnTo>
                <a:cubicBezTo>
                  <a:pt x="1380820" y="79035"/>
                  <a:pt x="1387210" y="81934"/>
                  <a:pt x="1394336" y="81934"/>
                </a:cubicBezTo>
                <a:cubicBezTo>
                  <a:pt x="1399086" y="81934"/>
                  <a:pt x="1403066" y="80222"/>
                  <a:pt x="1406280" y="76800"/>
                </a:cubicBezTo>
                <a:cubicBezTo>
                  <a:pt x="1409562" y="73307"/>
                  <a:pt x="1411204" y="68732"/>
                  <a:pt x="1411204" y="63074"/>
                </a:cubicBezTo>
                <a:cubicBezTo>
                  <a:pt x="1411204" y="57486"/>
                  <a:pt x="1409702" y="53051"/>
                  <a:pt x="1406698" y="49768"/>
                </a:cubicBezTo>
                <a:cubicBezTo>
                  <a:pt x="1403766" y="46555"/>
                  <a:pt x="1399784" y="44948"/>
                  <a:pt x="1394754" y="44948"/>
                </a:cubicBezTo>
                <a:cubicBezTo>
                  <a:pt x="1390704" y="44948"/>
                  <a:pt x="1386372" y="46485"/>
                  <a:pt x="1381762" y="49558"/>
                </a:cubicBezTo>
                <a:lnTo>
                  <a:pt x="1377048" y="46624"/>
                </a:lnTo>
                <a:close/>
                <a:moveTo>
                  <a:pt x="1288208" y="11001"/>
                </a:moveTo>
                <a:lnTo>
                  <a:pt x="1297324" y="11001"/>
                </a:lnTo>
                <a:lnTo>
                  <a:pt x="1297324" y="59512"/>
                </a:lnTo>
                <a:lnTo>
                  <a:pt x="1307800" y="59512"/>
                </a:lnTo>
                <a:lnTo>
                  <a:pt x="1307800" y="66322"/>
                </a:lnTo>
                <a:lnTo>
                  <a:pt x="1297324" y="66322"/>
                </a:lnTo>
                <a:lnTo>
                  <a:pt x="1297324" y="87696"/>
                </a:lnTo>
                <a:lnTo>
                  <a:pt x="1289256" y="87696"/>
                </a:lnTo>
                <a:lnTo>
                  <a:pt x="1289256" y="66322"/>
                </a:lnTo>
                <a:lnTo>
                  <a:pt x="1255622" y="66322"/>
                </a:lnTo>
                <a:lnTo>
                  <a:pt x="1255622" y="60769"/>
                </a:lnTo>
                <a:close/>
                <a:moveTo>
                  <a:pt x="711870" y="11001"/>
                </a:moveTo>
                <a:lnTo>
                  <a:pt x="730728" y="11001"/>
                </a:lnTo>
                <a:cubicBezTo>
                  <a:pt x="742394" y="11001"/>
                  <a:pt x="751300" y="14319"/>
                  <a:pt x="757446" y="20955"/>
                </a:cubicBezTo>
                <a:cubicBezTo>
                  <a:pt x="763524" y="27520"/>
                  <a:pt x="766562" y="36880"/>
                  <a:pt x="766562" y="49034"/>
                </a:cubicBezTo>
                <a:cubicBezTo>
                  <a:pt x="766562" y="61258"/>
                  <a:pt x="763558" y="70723"/>
                  <a:pt x="757550" y="77428"/>
                </a:cubicBezTo>
                <a:cubicBezTo>
                  <a:pt x="751404" y="84274"/>
                  <a:pt x="742568" y="87696"/>
                  <a:pt x="731042" y="87696"/>
                </a:cubicBezTo>
                <a:lnTo>
                  <a:pt x="711870" y="87696"/>
                </a:lnTo>
                <a:close/>
                <a:moveTo>
                  <a:pt x="473744" y="11001"/>
                </a:moveTo>
                <a:lnTo>
                  <a:pt x="495956" y="11001"/>
                </a:lnTo>
                <a:cubicBezTo>
                  <a:pt x="513418" y="11001"/>
                  <a:pt x="522150" y="17253"/>
                  <a:pt x="522150" y="29756"/>
                </a:cubicBezTo>
                <a:cubicBezTo>
                  <a:pt x="522150" y="38347"/>
                  <a:pt x="518344" y="43900"/>
                  <a:pt x="510730" y="46415"/>
                </a:cubicBezTo>
                <a:lnTo>
                  <a:pt x="510730" y="46834"/>
                </a:lnTo>
                <a:cubicBezTo>
                  <a:pt x="521346" y="48860"/>
                  <a:pt x="526656" y="55006"/>
                  <a:pt x="526656" y="65274"/>
                </a:cubicBezTo>
                <a:cubicBezTo>
                  <a:pt x="526656" y="72539"/>
                  <a:pt x="523966" y="78162"/>
                  <a:pt x="518588" y="82143"/>
                </a:cubicBezTo>
                <a:cubicBezTo>
                  <a:pt x="513488" y="85845"/>
                  <a:pt x="506504" y="87696"/>
                  <a:pt x="497632" y="87696"/>
                </a:cubicBezTo>
                <a:lnTo>
                  <a:pt x="473744" y="87696"/>
                </a:lnTo>
                <a:close/>
                <a:moveTo>
                  <a:pt x="1225714" y="9848"/>
                </a:moveTo>
                <a:cubicBezTo>
                  <a:pt x="1232140" y="9848"/>
                  <a:pt x="1237240" y="11734"/>
                  <a:pt x="1241012" y="15506"/>
                </a:cubicBezTo>
                <a:cubicBezTo>
                  <a:pt x="1244714" y="19208"/>
                  <a:pt x="1246564" y="24063"/>
                  <a:pt x="1246564" y="30070"/>
                </a:cubicBezTo>
                <a:cubicBezTo>
                  <a:pt x="1246564" y="37055"/>
                  <a:pt x="1243106" y="43272"/>
                  <a:pt x="1236192" y="48720"/>
                </a:cubicBezTo>
                <a:lnTo>
                  <a:pt x="1236192" y="49244"/>
                </a:lnTo>
                <a:cubicBezTo>
                  <a:pt x="1244854" y="54273"/>
                  <a:pt x="1249184" y="60979"/>
                  <a:pt x="1249184" y="69361"/>
                </a:cubicBezTo>
                <a:cubicBezTo>
                  <a:pt x="1249184" y="74949"/>
                  <a:pt x="1247018" y="79594"/>
                  <a:pt x="1242688" y="83296"/>
                </a:cubicBezTo>
                <a:cubicBezTo>
                  <a:pt x="1238218" y="87137"/>
                  <a:pt x="1232490" y="89058"/>
                  <a:pt x="1225504" y="89058"/>
                </a:cubicBezTo>
                <a:cubicBezTo>
                  <a:pt x="1218450" y="89058"/>
                  <a:pt x="1212652" y="87137"/>
                  <a:pt x="1208112" y="83296"/>
                </a:cubicBezTo>
                <a:cubicBezTo>
                  <a:pt x="1203502" y="79454"/>
                  <a:pt x="1201196" y="74564"/>
                  <a:pt x="1201196" y="68627"/>
                </a:cubicBezTo>
                <a:cubicBezTo>
                  <a:pt x="1201196" y="59617"/>
                  <a:pt x="1205946" y="52492"/>
                  <a:pt x="1215446" y="47253"/>
                </a:cubicBezTo>
                <a:lnTo>
                  <a:pt x="1215446" y="46834"/>
                </a:lnTo>
                <a:cubicBezTo>
                  <a:pt x="1208532" y="42154"/>
                  <a:pt x="1205074" y="36287"/>
                  <a:pt x="1205074" y="29232"/>
                </a:cubicBezTo>
                <a:cubicBezTo>
                  <a:pt x="1205074" y="23504"/>
                  <a:pt x="1207064" y="18824"/>
                  <a:pt x="1211046" y="15192"/>
                </a:cubicBezTo>
                <a:cubicBezTo>
                  <a:pt x="1214888" y="11630"/>
                  <a:pt x="1219778" y="9848"/>
                  <a:pt x="1225714" y="9848"/>
                </a:cubicBezTo>
                <a:close/>
                <a:moveTo>
                  <a:pt x="1866098" y="9639"/>
                </a:moveTo>
                <a:cubicBezTo>
                  <a:pt x="1874620" y="9639"/>
                  <a:pt x="1881920" y="12747"/>
                  <a:pt x="1887998" y="18964"/>
                </a:cubicBezTo>
                <a:lnTo>
                  <a:pt x="1883178" y="24622"/>
                </a:lnTo>
                <a:cubicBezTo>
                  <a:pt x="1878568" y="19732"/>
                  <a:pt x="1872944" y="17287"/>
                  <a:pt x="1866308" y="17287"/>
                </a:cubicBezTo>
                <a:cubicBezTo>
                  <a:pt x="1858346" y="17287"/>
                  <a:pt x="1852024" y="20116"/>
                  <a:pt x="1847344" y="25774"/>
                </a:cubicBezTo>
                <a:cubicBezTo>
                  <a:pt x="1842594" y="31502"/>
                  <a:pt x="1840220" y="39290"/>
                  <a:pt x="1840220" y="49139"/>
                </a:cubicBezTo>
                <a:cubicBezTo>
                  <a:pt x="1840220" y="59128"/>
                  <a:pt x="1842490" y="66986"/>
                  <a:pt x="1847030" y="72713"/>
                </a:cubicBezTo>
                <a:cubicBezTo>
                  <a:pt x="1851640" y="78511"/>
                  <a:pt x="1858066" y="81410"/>
                  <a:pt x="1866308" y="81410"/>
                </a:cubicBezTo>
                <a:cubicBezTo>
                  <a:pt x="1872664" y="81410"/>
                  <a:pt x="1877520" y="79803"/>
                  <a:pt x="1880872" y="76590"/>
                </a:cubicBezTo>
                <a:lnTo>
                  <a:pt x="1880872" y="55635"/>
                </a:lnTo>
                <a:lnTo>
                  <a:pt x="1864214" y="55635"/>
                </a:lnTo>
                <a:lnTo>
                  <a:pt x="1864214" y="48406"/>
                </a:lnTo>
                <a:lnTo>
                  <a:pt x="1888940" y="48406"/>
                </a:lnTo>
                <a:lnTo>
                  <a:pt x="1888940" y="80257"/>
                </a:lnTo>
                <a:cubicBezTo>
                  <a:pt x="1883282" y="86125"/>
                  <a:pt x="1875458" y="89058"/>
                  <a:pt x="1865470" y="89058"/>
                </a:cubicBezTo>
                <a:cubicBezTo>
                  <a:pt x="1855272" y="89058"/>
                  <a:pt x="1847066" y="85531"/>
                  <a:pt x="1840848" y="78476"/>
                </a:cubicBezTo>
                <a:cubicBezTo>
                  <a:pt x="1834492" y="71281"/>
                  <a:pt x="1831314" y="61572"/>
                  <a:pt x="1831314" y="49349"/>
                </a:cubicBezTo>
                <a:cubicBezTo>
                  <a:pt x="1831314" y="37195"/>
                  <a:pt x="1834596" y="27486"/>
                  <a:pt x="1841162" y="20221"/>
                </a:cubicBezTo>
                <a:cubicBezTo>
                  <a:pt x="1847518" y="13166"/>
                  <a:pt x="1855830" y="9639"/>
                  <a:pt x="1866098" y="9639"/>
                </a:cubicBezTo>
                <a:close/>
                <a:moveTo>
                  <a:pt x="1771888" y="9639"/>
                </a:moveTo>
                <a:cubicBezTo>
                  <a:pt x="1780828" y="9639"/>
                  <a:pt x="1788266" y="12782"/>
                  <a:pt x="1794204" y="19069"/>
                </a:cubicBezTo>
                <a:lnTo>
                  <a:pt x="1789594" y="24622"/>
                </a:lnTo>
                <a:cubicBezTo>
                  <a:pt x="1784496" y="19732"/>
                  <a:pt x="1778592" y="17287"/>
                  <a:pt x="1771888" y="17287"/>
                </a:cubicBezTo>
                <a:cubicBezTo>
                  <a:pt x="1767416" y="17287"/>
                  <a:pt x="1763820" y="18335"/>
                  <a:pt x="1761096" y="20431"/>
                </a:cubicBezTo>
                <a:cubicBezTo>
                  <a:pt x="1758372" y="22596"/>
                  <a:pt x="1757010" y="25460"/>
                  <a:pt x="1757010" y="29022"/>
                </a:cubicBezTo>
                <a:cubicBezTo>
                  <a:pt x="1757010" y="32515"/>
                  <a:pt x="1758406" y="35414"/>
                  <a:pt x="1761200" y="37719"/>
                </a:cubicBezTo>
                <a:cubicBezTo>
                  <a:pt x="1762806" y="39046"/>
                  <a:pt x="1765670" y="40582"/>
                  <a:pt x="1769792" y="42329"/>
                </a:cubicBezTo>
                <a:lnTo>
                  <a:pt x="1780898" y="47044"/>
                </a:lnTo>
                <a:cubicBezTo>
                  <a:pt x="1791516" y="51723"/>
                  <a:pt x="1796824" y="58569"/>
                  <a:pt x="1796824" y="67579"/>
                </a:cubicBezTo>
                <a:cubicBezTo>
                  <a:pt x="1796824" y="73726"/>
                  <a:pt x="1794518" y="78825"/>
                  <a:pt x="1789908" y="82877"/>
                </a:cubicBezTo>
                <a:cubicBezTo>
                  <a:pt x="1785088" y="86998"/>
                  <a:pt x="1778802" y="89058"/>
                  <a:pt x="1771050" y="89058"/>
                </a:cubicBezTo>
                <a:cubicBezTo>
                  <a:pt x="1760432" y="89058"/>
                  <a:pt x="1751562" y="85251"/>
                  <a:pt x="1744436" y="77638"/>
                </a:cubicBezTo>
                <a:lnTo>
                  <a:pt x="1749674" y="71666"/>
                </a:lnTo>
                <a:cubicBezTo>
                  <a:pt x="1755682" y="78162"/>
                  <a:pt x="1762842" y="81410"/>
                  <a:pt x="1771154" y="81410"/>
                </a:cubicBezTo>
                <a:cubicBezTo>
                  <a:pt x="1776322" y="81410"/>
                  <a:pt x="1780444" y="80187"/>
                  <a:pt x="1783518" y="77743"/>
                </a:cubicBezTo>
                <a:cubicBezTo>
                  <a:pt x="1786520" y="75368"/>
                  <a:pt x="1788022" y="72190"/>
                  <a:pt x="1788022" y="68208"/>
                </a:cubicBezTo>
                <a:cubicBezTo>
                  <a:pt x="1788022" y="64506"/>
                  <a:pt x="1786766" y="61502"/>
                  <a:pt x="1784250" y="59197"/>
                </a:cubicBezTo>
                <a:cubicBezTo>
                  <a:pt x="1782644" y="57800"/>
                  <a:pt x="1779536" y="56089"/>
                  <a:pt x="1774926" y="54063"/>
                </a:cubicBezTo>
                <a:lnTo>
                  <a:pt x="1763820" y="49139"/>
                </a:lnTo>
                <a:cubicBezTo>
                  <a:pt x="1753412" y="44669"/>
                  <a:pt x="1748208" y="38173"/>
                  <a:pt x="1748208" y="29651"/>
                </a:cubicBezTo>
                <a:cubicBezTo>
                  <a:pt x="1748208" y="23853"/>
                  <a:pt x="1750444" y="19069"/>
                  <a:pt x="1754914" y="15297"/>
                </a:cubicBezTo>
                <a:cubicBezTo>
                  <a:pt x="1759384" y="11525"/>
                  <a:pt x="1765042" y="9639"/>
                  <a:pt x="1771888" y="9639"/>
                </a:cubicBezTo>
                <a:close/>
                <a:moveTo>
                  <a:pt x="1556156" y="9639"/>
                </a:moveTo>
                <a:cubicBezTo>
                  <a:pt x="1563838" y="9639"/>
                  <a:pt x="1569916" y="12677"/>
                  <a:pt x="1574386" y="18754"/>
                </a:cubicBezTo>
                <a:cubicBezTo>
                  <a:pt x="1579206" y="25111"/>
                  <a:pt x="1581616" y="34121"/>
                  <a:pt x="1581616" y="45786"/>
                </a:cubicBezTo>
                <a:cubicBezTo>
                  <a:pt x="1581616" y="60455"/>
                  <a:pt x="1578822" y="71596"/>
                  <a:pt x="1573234" y="79209"/>
                </a:cubicBezTo>
                <a:cubicBezTo>
                  <a:pt x="1568344" y="85775"/>
                  <a:pt x="1561954" y="89058"/>
                  <a:pt x="1554060" y="89058"/>
                </a:cubicBezTo>
                <a:cubicBezTo>
                  <a:pt x="1546936" y="89058"/>
                  <a:pt x="1540928" y="86509"/>
                  <a:pt x="1536038" y="81410"/>
                </a:cubicBezTo>
                <a:lnTo>
                  <a:pt x="1540754" y="76066"/>
                </a:lnTo>
                <a:cubicBezTo>
                  <a:pt x="1544316" y="79978"/>
                  <a:pt x="1548682" y="81934"/>
                  <a:pt x="1553850" y="81934"/>
                </a:cubicBezTo>
                <a:cubicBezTo>
                  <a:pt x="1559368" y="81934"/>
                  <a:pt x="1563804" y="79489"/>
                  <a:pt x="1567158" y="74599"/>
                </a:cubicBezTo>
                <a:cubicBezTo>
                  <a:pt x="1571068" y="68942"/>
                  <a:pt x="1573198" y="60315"/>
                  <a:pt x="1573548" y="48720"/>
                </a:cubicBezTo>
                <a:cubicBezTo>
                  <a:pt x="1568240" y="55216"/>
                  <a:pt x="1562232" y="58464"/>
                  <a:pt x="1555526" y="58464"/>
                </a:cubicBezTo>
                <a:cubicBezTo>
                  <a:pt x="1549030" y="58464"/>
                  <a:pt x="1543932" y="56438"/>
                  <a:pt x="1540230" y="52387"/>
                </a:cubicBezTo>
                <a:cubicBezTo>
                  <a:pt x="1536458" y="48126"/>
                  <a:pt x="1534572" y="42119"/>
                  <a:pt x="1534572" y="34366"/>
                </a:cubicBezTo>
                <a:cubicBezTo>
                  <a:pt x="1534572" y="27171"/>
                  <a:pt x="1536702" y="21199"/>
                  <a:pt x="1540964" y="16449"/>
                </a:cubicBezTo>
                <a:cubicBezTo>
                  <a:pt x="1545084" y="11909"/>
                  <a:pt x="1550148" y="9639"/>
                  <a:pt x="1556156" y="9639"/>
                </a:cubicBezTo>
                <a:close/>
                <a:moveTo>
                  <a:pt x="194356" y="9639"/>
                </a:moveTo>
                <a:lnTo>
                  <a:pt x="198652" y="11001"/>
                </a:lnTo>
                <a:cubicBezTo>
                  <a:pt x="195160" y="34680"/>
                  <a:pt x="187826" y="53959"/>
                  <a:pt x="176650" y="68837"/>
                </a:cubicBezTo>
                <a:cubicBezTo>
                  <a:pt x="182866" y="76660"/>
                  <a:pt x="191354" y="83889"/>
                  <a:pt x="202110" y="90525"/>
                </a:cubicBezTo>
                <a:cubicBezTo>
                  <a:pt x="199944" y="92132"/>
                  <a:pt x="198304" y="94018"/>
                  <a:pt x="197186" y="96183"/>
                </a:cubicBezTo>
                <a:cubicBezTo>
                  <a:pt x="186638" y="89338"/>
                  <a:pt x="178292" y="82108"/>
                  <a:pt x="172144" y="74495"/>
                </a:cubicBezTo>
                <a:cubicBezTo>
                  <a:pt x="164112" y="83645"/>
                  <a:pt x="154682" y="90665"/>
                  <a:pt x="143856" y="95554"/>
                </a:cubicBezTo>
                <a:cubicBezTo>
                  <a:pt x="142668" y="93179"/>
                  <a:pt x="141236" y="91259"/>
                  <a:pt x="139560" y="89792"/>
                </a:cubicBezTo>
                <a:cubicBezTo>
                  <a:pt x="150246" y="85391"/>
                  <a:pt x="159712" y="78406"/>
                  <a:pt x="167954" y="68837"/>
                </a:cubicBezTo>
                <a:cubicBezTo>
                  <a:pt x="159362" y="56264"/>
                  <a:pt x="153146" y="38871"/>
                  <a:pt x="149304" y="16659"/>
                </a:cubicBezTo>
                <a:lnTo>
                  <a:pt x="145322" y="16659"/>
                </a:lnTo>
                <a:lnTo>
                  <a:pt x="145322" y="9953"/>
                </a:lnTo>
                <a:lnTo>
                  <a:pt x="193100" y="9953"/>
                </a:lnTo>
                <a:close/>
                <a:moveTo>
                  <a:pt x="1337918" y="9534"/>
                </a:moveTo>
                <a:cubicBezTo>
                  <a:pt x="1344414" y="9604"/>
                  <a:pt x="1349618" y="11280"/>
                  <a:pt x="1353530" y="14563"/>
                </a:cubicBezTo>
                <a:cubicBezTo>
                  <a:pt x="1357652" y="17986"/>
                  <a:pt x="1359712" y="22666"/>
                  <a:pt x="1359712" y="28603"/>
                </a:cubicBezTo>
                <a:cubicBezTo>
                  <a:pt x="1359712" y="37753"/>
                  <a:pt x="1355136" y="43970"/>
                  <a:pt x="1345986" y="47253"/>
                </a:cubicBezTo>
                <a:lnTo>
                  <a:pt x="1345986" y="47672"/>
                </a:lnTo>
                <a:cubicBezTo>
                  <a:pt x="1350736" y="48790"/>
                  <a:pt x="1354578" y="50990"/>
                  <a:pt x="1357512" y="54273"/>
                </a:cubicBezTo>
                <a:cubicBezTo>
                  <a:pt x="1360724" y="57835"/>
                  <a:pt x="1362332" y="62166"/>
                  <a:pt x="1362332" y="67265"/>
                </a:cubicBezTo>
                <a:cubicBezTo>
                  <a:pt x="1362332" y="73901"/>
                  <a:pt x="1359992" y="79244"/>
                  <a:pt x="1355312" y="83296"/>
                </a:cubicBezTo>
                <a:cubicBezTo>
                  <a:pt x="1350842" y="87137"/>
                  <a:pt x="1345148" y="89058"/>
                  <a:pt x="1338234" y="89058"/>
                </a:cubicBezTo>
                <a:cubicBezTo>
                  <a:pt x="1328454" y="89058"/>
                  <a:pt x="1320352" y="85566"/>
                  <a:pt x="1313926" y="78581"/>
                </a:cubicBezTo>
                <a:lnTo>
                  <a:pt x="1318326" y="73028"/>
                </a:lnTo>
                <a:cubicBezTo>
                  <a:pt x="1324124" y="78965"/>
                  <a:pt x="1330584" y="81934"/>
                  <a:pt x="1337710" y="81934"/>
                </a:cubicBezTo>
                <a:cubicBezTo>
                  <a:pt x="1342458" y="81934"/>
                  <a:pt x="1346300" y="80606"/>
                  <a:pt x="1349234" y="77952"/>
                </a:cubicBezTo>
                <a:cubicBezTo>
                  <a:pt x="1352238" y="75158"/>
                  <a:pt x="1353740" y="71526"/>
                  <a:pt x="1353740" y="67056"/>
                </a:cubicBezTo>
                <a:cubicBezTo>
                  <a:pt x="1353740" y="56438"/>
                  <a:pt x="1345638" y="51130"/>
                  <a:pt x="1329432" y="51130"/>
                </a:cubicBezTo>
                <a:lnTo>
                  <a:pt x="1329432" y="44424"/>
                </a:lnTo>
                <a:cubicBezTo>
                  <a:pt x="1343822" y="44424"/>
                  <a:pt x="1351016" y="39360"/>
                  <a:pt x="1351016" y="29232"/>
                </a:cubicBezTo>
                <a:cubicBezTo>
                  <a:pt x="1351016" y="25390"/>
                  <a:pt x="1349828" y="22317"/>
                  <a:pt x="1347454" y="20012"/>
                </a:cubicBezTo>
                <a:cubicBezTo>
                  <a:pt x="1345008" y="17707"/>
                  <a:pt x="1341726" y="16519"/>
                  <a:pt x="1337604" y="16449"/>
                </a:cubicBezTo>
                <a:cubicBezTo>
                  <a:pt x="1331806" y="16519"/>
                  <a:pt x="1326428" y="19104"/>
                  <a:pt x="1321470" y="24203"/>
                </a:cubicBezTo>
                <a:lnTo>
                  <a:pt x="1316754" y="18650"/>
                </a:lnTo>
                <a:cubicBezTo>
                  <a:pt x="1323320" y="12642"/>
                  <a:pt x="1330374" y="9604"/>
                  <a:pt x="1337918" y="9534"/>
                </a:cubicBezTo>
                <a:close/>
                <a:moveTo>
                  <a:pt x="1101660" y="4295"/>
                </a:moveTo>
                <a:lnTo>
                  <a:pt x="1110148" y="4295"/>
                </a:lnTo>
                <a:lnTo>
                  <a:pt x="1110148" y="77952"/>
                </a:lnTo>
                <a:cubicBezTo>
                  <a:pt x="1110148" y="80606"/>
                  <a:pt x="1111020" y="81934"/>
                  <a:pt x="1112766" y="81934"/>
                </a:cubicBezTo>
                <a:cubicBezTo>
                  <a:pt x="1113396" y="81934"/>
                  <a:pt x="1114058" y="81864"/>
                  <a:pt x="1114758" y="81724"/>
                </a:cubicBezTo>
                <a:lnTo>
                  <a:pt x="1116014" y="88325"/>
                </a:lnTo>
                <a:cubicBezTo>
                  <a:pt x="1114408" y="88814"/>
                  <a:pt x="1112696" y="89058"/>
                  <a:pt x="1110880" y="89058"/>
                </a:cubicBezTo>
                <a:cubicBezTo>
                  <a:pt x="1104734" y="89058"/>
                  <a:pt x="1101660" y="85147"/>
                  <a:pt x="1101660" y="77324"/>
                </a:cubicBezTo>
                <a:close/>
                <a:moveTo>
                  <a:pt x="539686" y="4295"/>
                </a:moveTo>
                <a:lnTo>
                  <a:pt x="548172" y="4295"/>
                </a:lnTo>
                <a:lnTo>
                  <a:pt x="548172" y="77952"/>
                </a:lnTo>
                <a:cubicBezTo>
                  <a:pt x="548172" y="80606"/>
                  <a:pt x="549046" y="81934"/>
                  <a:pt x="550792" y="81934"/>
                </a:cubicBezTo>
                <a:cubicBezTo>
                  <a:pt x="551420" y="81934"/>
                  <a:pt x="552084" y="81864"/>
                  <a:pt x="552782" y="81724"/>
                </a:cubicBezTo>
                <a:lnTo>
                  <a:pt x="554040" y="88325"/>
                </a:lnTo>
                <a:cubicBezTo>
                  <a:pt x="552434" y="88814"/>
                  <a:pt x="550722" y="89058"/>
                  <a:pt x="548906" y="89058"/>
                </a:cubicBezTo>
                <a:cubicBezTo>
                  <a:pt x="542758" y="89058"/>
                  <a:pt x="539686" y="85147"/>
                  <a:pt x="539686" y="77324"/>
                </a:cubicBezTo>
                <a:close/>
                <a:moveTo>
                  <a:pt x="1090374" y="2933"/>
                </a:moveTo>
                <a:cubicBezTo>
                  <a:pt x="1093586" y="2933"/>
                  <a:pt x="1096626" y="3562"/>
                  <a:pt x="1099488" y="4819"/>
                </a:cubicBezTo>
                <a:lnTo>
                  <a:pt x="1097602" y="11420"/>
                </a:lnTo>
                <a:cubicBezTo>
                  <a:pt x="1095438" y="10372"/>
                  <a:pt x="1093272" y="9848"/>
                  <a:pt x="1091106" y="9848"/>
                </a:cubicBezTo>
                <a:cubicBezTo>
                  <a:pt x="1085658" y="9848"/>
                  <a:pt x="1082934" y="13690"/>
                  <a:pt x="1082934" y="21374"/>
                </a:cubicBezTo>
                <a:lnTo>
                  <a:pt x="1082934" y="31118"/>
                </a:lnTo>
                <a:lnTo>
                  <a:pt x="1095088" y="31118"/>
                </a:lnTo>
                <a:lnTo>
                  <a:pt x="1095088" y="38138"/>
                </a:lnTo>
                <a:lnTo>
                  <a:pt x="1082934" y="38138"/>
                </a:lnTo>
                <a:lnTo>
                  <a:pt x="1082934" y="87696"/>
                </a:lnTo>
                <a:lnTo>
                  <a:pt x="1074342" y="87696"/>
                </a:lnTo>
                <a:lnTo>
                  <a:pt x="1074342" y="38138"/>
                </a:lnTo>
                <a:lnTo>
                  <a:pt x="1066590" y="38138"/>
                </a:lnTo>
                <a:lnTo>
                  <a:pt x="1066590" y="31642"/>
                </a:lnTo>
                <a:lnTo>
                  <a:pt x="1074342" y="31118"/>
                </a:lnTo>
                <a:lnTo>
                  <a:pt x="1074342" y="21269"/>
                </a:lnTo>
                <a:cubicBezTo>
                  <a:pt x="1074342" y="9045"/>
                  <a:pt x="1079686" y="2933"/>
                  <a:pt x="1090374" y="2933"/>
                </a:cubicBezTo>
                <a:close/>
                <a:moveTo>
                  <a:pt x="90524" y="1047"/>
                </a:moveTo>
                <a:lnTo>
                  <a:pt x="95134" y="7019"/>
                </a:lnTo>
                <a:cubicBezTo>
                  <a:pt x="83750" y="9674"/>
                  <a:pt x="69954" y="11665"/>
                  <a:pt x="53748" y="12992"/>
                </a:cubicBezTo>
                <a:lnTo>
                  <a:pt x="53748" y="30908"/>
                </a:lnTo>
                <a:lnTo>
                  <a:pt x="88010" y="30908"/>
                </a:lnTo>
                <a:lnTo>
                  <a:pt x="89268" y="30594"/>
                </a:lnTo>
                <a:lnTo>
                  <a:pt x="93354" y="31851"/>
                </a:lnTo>
                <a:cubicBezTo>
                  <a:pt x="90840" y="49244"/>
                  <a:pt x="85670" y="63598"/>
                  <a:pt x="77846" y="74914"/>
                </a:cubicBezTo>
                <a:cubicBezTo>
                  <a:pt x="83016" y="81829"/>
                  <a:pt x="89302" y="86928"/>
                  <a:pt x="96706" y="90211"/>
                </a:cubicBezTo>
                <a:cubicBezTo>
                  <a:pt x="94680" y="91957"/>
                  <a:pt x="93110" y="93843"/>
                  <a:pt x="91992" y="95869"/>
                </a:cubicBezTo>
                <a:cubicBezTo>
                  <a:pt x="84798" y="92097"/>
                  <a:pt x="78720" y="86893"/>
                  <a:pt x="73760" y="80257"/>
                </a:cubicBezTo>
                <a:cubicBezTo>
                  <a:pt x="68172" y="86893"/>
                  <a:pt x="61642" y="92097"/>
                  <a:pt x="54168" y="95869"/>
                </a:cubicBezTo>
                <a:cubicBezTo>
                  <a:pt x="53050" y="93773"/>
                  <a:pt x="51654" y="91887"/>
                  <a:pt x="49976" y="90211"/>
                </a:cubicBezTo>
                <a:cubicBezTo>
                  <a:pt x="57520" y="86858"/>
                  <a:pt x="64122" y="81619"/>
                  <a:pt x="69780" y="74495"/>
                </a:cubicBezTo>
                <a:cubicBezTo>
                  <a:pt x="63982" y="64785"/>
                  <a:pt x="59512" y="52387"/>
                  <a:pt x="56368" y="37299"/>
                </a:cubicBezTo>
                <a:lnTo>
                  <a:pt x="53748" y="37299"/>
                </a:lnTo>
                <a:lnTo>
                  <a:pt x="53748" y="43586"/>
                </a:lnTo>
                <a:cubicBezTo>
                  <a:pt x="53748" y="67335"/>
                  <a:pt x="50360" y="84832"/>
                  <a:pt x="43586" y="96078"/>
                </a:cubicBezTo>
                <a:cubicBezTo>
                  <a:pt x="41978" y="94472"/>
                  <a:pt x="40128" y="93179"/>
                  <a:pt x="38032" y="92202"/>
                </a:cubicBezTo>
                <a:cubicBezTo>
                  <a:pt x="44110" y="81724"/>
                  <a:pt x="47148" y="65519"/>
                  <a:pt x="47148" y="43586"/>
                </a:cubicBezTo>
                <a:lnTo>
                  <a:pt x="47148" y="7543"/>
                </a:lnTo>
                <a:cubicBezTo>
                  <a:pt x="66148" y="5867"/>
                  <a:pt x="80606" y="3702"/>
                  <a:pt x="90524" y="1047"/>
                </a:cubicBezTo>
                <a:close/>
                <a:moveTo>
                  <a:pt x="254602" y="209"/>
                </a:moveTo>
                <a:lnTo>
                  <a:pt x="261832" y="209"/>
                </a:lnTo>
                <a:lnTo>
                  <a:pt x="261832" y="12992"/>
                </a:lnTo>
                <a:lnTo>
                  <a:pt x="300284" y="12992"/>
                </a:lnTo>
                <a:lnTo>
                  <a:pt x="300284" y="19697"/>
                </a:lnTo>
                <a:lnTo>
                  <a:pt x="261832" y="19697"/>
                </a:lnTo>
                <a:lnTo>
                  <a:pt x="261832" y="46520"/>
                </a:lnTo>
                <a:lnTo>
                  <a:pt x="304580" y="46520"/>
                </a:lnTo>
                <a:lnTo>
                  <a:pt x="304580" y="53120"/>
                </a:lnTo>
                <a:lnTo>
                  <a:pt x="266862" y="53120"/>
                </a:lnTo>
                <a:cubicBezTo>
                  <a:pt x="277828" y="67859"/>
                  <a:pt x="291134" y="78651"/>
                  <a:pt x="306780" y="85496"/>
                </a:cubicBezTo>
                <a:cubicBezTo>
                  <a:pt x="305174" y="86893"/>
                  <a:pt x="303568" y="88814"/>
                  <a:pt x="301960" y="91259"/>
                </a:cubicBezTo>
                <a:cubicBezTo>
                  <a:pt x="286244" y="83505"/>
                  <a:pt x="272868" y="71910"/>
                  <a:pt x="261832" y="56473"/>
                </a:cubicBezTo>
                <a:lnTo>
                  <a:pt x="261832" y="95554"/>
                </a:lnTo>
                <a:lnTo>
                  <a:pt x="254602" y="95554"/>
                </a:lnTo>
                <a:lnTo>
                  <a:pt x="254602" y="56788"/>
                </a:lnTo>
                <a:cubicBezTo>
                  <a:pt x="243916" y="71666"/>
                  <a:pt x="230714" y="83051"/>
                  <a:pt x="214998" y="90944"/>
                </a:cubicBezTo>
                <a:cubicBezTo>
                  <a:pt x="213530" y="88709"/>
                  <a:pt x="211890" y="86788"/>
                  <a:pt x="210074" y="85182"/>
                </a:cubicBezTo>
                <a:cubicBezTo>
                  <a:pt x="225860" y="78406"/>
                  <a:pt x="239060" y="67719"/>
                  <a:pt x="249678" y="53120"/>
                </a:cubicBezTo>
                <a:lnTo>
                  <a:pt x="212168" y="53120"/>
                </a:lnTo>
                <a:lnTo>
                  <a:pt x="212168" y="46520"/>
                </a:lnTo>
                <a:lnTo>
                  <a:pt x="254602" y="46520"/>
                </a:lnTo>
                <a:lnTo>
                  <a:pt x="254602" y="19697"/>
                </a:lnTo>
                <a:lnTo>
                  <a:pt x="217198" y="19697"/>
                </a:lnTo>
                <a:lnTo>
                  <a:pt x="217198" y="12992"/>
                </a:lnTo>
                <a:lnTo>
                  <a:pt x="254602" y="12992"/>
                </a:lnTo>
                <a:close/>
                <a:moveTo>
                  <a:pt x="124052" y="104"/>
                </a:moveTo>
                <a:lnTo>
                  <a:pt x="130864" y="104"/>
                </a:lnTo>
                <a:lnTo>
                  <a:pt x="130864" y="22526"/>
                </a:lnTo>
                <a:lnTo>
                  <a:pt x="145112" y="22526"/>
                </a:lnTo>
                <a:lnTo>
                  <a:pt x="145112" y="29127"/>
                </a:lnTo>
                <a:lnTo>
                  <a:pt x="130864" y="29127"/>
                </a:lnTo>
                <a:lnTo>
                  <a:pt x="130864" y="33318"/>
                </a:lnTo>
                <a:cubicBezTo>
                  <a:pt x="134216" y="36671"/>
                  <a:pt x="140084" y="43411"/>
                  <a:pt x="148466" y="53540"/>
                </a:cubicBezTo>
                <a:lnTo>
                  <a:pt x="144064" y="59721"/>
                </a:lnTo>
                <a:cubicBezTo>
                  <a:pt x="141132" y="54972"/>
                  <a:pt x="136730" y="48860"/>
                  <a:pt x="130864" y="41386"/>
                </a:cubicBezTo>
                <a:lnTo>
                  <a:pt x="130864" y="95450"/>
                </a:lnTo>
                <a:lnTo>
                  <a:pt x="124052" y="95450"/>
                </a:lnTo>
                <a:lnTo>
                  <a:pt x="124052" y="41281"/>
                </a:lnTo>
                <a:cubicBezTo>
                  <a:pt x="119302" y="56508"/>
                  <a:pt x="113854" y="68173"/>
                  <a:pt x="107708" y="76276"/>
                </a:cubicBezTo>
                <a:cubicBezTo>
                  <a:pt x="106660" y="73831"/>
                  <a:pt x="105264" y="71596"/>
                  <a:pt x="103516" y="69570"/>
                </a:cubicBezTo>
                <a:cubicBezTo>
                  <a:pt x="111550" y="60071"/>
                  <a:pt x="117732" y="46590"/>
                  <a:pt x="122062" y="29127"/>
                </a:cubicBezTo>
                <a:lnTo>
                  <a:pt x="106346" y="29127"/>
                </a:lnTo>
                <a:lnTo>
                  <a:pt x="106346" y="22526"/>
                </a:lnTo>
                <a:lnTo>
                  <a:pt x="124052" y="22526"/>
                </a:lnTo>
                <a:close/>
                <a:moveTo>
                  <a:pt x="358958" y="0"/>
                </a:moveTo>
                <a:lnTo>
                  <a:pt x="366816" y="1152"/>
                </a:lnTo>
                <a:cubicBezTo>
                  <a:pt x="364930" y="6461"/>
                  <a:pt x="363184" y="10896"/>
                  <a:pt x="361578" y="14459"/>
                </a:cubicBezTo>
                <a:lnTo>
                  <a:pt x="399402" y="14459"/>
                </a:lnTo>
                <a:lnTo>
                  <a:pt x="399402" y="95240"/>
                </a:lnTo>
                <a:lnTo>
                  <a:pt x="392172" y="95240"/>
                </a:lnTo>
                <a:lnTo>
                  <a:pt x="392172" y="89792"/>
                </a:lnTo>
                <a:lnTo>
                  <a:pt x="335384" y="89792"/>
                </a:lnTo>
                <a:lnTo>
                  <a:pt x="335384" y="95764"/>
                </a:lnTo>
                <a:lnTo>
                  <a:pt x="328364" y="95764"/>
                </a:lnTo>
                <a:lnTo>
                  <a:pt x="328364" y="14459"/>
                </a:lnTo>
                <a:lnTo>
                  <a:pt x="354558" y="14459"/>
                </a:lnTo>
                <a:cubicBezTo>
                  <a:pt x="356304" y="9988"/>
                  <a:pt x="357770" y="5168"/>
                  <a:pt x="358958" y="0"/>
                </a:cubicBezTo>
                <a:close/>
                <a:moveTo>
                  <a:pt x="26298" y="0"/>
                </a:moveTo>
                <a:lnTo>
                  <a:pt x="32688" y="0"/>
                </a:lnTo>
                <a:lnTo>
                  <a:pt x="32688" y="29337"/>
                </a:lnTo>
                <a:lnTo>
                  <a:pt x="42224" y="29337"/>
                </a:lnTo>
                <a:lnTo>
                  <a:pt x="42224" y="35623"/>
                </a:lnTo>
                <a:lnTo>
                  <a:pt x="14354" y="35623"/>
                </a:lnTo>
                <a:lnTo>
                  <a:pt x="14354" y="43796"/>
                </a:lnTo>
                <a:cubicBezTo>
                  <a:pt x="14354" y="47078"/>
                  <a:pt x="14318" y="49558"/>
                  <a:pt x="14248" y="51235"/>
                </a:cubicBezTo>
                <a:lnTo>
                  <a:pt x="35728" y="51235"/>
                </a:lnTo>
                <a:lnTo>
                  <a:pt x="35728" y="95554"/>
                </a:lnTo>
                <a:lnTo>
                  <a:pt x="29336" y="95554"/>
                </a:lnTo>
                <a:lnTo>
                  <a:pt x="29336" y="57521"/>
                </a:lnTo>
                <a:lnTo>
                  <a:pt x="14038" y="57521"/>
                </a:lnTo>
                <a:cubicBezTo>
                  <a:pt x="13130" y="74006"/>
                  <a:pt x="10128" y="86788"/>
                  <a:pt x="5028" y="95869"/>
                </a:cubicBezTo>
                <a:cubicBezTo>
                  <a:pt x="3632" y="94332"/>
                  <a:pt x="1954" y="92935"/>
                  <a:pt x="0" y="91678"/>
                </a:cubicBezTo>
                <a:cubicBezTo>
                  <a:pt x="5238" y="81549"/>
                  <a:pt x="7858" y="65589"/>
                  <a:pt x="7858" y="43796"/>
                </a:cubicBezTo>
                <a:lnTo>
                  <a:pt x="7858" y="2305"/>
                </a:lnTo>
                <a:lnTo>
                  <a:pt x="14354" y="2305"/>
                </a:lnTo>
                <a:lnTo>
                  <a:pt x="14354" y="29337"/>
                </a:lnTo>
                <a:lnTo>
                  <a:pt x="26298" y="29337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fontAlgn="base"/>
            <a:endParaRPr lang="zh-CN" altLang="en-US" sz="800">
              <a:solidFill>
                <a:srgbClr val="E6E6E6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C557DC0-406A-4F6C-8986-055ADA64445E}"/>
              </a:ext>
            </a:extLst>
          </p:cNvPr>
          <p:cNvSpPr/>
          <p:nvPr userDrawn="1"/>
        </p:nvSpPr>
        <p:spPr>
          <a:xfrm>
            <a:off x="-40193202" y="6488668"/>
            <a:ext cx="1197764" cy="369332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r>
              <a:rPr lang="fr-FR" altLang="fr-FR">
                <a:solidFill>
                  <a:srgbClr val="E6E6E6"/>
                </a:solidFill>
                <a:latin typeface="Lato"/>
                <a:ea typeface="Lato"/>
              </a:rPr>
              <a:t>61536760</a:t>
            </a:r>
            <a:endParaRPr lang="zh-CN" altLang="en-US">
              <a:solidFill>
                <a:srgbClr val="E6E6E6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56733D2-D77C-4682-941A-75BE281D13D6}"/>
              </a:ext>
            </a:extLst>
          </p:cNvPr>
          <p:cNvSpPr/>
          <p:nvPr userDrawn="1"/>
        </p:nvSpPr>
        <p:spPr>
          <a:xfrm>
            <a:off x="-41412402" y="6488668"/>
            <a:ext cx="1197764" cy="369332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r>
              <a:rPr lang="fr-FR" altLang="fr-FR">
                <a:solidFill>
                  <a:srgbClr val="E6E6E6"/>
                </a:solidFill>
                <a:latin typeface="Lato"/>
                <a:ea typeface="Lato"/>
              </a:rPr>
              <a:t>61536760</a:t>
            </a:r>
            <a:endParaRPr lang="zh-CN" altLang="en-US">
              <a:solidFill>
                <a:srgbClr val="E6E6E6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747249D-23D4-4019-B578-13D7646AB683}"/>
              </a:ext>
            </a:extLst>
          </p:cNvPr>
          <p:cNvSpPr txBox="1"/>
          <p:nvPr userDrawn="1"/>
        </p:nvSpPr>
        <p:spPr>
          <a:xfrm>
            <a:off x="48555920" y="-20510500"/>
            <a:ext cx="3056879" cy="3352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fontAlgn="base"/>
            <a:r>
              <a:rPr lang="fr-FR" altLang="fr-FR" sz="800" b="0" i="0" u="none" strike="noStrike" kern="1200">
                <a:solidFill>
                  <a:srgbClr val="E6E6E6"/>
                </a:solidFill>
                <a:effectLst/>
                <a:latin typeface="Lato"/>
                <a:ea typeface="Lato"/>
                <a:cs typeface="+mn-cs"/>
              </a:rPr>
              <a:t>slidesdocs:Libellule bleue</a:t>
            </a:r>
          </a:p>
          <a:p>
            <a:r>
              <a:rPr lang="fr-FR" altLang="fr-FR" sz="800">
                <a:solidFill>
                  <a:srgbClr val="E6E6E6"/>
                </a:solidFill>
                <a:latin typeface="Lato"/>
                <a:ea typeface="Lato"/>
              </a:rPr>
              <a:t>CONCEPTION</a:t>
            </a:r>
            <a:endParaRPr lang="zh-CN" altLang="en-US" sz="800">
              <a:solidFill>
                <a:srgbClr val="E6E6E6"/>
              </a:solidFill>
            </a:endParaRPr>
          </a:p>
        </p:txBody>
      </p:sp>
      <p:sp>
        <p:nvSpPr>
          <p:cNvPr id="14" name="Rounded Rectangle 25">
            <a:extLst>
              <a:ext uri="{FF2B5EF4-FFF2-40B4-BE49-F238E27FC236}">
                <a16:creationId xmlns:a16="http://schemas.microsoft.com/office/drawing/2014/main" id="{F1ACFF13-D3C0-4C65-8FFE-4A7CFB3C3D0A}"/>
              </a:ext>
            </a:extLst>
          </p:cNvPr>
          <p:cNvSpPr/>
          <p:nvPr userDrawn="1"/>
        </p:nvSpPr>
        <p:spPr>
          <a:xfrm>
            <a:off x="838200" y="6268029"/>
            <a:ext cx="105156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34">
            <a:extLst>
              <a:ext uri="{FF2B5EF4-FFF2-40B4-BE49-F238E27FC236}">
                <a16:creationId xmlns:a16="http://schemas.microsoft.com/office/drawing/2014/main" id="{629FC920-FC69-431B-8AED-1C68F4BCF15A}"/>
              </a:ext>
            </a:extLst>
          </p:cNvPr>
          <p:cNvSpPr/>
          <p:nvPr userDrawn="1"/>
        </p:nvSpPr>
        <p:spPr>
          <a:xfrm>
            <a:off x="10932341" y="6424036"/>
            <a:ext cx="315589" cy="3155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295332D8-05F9-426A-B594-CF0FBE98EA88}"/>
              </a:ext>
            </a:extLst>
          </p:cNvPr>
          <p:cNvSpPr/>
          <p:nvPr userDrawn="1"/>
        </p:nvSpPr>
        <p:spPr>
          <a:xfrm>
            <a:off x="10915247" y="6455364"/>
            <a:ext cx="349776" cy="261610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pPr algn="ctr"/>
            <a:fld id="{52D6D798-CB88-473E-97C8-67A016EA1979}" type="slidenum">
              <a:rPr lang="fr-FR" altLang="fr-FR" sz="1100" smtClean="0">
                <a:solidFill>
                  <a:schemeClr val="bg1"/>
                </a:solidFill>
                <a:latin typeface="Lato"/>
                <a:ea typeface="Lato"/>
                <a:cs typeface="Open Sans Light" panose="020B0306030504020204" pitchFamily="34" charset="0"/>
              </a:rPr>
              <a:t>‹#›</a:t>
            </a:fld>
            <a:endParaRPr lang="en-US" sz="110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7" name="TextBox 43">
            <a:extLst>
              <a:ext uri="{FF2B5EF4-FFF2-40B4-BE49-F238E27FC236}">
                <a16:creationId xmlns:a16="http://schemas.microsoft.com/office/drawing/2014/main" id="{93D0914E-E7A0-4630-97DB-B104C7D5979A}"/>
              </a:ext>
            </a:extLst>
          </p:cNvPr>
          <p:cNvSpPr txBox="1"/>
          <p:nvPr userDrawn="1"/>
        </p:nvSpPr>
        <p:spPr>
          <a:xfrm>
            <a:off x="749300" y="6436007"/>
            <a:ext cx="859730" cy="21549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fr-FR" altLang="fr-FR" sz="800">
                <a:solidFill>
                  <a:schemeClr val="bg1">
                    <a:lumMod val="50000"/>
                  </a:schemeClr>
                </a:solidFill>
                <a:latin typeface="Lato"/>
                <a:ea typeface="Lato"/>
                <a:cs typeface="Open Sans Light" panose="020B0306030504020204" pitchFamily="34" charset="0"/>
              </a:rPr>
              <a:t>slidesdocs.com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D8157E8-B5A1-4C1D-8C3E-BFBB3FED6A2C}"/>
              </a:ext>
            </a:extLst>
          </p:cNvPr>
          <p:cNvSpPr/>
          <p:nvPr userDrawn="1"/>
        </p:nvSpPr>
        <p:spPr>
          <a:xfrm rot="2700000">
            <a:off x="428726" y="339083"/>
            <a:ext cx="330200" cy="330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燕尾形 5">
            <a:extLst>
              <a:ext uri="{FF2B5EF4-FFF2-40B4-BE49-F238E27FC236}">
                <a16:creationId xmlns:a16="http://schemas.microsoft.com/office/drawing/2014/main" id="{F82C7FEF-0975-476F-B7B2-37673E4661DD}"/>
              </a:ext>
            </a:extLst>
          </p:cNvPr>
          <p:cNvSpPr/>
          <p:nvPr userDrawn="1"/>
        </p:nvSpPr>
        <p:spPr>
          <a:xfrm>
            <a:off x="651686" y="396171"/>
            <a:ext cx="216024" cy="21602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6702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41" r:id="rId2"/>
    <p:sldLayoutId id="2147483736" r:id="rId3"/>
    <p:sldLayoutId id="2147483735" r:id="rId4"/>
    <p:sldLayoutId id="2147483703" r:id="rId5"/>
    <p:sldLayoutId id="2147483740" r:id="rId6"/>
    <p:sldLayoutId id="2147483708" r:id="rId7"/>
    <p:sldLayoutId id="2147483709" r:id="rId8"/>
    <p:sldLayoutId id="2147483710" r:id="rId9"/>
    <p:sldLayoutId id="2147483734" r:id="rId10"/>
    <p:sldLayoutId id="2147483737" r:id="rId11"/>
    <p:sldLayoutId id="2147483738" r:id="rId12"/>
    <p:sldLayoutId id="2147483725" r:id="rId13"/>
    <p:sldLayoutId id="2147483739" r:id="rId14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3.jpe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D702E490-8D7A-4298-8626-403B64CA820D}"/>
              </a:ext>
            </a:extLst>
          </p:cNvPr>
          <p:cNvSpPr/>
          <p:nvPr/>
        </p:nvSpPr>
        <p:spPr>
          <a:xfrm rot="2809473">
            <a:off x="3682971" y="1099863"/>
            <a:ext cx="3829050" cy="3829050"/>
          </a:xfrm>
          <a:custGeom>
            <a:avLst/>
            <a:gdLst>
              <a:gd name="connsiteX0" fmla="*/ 186921 w 3829050"/>
              <a:gd name="connsiteY0" fmla="*/ 186921 h 3829050"/>
              <a:gd name="connsiteX1" fmla="*/ 638188 w 3829050"/>
              <a:gd name="connsiteY1" fmla="*/ 0 h 3829050"/>
              <a:gd name="connsiteX2" fmla="*/ 1731382 w 3829050"/>
              <a:gd name="connsiteY2" fmla="*/ 0 h 3829050"/>
              <a:gd name="connsiteX3" fmla="*/ 1731382 w 3829050"/>
              <a:gd name="connsiteY3" fmla="*/ 1173845 h 3829050"/>
              <a:gd name="connsiteX4" fmla="*/ 2166964 w 3829050"/>
              <a:gd name="connsiteY4" fmla="*/ 1609427 h 3829050"/>
              <a:gd name="connsiteX5" fmla="*/ 3829050 w 3829050"/>
              <a:gd name="connsiteY5" fmla="*/ 1609427 h 3829050"/>
              <a:gd name="connsiteX6" fmla="*/ 3829050 w 3829050"/>
              <a:gd name="connsiteY6" fmla="*/ 3190862 h 3829050"/>
              <a:gd name="connsiteX7" fmla="*/ 3190862 w 3829050"/>
              <a:gd name="connsiteY7" fmla="*/ 3829050 h 3829050"/>
              <a:gd name="connsiteX8" fmla="*/ 638188 w 3829050"/>
              <a:gd name="connsiteY8" fmla="*/ 3829050 h 3829050"/>
              <a:gd name="connsiteX9" fmla="*/ 0 w 3829050"/>
              <a:gd name="connsiteY9" fmla="*/ 3190862 h 3829050"/>
              <a:gd name="connsiteX10" fmla="*/ 0 w 3829050"/>
              <a:gd name="connsiteY10" fmla="*/ 638188 h 3829050"/>
              <a:gd name="connsiteX11" fmla="*/ 186921 w 3829050"/>
              <a:gd name="connsiteY11" fmla="*/ 186921 h 382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29050" h="3829050">
                <a:moveTo>
                  <a:pt x="186921" y="186921"/>
                </a:moveTo>
                <a:cubicBezTo>
                  <a:pt x="302411" y="71432"/>
                  <a:pt x="461958" y="0"/>
                  <a:pt x="638188" y="0"/>
                </a:cubicBezTo>
                <a:lnTo>
                  <a:pt x="1731382" y="0"/>
                </a:lnTo>
                <a:lnTo>
                  <a:pt x="1731382" y="1173845"/>
                </a:lnTo>
                <a:cubicBezTo>
                  <a:pt x="1731382" y="1414410"/>
                  <a:pt x="1926399" y="1609427"/>
                  <a:pt x="2166964" y="1609427"/>
                </a:cubicBezTo>
                <a:lnTo>
                  <a:pt x="3829050" y="1609427"/>
                </a:lnTo>
                <a:lnTo>
                  <a:pt x="3829050" y="3190862"/>
                </a:lnTo>
                <a:cubicBezTo>
                  <a:pt x="3829050" y="3543323"/>
                  <a:pt x="3543323" y="3829050"/>
                  <a:pt x="3190862" y="3829050"/>
                </a:cubicBezTo>
                <a:lnTo>
                  <a:pt x="638188" y="3829050"/>
                </a:lnTo>
                <a:cubicBezTo>
                  <a:pt x="285727" y="3829050"/>
                  <a:pt x="0" y="3543323"/>
                  <a:pt x="0" y="3190862"/>
                </a:cubicBezTo>
                <a:lnTo>
                  <a:pt x="0" y="638188"/>
                </a:lnTo>
                <a:cubicBezTo>
                  <a:pt x="0" y="461957"/>
                  <a:pt x="71432" y="302410"/>
                  <a:pt x="186921" y="186921"/>
                </a:cubicBezTo>
                <a:close/>
              </a:path>
            </a:pathLst>
          </a:custGeom>
          <a:solidFill>
            <a:srgbClr val="080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038" name="Picture 14" descr="https://www.dell.com/wp-uploads/2016/04/6330.cloud_-1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95007">
            <a:off x="4061661" y="1640863"/>
            <a:ext cx="3071670" cy="288985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48A4718-A319-4EC6-952C-92C565C9F46C}"/>
              </a:ext>
            </a:extLst>
          </p:cNvPr>
          <p:cNvCxnSpPr/>
          <p:nvPr/>
        </p:nvCxnSpPr>
        <p:spPr>
          <a:xfrm flipV="1">
            <a:off x="5463735" y="-558988"/>
            <a:ext cx="2839937" cy="270616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3D6D202-8EF4-4728-9F27-C1DEF760BBE8}"/>
              </a:ext>
            </a:extLst>
          </p:cNvPr>
          <p:cNvCxnSpPr/>
          <p:nvPr/>
        </p:nvCxnSpPr>
        <p:spPr>
          <a:xfrm>
            <a:off x="-330357" y="3624"/>
            <a:ext cx="3428604" cy="36399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DD38C1A2-0510-41E0-98B5-3BBFABD1D301}"/>
              </a:ext>
            </a:extLst>
          </p:cNvPr>
          <p:cNvCxnSpPr/>
          <p:nvPr/>
        </p:nvCxnSpPr>
        <p:spPr>
          <a:xfrm>
            <a:off x="8180744" y="4208330"/>
            <a:ext cx="3784255" cy="398472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851A974-BB32-4A4A-BD4B-E5472C5EF039}"/>
              </a:ext>
            </a:extLst>
          </p:cNvPr>
          <p:cNvCxnSpPr/>
          <p:nvPr/>
        </p:nvCxnSpPr>
        <p:spPr>
          <a:xfrm flipV="1">
            <a:off x="9775585" y="3988349"/>
            <a:ext cx="2059156" cy="190207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47BDADCE-704B-4FB4-8D0E-46056EC7403D}"/>
              </a:ext>
            </a:extLst>
          </p:cNvPr>
          <p:cNvCxnSpPr/>
          <p:nvPr/>
        </p:nvCxnSpPr>
        <p:spPr>
          <a:xfrm flipV="1">
            <a:off x="-384522" y="3356559"/>
            <a:ext cx="3788000" cy="350144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1" name="秋天的钢琴">
            <a:hlinkClick r:id="" action="ppaction://media"/>
            <a:extLst>
              <a:ext uri="{FF2B5EF4-FFF2-40B4-BE49-F238E27FC236}">
                <a16:creationId xmlns:a16="http://schemas.microsoft.com/office/drawing/2014/main" id="{113955FC-12A1-46B5-AF1D-F983D70BBCD3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33731"/>
                  <p14:fade in="250" out="250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2362200" y="9677400"/>
            <a:ext cx="609600" cy="609600"/>
          </a:xfrm>
          <a:prstGeom prst="rect">
            <a:avLst/>
          </a:prstGeom>
        </p:spPr>
      </p:pic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C083C7F-49F8-4CB3-9C75-A8C12209C36A}"/>
              </a:ext>
            </a:extLst>
          </p:cNvPr>
          <p:cNvSpPr/>
          <p:nvPr/>
        </p:nvSpPr>
        <p:spPr>
          <a:xfrm rot="2809473">
            <a:off x="7913096" y="3453821"/>
            <a:ext cx="1365294" cy="1365294"/>
          </a:xfrm>
          <a:prstGeom prst="roundRect">
            <a:avLst/>
          </a:prstGeom>
          <a:solidFill>
            <a:srgbClr val="757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BA78050-FBBA-4B42-9683-8176730B0A6F}"/>
              </a:ext>
            </a:extLst>
          </p:cNvPr>
          <p:cNvSpPr/>
          <p:nvPr/>
        </p:nvSpPr>
        <p:spPr>
          <a:xfrm rot="2809473">
            <a:off x="3511075" y="4659284"/>
            <a:ext cx="803364" cy="80336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1DF020F5-A47C-4294-A551-EA0CEE5803CD}"/>
              </a:ext>
            </a:extLst>
          </p:cNvPr>
          <p:cNvSpPr/>
          <p:nvPr/>
        </p:nvSpPr>
        <p:spPr>
          <a:xfrm rot="2809473">
            <a:off x="1225088" y="1567750"/>
            <a:ext cx="1089974" cy="1089974"/>
          </a:xfrm>
          <a:custGeom>
            <a:avLst/>
            <a:gdLst>
              <a:gd name="connsiteX0" fmla="*/ 186921 w 3829050"/>
              <a:gd name="connsiteY0" fmla="*/ 186921 h 3829050"/>
              <a:gd name="connsiteX1" fmla="*/ 638188 w 3829050"/>
              <a:gd name="connsiteY1" fmla="*/ 0 h 3829050"/>
              <a:gd name="connsiteX2" fmla="*/ 1731382 w 3829050"/>
              <a:gd name="connsiteY2" fmla="*/ 0 h 3829050"/>
              <a:gd name="connsiteX3" fmla="*/ 1731382 w 3829050"/>
              <a:gd name="connsiteY3" fmla="*/ 1173845 h 3829050"/>
              <a:gd name="connsiteX4" fmla="*/ 2166964 w 3829050"/>
              <a:gd name="connsiteY4" fmla="*/ 1609427 h 3829050"/>
              <a:gd name="connsiteX5" fmla="*/ 3829050 w 3829050"/>
              <a:gd name="connsiteY5" fmla="*/ 1609427 h 3829050"/>
              <a:gd name="connsiteX6" fmla="*/ 3829050 w 3829050"/>
              <a:gd name="connsiteY6" fmla="*/ 3190862 h 3829050"/>
              <a:gd name="connsiteX7" fmla="*/ 3190862 w 3829050"/>
              <a:gd name="connsiteY7" fmla="*/ 3829050 h 3829050"/>
              <a:gd name="connsiteX8" fmla="*/ 638188 w 3829050"/>
              <a:gd name="connsiteY8" fmla="*/ 3829050 h 3829050"/>
              <a:gd name="connsiteX9" fmla="*/ 0 w 3829050"/>
              <a:gd name="connsiteY9" fmla="*/ 3190862 h 3829050"/>
              <a:gd name="connsiteX10" fmla="*/ 0 w 3829050"/>
              <a:gd name="connsiteY10" fmla="*/ 638188 h 3829050"/>
              <a:gd name="connsiteX11" fmla="*/ 186921 w 3829050"/>
              <a:gd name="connsiteY11" fmla="*/ 186921 h 382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29050" h="3829050">
                <a:moveTo>
                  <a:pt x="186921" y="186921"/>
                </a:moveTo>
                <a:cubicBezTo>
                  <a:pt x="302411" y="71432"/>
                  <a:pt x="461958" y="0"/>
                  <a:pt x="638188" y="0"/>
                </a:cubicBezTo>
                <a:lnTo>
                  <a:pt x="1731382" y="0"/>
                </a:lnTo>
                <a:lnTo>
                  <a:pt x="1731382" y="1173845"/>
                </a:lnTo>
                <a:cubicBezTo>
                  <a:pt x="1731382" y="1414410"/>
                  <a:pt x="1926399" y="1609427"/>
                  <a:pt x="2166964" y="1609427"/>
                </a:cubicBezTo>
                <a:lnTo>
                  <a:pt x="3829050" y="1609427"/>
                </a:lnTo>
                <a:lnTo>
                  <a:pt x="3829050" y="3190862"/>
                </a:lnTo>
                <a:cubicBezTo>
                  <a:pt x="3829050" y="3543323"/>
                  <a:pt x="3543323" y="3829050"/>
                  <a:pt x="3190862" y="3829050"/>
                </a:cubicBezTo>
                <a:lnTo>
                  <a:pt x="638188" y="3829050"/>
                </a:lnTo>
                <a:cubicBezTo>
                  <a:pt x="285727" y="3829050"/>
                  <a:pt x="0" y="3543323"/>
                  <a:pt x="0" y="3190862"/>
                </a:cubicBezTo>
                <a:lnTo>
                  <a:pt x="0" y="638188"/>
                </a:lnTo>
                <a:cubicBezTo>
                  <a:pt x="0" y="461957"/>
                  <a:pt x="71432" y="302410"/>
                  <a:pt x="186921" y="186921"/>
                </a:cubicBezTo>
                <a:close/>
              </a:path>
            </a:pathLst>
          </a:custGeom>
          <a:solidFill>
            <a:srgbClr val="080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F06FA6BB-4799-452F-8EAF-5737E37B132C}"/>
              </a:ext>
            </a:extLst>
          </p:cNvPr>
          <p:cNvSpPr/>
          <p:nvPr/>
        </p:nvSpPr>
        <p:spPr>
          <a:xfrm rot="2809473">
            <a:off x="1569445" y="1464529"/>
            <a:ext cx="1365294" cy="1365294"/>
          </a:xfrm>
          <a:prstGeom prst="roundRect">
            <a:avLst/>
          </a:prstGeom>
          <a:solidFill>
            <a:srgbClr val="757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1779B7-906F-33B6-B791-2E41C44655EC}"/>
              </a:ext>
            </a:extLst>
          </p:cNvPr>
          <p:cNvSpPr txBox="1"/>
          <p:nvPr/>
        </p:nvSpPr>
        <p:spPr>
          <a:xfrm>
            <a:off x="6492855" y="1422419"/>
            <a:ext cx="56991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Analyseur de Risques d'Inondation Avec </a:t>
            </a:r>
            <a:r>
              <a:rPr lang="fr-FR" sz="4400" b="1" dirty="0" err="1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GeoPandas</a:t>
            </a:r>
            <a:endParaRPr lang="fr-FR" sz="44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Picture 2" descr="https://www.fsdm.usmba.ac.ma/Template/useful/loading/img/logo.png"/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152" y="220713"/>
            <a:ext cx="1918937" cy="112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00D987-9823-2E72-A189-B344BFE4C8EA}"/>
              </a:ext>
            </a:extLst>
          </p:cNvPr>
          <p:cNvSpPr txBox="1"/>
          <p:nvPr/>
        </p:nvSpPr>
        <p:spPr>
          <a:xfrm>
            <a:off x="624130" y="5312777"/>
            <a:ext cx="28223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Supervisé Par :</a:t>
            </a:r>
          </a:p>
          <a:p>
            <a:pPr lvl="1"/>
            <a:r>
              <a:rPr lang="fr-FR" sz="2000" b="1" dirty="0"/>
              <a:t>Pr. ELGAROUNI Said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687F18-1347-FACD-20B4-4BE35E24C946}"/>
              </a:ext>
            </a:extLst>
          </p:cNvPr>
          <p:cNvSpPr txBox="1"/>
          <p:nvPr/>
        </p:nvSpPr>
        <p:spPr>
          <a:xfrm>
            <a:off x="6537821" y="5166698"/>
            <a:ext cx="33606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Présenté Par :</a:t>
            </a:r>
          </a:p>
          <a:p>
            <a:pPr lvl="1"/>
            <a:r>
              <a:rPr lang="fr-FR" sz="2000" b="1" dirty="0"/>
              <a:t>EL BOUTI Houssine</a:t>
            </a:r>
          </a:p>
          <a:p>
            <a:pPr lvl="1"/>
            <a:r>
              <a:rPr lang="fr-FR" sz="2000" b="1" dirty="0"/>
              <a:t>BEN-CHEIKH Mustapha</a:t>
            </a:r>
          </a:p>
        </p:txBody>
      </p:sp>
    </p:spTree>
    <p:extLst>
      <p:ext uri="{BB962C8B-B14F-4D97-AF65-F5344CB8AC3E}">
        <p14:creationId xmlns:p14="http://schemas.microsoft.com/office/powerpoint/2010/main" val="36367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audio>
              <p:cMediaNode vol="80000" numSld="999" showWhenStopped="0">
                <p:cTn id="2" repeatCount="indefinite" fill="remove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7FA663B-A628-4E7D-934A-5207470771F1}"/>
              </a:ext>
            </a:extLst>
          </p:cNvPr>
          <p:cNvCxnSpPr/>
          <p:nvPr/>
        </p:nvCxnSpPr>
        <p:spPr>
          <a:xfrm>
            <a:off x="-343057" y="-9076"/>
            <a:ext cx="3428604" cy="36399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501BF77-0056-4040-AF02-690E3C2F0858}"/>
              </a:ext>
            </a:extLst>
          </p:cNvPr>
          <p:cNvCxnSpPr/>
          <p:nvPr/>
        </p:nvCxnSpPr>
        <p:spPr>
          <a:xfrm>
            <a:off x="8180744" y="4208330"/>
            <a:ext cx="3784255" cy="398472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73C38C-4954-444B-9AF0-A308864A3A50}"/>
              </a:ext>
            </a:extLst>
          </p:cNvPr>
          <p:cNvCxnSpPr/>
          <p:nvPr/>
        </p:nvCxnSpPr>
        <p:spPr>
          <a:xfrm flipV="1">
            <a:off x="9800985" y="3582567"/>
            <a:ext cx="2406673" cy="2295158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C483B5B-054A-4A46-9AB5-402E7BFCD104}"/>
              </a:ext>
            </a:extLst>
          </p:cNvPr>
          <p:cNvCxnSpPr/>
          <p:nvPr/>
        </p:nvCxnSpPr>
        <p:spPr>
          <a:xfrm flipV="1">
            <a:off x="-384522" y="3356559"/>
            <a:ext cx="3788000" cy="350144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85677" y="898329"/>
            <a:ext cx="10515600" cy="78422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fr-FR" alt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+mn-lt"/>
              </a:rPr>
              <a:t>Contenu</a:t>
            </a:r>
            <a:endParaRPr 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658416" y="2187955"/>
            <a:ext cx="2106705" cy="1217248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/>
              <a:ea typeface="思源黑体 CN Light"/>
              <a:cs typeface="+mn-ea"/>
              <a:sym typeface="+mn-l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738759" y="4210188"/>
            <a:ext cx="2106704" cy="1217248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/>
              <a:ea typeface="思源黑体 CN Light"/>
              <a:cs typeface="+mn-ea"/>
              <a:sym typeface="+mn-l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304737" y="4210188"/>
            <a:ext cx="2106704" cy="1217248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/>
              <a:ea typeface="思源黑体 CN Light"/>
              <a:cs typeface="+mn-ea"/>
              <a:sym typeface="+mn-lt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719979" y="2375184"/>
            <a:ext cx="1862928" cy="8229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Cas d'Usage Concrets</a:t>
            </a:r>
          </a:p>
          <a:p>
            <a:pPr algn="ctr"/>
            <a:endParaRPr lang="fr-F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D9124EB-1B59-4CD1-B6AD-611305D3BA23}"/>
              </a:ext>
            </a:extLst>
          </p:cNvPr>
          <p:cNvCxnSpPr/>
          <p:nvPr/>
        </p:nvCxnSpPr>
        <p:spPr>
          <a:xfrm flipV="1">
            <a:off x="9800985" y="-588403"/>
            <a:ext cx="2839937" cy="270616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F5ABF992-1771-4FBB-AF98-53F803306C98}"/>
              </a:ext>
            </a:extLst>
          </p:cNvPr>
          <p:cNvSpPr/>
          <p:nvPr/>
        </p:nvSpPr>
        <p:spPr>
          <a:xfrm rot="2809473">
            <a:off x="10560091" y="6216581"/>
            <a:ext cx="1365294" cy="1365294"/>
          </a:xfrm>
          <a:prstGeom prst="roundRect">
            <a:avLst/>
          </a:prstGeom>
          <a:solidFill>
            <a:srgbClr val="757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5F4C6DA0-3328-4F75-8013-3555C47179E8}"/>
              </a:ext>
            </a:extLst>
          </p:cNvPr>
          <p:cNvSpPr/>
          <p:nvPr/>
        </p:nvSpPr>
        <p:spPr>
          <a:xfrm rot="2809473">
            <a:off x="851772" y="5111570"/>
            <a:ext cx="803364" cy="80336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9" name="Rectangle 20">
            <a:extLst>
              <a:ext uri="{FF2B5EF4-FFF2-40B4-BE49-F238E27FC236}">
                <a16:creationId xmlns:a16="http://schemas.microsoft.com/office/drawing/2014/main" id="{9B9CAEA7-EB77-4C95-8537-10C1524D3156}"/>
              </a:ext>
            </a:extLst>
          </p:cNvPr>
          <p:cNvSpPr/>
          <p:nvPr/>
        </p:nvSpPr>
        <p:spPr>
          <a:xfrm>
            <a:off x="4757660" y="4461478"/>
            <a:ext cx="1851680" cy="777240"/>
          </a:xfrm>
          <a:prstGeom prst="rect">
            <a:avLst/>
          </a:prstGeom>
        </p:spPr>
        <p:txBody>
          <a:bodyPr wrap="square">
            <a:normAutofit fontScale="92500"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Démonstration et tests</a:t>
            </a:r>
          </a:p>
        </p:txBody>
      </p:sp>
      <p:sp>
        <p:nvSpPr>
          <p:cNvPr id="50" name="Rectangle 20">
            <a:extLst>
              <a:ext uri="{FF2B5EF4-FFF2-40B4-BE49-F238E27FC236}">
                <a16:creationId xmlns:a16="http://schemas.microsoft.com/office/drawing/2014/main" id="{5A9CB9F2-4E0F-4E58-8167-4E1170C351EE}"/>
              </a:ext>
            </a:extLst>
          </p:cNvPr>
          <p:cNvSpPr/>
          <p:nvPr/>
        </p:nvSpPr>
        <p:spPr>
          <a:xfrm>
            <a:off x="7447793" y="4604476"/>
            <a:ext cx="1617438" cy="82296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Conclusion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67140" y="2213563"/>
            <a:ext cx="2106705" cy="1217248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/>
              <a:ea typeface="思源黑体 CN Light"/>
              <a:cs typeface="+mn-ea"/>
              <a:sym typeface="+mn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66506" y="2213563"/>
            <a:ext cx="2106705" cy="1217248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/>
              <a:ea typeface="思源黑体 CN Light"/>
              <a:cs typeface="+mn-ea"/>
              <a:sym typeface="+mn-lt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149807" y="2187955"/>
            <a:ext cx="2106705" cy="1217248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/>
              <a:ea typeface="思源黑体 CN Light"/>
              <a:cs typeface="+mn-ea"/>
              <a:sym typeface="+mn-lt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475058" y="2587591"/>
            <a:ext cx="1689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f-ZA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  <a:endParaRPr lang="fr-F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3823226" y="2490258"/>
            <a:ext cx="19216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f-ZA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fr-F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Problème Résolu</a:t>
            </a:r>
            <a:endParaRPr lang="fr-F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6350246" y="2382238"/>
            <a:ext cx="1731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Les Fonctionnalités</a:t>
            </a:r>
          </a:p>
        </p:txBody>
      </p:sp>
      <p:sp>
        <p:nvSpPr>
          <p:cNvPr id="38" name="矩形: 圆角 30">
            <a:extLst>
              <a:ext uri="{FF2B5EF4-FFF2-40B4-BE49-F238E27FC236}">
                <a16:creationId xmlns:a16="http://schemas.microsoft.com/office/drawing/2014/main" id="{5F4C6DA0-3328-4F75-8013-3555C47179E8}"/>
              </a:ext>
            </a:extLst>
          </p:cNvPr>
          <p:cNvSpPr/>
          <p:nvPr/>
        </p:nvSpPr>
        <p:spPr>
          <a:xfrm rot="2809473">
            <a:off x="10272768" y="805148"/>
            <a:ext cx="803364" cy="80477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矩形: 圆角 29">
            <a:extLst>
              <a:ext uri="{FF2B5EF4-FFF2-40B4-BE49-F238E27FC236}">
                <a16:creationId xmlns:a16="http://schemas.microsoft.com/office/drawing/2014/main" id="{F5ABF992-1771-4FBB-AF98-53F803306C98}"/>
              </a:ext>
            </a:extLst>
          </p:cNvPr>
          <p:cNvSpPr/>
          <p:nvPr/>
        </p:nvSpPr>
        <p:spPr>
          <a:xfrm rot="2809473">
            <a:off x="10689403" y="770313"/>
            <a:ext cx="1023746" cy="940074"/>
          </a:xfrm>
          <a:prstGeom prst="roundRect">
            <a:avLst/>
          </a:prstGeom>
          <a:solidFill>
            <a:srgbClr val="757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B6F264-701E-C0E3-987C-3C997E900CDB}"/>
              </a:ext>
            </a:extLst>
          </p:cNvPr>
          <p:cNvSpPr/>
          <p:nvPr/>
        </p:nvSpPr>
        <p:spPr>
          <a:xfrm>
            <a:off x="2152993" y="4263525"/>
            <a:ext cx="2106704" cy="1217248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/>
              <a:ea typeface="思源黑体 CN Light"/>
              <a:cs typeface="+mn-ea"/>
              <a:sym typeface="+mn-lt"/>
            </a:endParaRPr>
          </a:p>
        </p:txBody>
      </p:sp>
      <p:sp>
        <p:nvSpPr>
          <p:cNvPr id="4" name="Rectangle 20">
            <a:extLst>
              <a:ext uri="{FF2B5EF4-FFF2-40B4-BE49-F238E27FC236}">
                <a16:creationId xmlns:a16="http://schemas.microsoft.com/office/drawing/2014/main" id="{FD7308BB-B107-66F0-59B2-C94E2034856B}"/>
              </a:ext>
            </a:extLst>
          </p:cNvPr>
          <p:cNvSpPr/>
          <p:nvPr/>
        </p:nvSpPr>
        <p:spPr>
          <a:xfrm>
            <a:off x="2254304" y="4604476"/>
            <a:ext cx="1851680" cy="77724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Application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68000">
        <p:random/>
      </p:transition>
    </mc:Choice>
    <mc:Fallback xmlns="">
      <p:transition spd="slow" advTm="68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 animBg="1"/>
      <p:bldP spid="19" grpId="0" animBg="1"/>
      <p:bldP spid="20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8" grpId="0" animBg="1"/>
      <p:bldP spid="40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www.customonline.com/wp-content/uploads/GettyImages-853701240-small.jpg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r="10000"/>
          <a:stretch>
            <a:fillRect/>
          </a:stretch>
        </p:blipFill>
        <p:spPr bwMode="auto">
          <a:xfrm>
            <a:off x="0" y="0"/>
            <a:ext cx="12177055" cy="3700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/>
        </p:nvSpPr>
        <p:spPr>
          <a:xfrm>
            <a:off x="0" y="-54864"/>
            <a:ext cx="12192001" cy="375542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/>
              <a:ea typeface="思源黑体 CN Light"/>
              <a:cs typeface="+mn-ea"/>
              <a:sym typeface="+mn-lt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0E243AF4-7B3F-48DB-AC37-82FE76B70B33}"/>
              </a:ext>
            </a:extLst>
          </p:cNvPr>
          <p:cNvSpPr/>
          <p:nvPr/>
        </p:nvSpPr>
        <p:spPr>
          <a:xfrm rot="2809473">
            <a:off x="1417551" y="2402565"/>
            <a:ext cx="2374882" cy="2374882"/>
          </a:xfrm>
          <a:custGeom>
            <a:avLst/>
            <a:gdLst>
              <a:gd name="connsiteX0" fmla="*/ 186921 w 3829050"/>
              <a:gd name="connsiteY0" fmla="*/ 186921 h 3829050"/>
              <a:gd name="connsiteX1" fmla="*/ 638188 w 3829050"/>
              <a:gd name="connsiteY1" fmla="*/ 0 h 3829050"/>
              <a:gd name="connsiteX2" fmla="*/ 1731382 w 3829050"/>
              <a:gd name="connsiteY2" fmla="*/ 0 h 3829050"/>
              <a:gd name="connsiteX3" fmla="*/ 1731382 w 3829050"/>
              <a:gd name="connsiteY3" fmla="*/ 1173845 h 3829050"/>
              <a:gd name="connsiteX4" fmla="*/ 2166964 w 3829050"/>
              <a:gd name="connsiteY4" fmla="*/ 1609427 h 3829050"/>
              <a:gd name="connsiteX5" fmla="*/ 3829050 w 3829050"/>
              <a:gd name="connsiteY5" fmla="*/ 1609427 h 3829050"/>
              <a:gd name="connsiteX6" fmla="*/ 3829050 w 3829050"/>
              <a:gd name="connsiteY6" fmla="*/ 3190862 h 3829050"/>
              <a:gd name="connsiteX7" fmla="*/ 3190862 w 3829050"/>
              <a:gd name="connsiteY7" fmla="*/ 3829050 h 3829050"/>
              <a:gd name="connsiteX8" fmla="*/ 638188 w 3829050"/>
              <a:gd name="connsiteY8" fmla="*/ 3829050 h 3829050"/>
              <a:gd name="connsiteX9" fmla="*/ 0 w 3829050"/>
              <a:gd name="connsiteY9" fmla="*/ 3190862 h 3829050"/>
              <a:gd name="connsiteX10" fmla="*/ 0 w 3829050"/>
              <a:gd name="connsiteY10" fmla="*/ 638188 h 3829050"/>
              <a:gd name="connsiteX11" fmla="*/ 186921 w 3829050"/>
              <a:gd name="connsiteY11" fmla="*/ 186921 h 382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29050" h="3829050">
                <a:moveTo>
                  <a:pt x="186921" y="186921"/>
                </a:moveTo>
                <a:cubicBezTo>
                  <a:pt x="302411" y="71432"/>
                  <a:pt x="461958" y="0"/>
                  <a:pt x="638188" y="0"/>
                </a:cubicBezTo>
                <a:lnTo>
                  <a:pt x="1731382" y="0"/>
                </a:lnTo>
                <a:lnTo>
                  <a:pt x="1731382" y="1173845"/>
                </a:lnTo>
                <a:cubicBezTo>
                  <a:pt x="1731382" y="1414410"/>
                  <a:pt x="1926399" y="1609427"/>
                  <a:pt x="2166964" y="1609427"/>
                </a:cubicBezTo>
                <a:lnTo>
                  <a:pt x="3829050" y="1609427"/>
                </a:lnTo>
                <a:lnTo>
                  <a:pt x="3829050" y="3190862"/>
                </a:lnTo>
                <a:cubicBezTo>
                  <a:pt x="3829050" y="3543323"/>
                  <a:pt x="3543323" y="3829050"/>
                  <a:pt x="3190862" y="3829050"/>
                </a:cubicBezTo>
                <a:lnTo>
                  <a:pt x="638188" y="3829050"/>
                </a:lnTo>
                <a:cubicBezTo>
                  <a:pt x="285727" y="3829050"/>
                  <a:pt x="0" y="3543323"/>
                  <a:pt x="0" y="3190862"/>
                </a:cubicBezTo>
                <a:lnTo>
                  <a:pt x="0" y="638188"/>
                </a:lnTo>
                <a:cubicBezTo>
                  <a:pt x="0" y="461957"/>
                  <a:pt x="71432" y="302410"/>
                  <a:pt x="186921" y="18692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078" name="Picture 6" descr="https://s3.amazonaws.com/hoth.bizango/images/797280/cloud-computing-msc_feature.jpg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35816">
            <a:off x="1624964" y="2588165"/>
            <a:ext cx="1960056" cy="201367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ZoneTexte 14"/>
          <p:cNvSpPr txBox="1"/>
          <p:nvPr/>
        </p:nvSpPr>
        <p:spPr>
          <a:xfrm>
            <a:off x="4283436" y="3910868"/>
            <a:ext cx="64556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f-ZA" sz="60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fr-FR" sz="6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14909" y="4032959"/>
            <a:ext cx="1117552" cy="215494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Création des VMs</a:t>
            </a:r>
            <a:endParaRPr lang="fr-FR" altLang="fr-FR" dirty="0">
              <a:solidFill>
                <a:schemeClr val="bg1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541773" y="3925090"/>
            <a:ext cx="2803000" cy="491940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des systèmes</a:t>
            </a:r>
          </a:p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d’exploitation</a:t>
            </a:r>
            <a:endParaRPr lang="fr-FR" altLang="fr-F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48999" y="3866632"/>
            <a:ext cx="3114561" cy="6145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réseau </a:t>
            </a:r>
          </a:p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VMs</a:t>
            </a:r>
            <a:endParaRPr lang="fr-FR" altLang="fr-F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348417" y="3866632"/>
            <a:ext cx="660968" cy="614556"/>
            <a:chOff x="983777" y="2858113"/>
            <a:chExt cx="460916" cy="460916"/>
          </a:xfrm>
        </p:grpSpPr>
        <p:sp>
          <p:nvSpPr>
            <p:cNvPr id="10" name="文本框 9"/>
            <p:cNvSpPr txBox="1"/>
            <p:nvPr/>
          </p:nvSpPr>
          <p:spPr>
            <a:xfrm>
              <a:off x="1067994" y="2924700"/>
              <a:ext cx="274114" cy="377075"/>
            </a:xfrm>
            <a:prstGeom prst="rect">
              <a:avLst/>
            </a:prstGeom>
            <a:noFill/>
          </p:spPr>
          <p:txBody>
            <a:bodyPr wrap="none" lIns="0" rIns="0" rtlCol="0">
              <a:normAutofit/>
            </a:bodyPr>
            <a:lstStyle/>
            <a:p>
              <a:r>
                <a:rPr lang="fr-FR" altLang="fr-FR" sz="2667" dirty="0">
                  <a:solidFill>
                    <a:schemeClr val="bg1"/>
                  </a:solidFill>
                  <a:latin typeface="Lato"/>
                  <a:ea typeface="Lato"/>
                  <a:cs typeface="+mn-ea"/>
                  <a:sym typeface="+mn-lt"/>
                </a:rPr>
                <a:t>01</a:t>
              </a:r>
              <a:endParaRPr lang="zh-CN" altLang="en-US" sz="2667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983777" y="2858113"/>
              <a:ext cx="460916" cy="460916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8016742" y="3901061"/>
            <a:ext cx="614553" cy="614555"/>
            <a:chOff x="988220" y="2898404"/>
            <a:chExt cx="460916" cy="460916"/>
          </a:xfrm>
        </p:grpSpPr>
        <p:sp>
          <p:nvSpPr>
            <p:cNvPr id="13" name="文本框 12"/>
            <p:cNvSpPr txBox="1"/>
            <p:nvPr/>
          </p:nvSpPr>
          <p:spPr>
            <a:xfrm>
              <a:off x="1067994" y="2924700"/>
              <a:ext cx="274114" cy="377075"/>
            </a:xfrm>
            <a:prstGeom prst="rect">
              <a:avLst/>
            </a:prstGeom>
            <a:noFill/>
          </p:spPr>
          <p:txBody>
            <a:bodyPr wrap="none" lIns="0" rIns="0" rtlCol="0">
              <a:normAutofit/>
            </a:bodyPr>
            <a:lstStyle/>
            <a:p>
              <a:r>
                <a:rPr lang="fr-FR" altLang="fr-FR" sz="2667" dirty="0">
                  <a:solidFill>
                    <a:schemeClr val="bg1"/>
                  </a:solidFill>
                  <a:latin typeface="Lato"/>
                  <a:ea typeface="Lato"/>
                  <a:cs typeface="+mn-ea"/>
                  <a:sym typeface="+mn-lt"/>
                </a:rPr>
                <a:t>03</a:t>
              </a:r>
              <a:endParaRPr lang="zh-CN" altLang="en-US" sz="2667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4" name="任意多边形 13"/>
            <p:cNvSpPr/>
            <p:nvPr/>
          </p:nvSpPr>
          <p:spPr>
            <a:xfrm>
              <a:off x="988220" y="2898404"/>
              <a:ext cx="460916" cy="460916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791727" y="1316031"/>
            <a:ext cx="614553" cy="614555"/>
            <a:chOff x="988220" y="2898404"/>
            <a:chExt cx="460916" cy="460916"/>
          </a:xfrm>
        </p:grpSpPr>
        <p:sp>
          <p:nvSpPr>
            <p:cNvPr id="16" name="文本框 15"/>
            <p:cNvSpPr txBox="1"/>
            <p:nvPr/>
          </p:nvSpPr>
          <p:spPr>
            <a:xfrm>
              <a:off x="1067994" y="2924700"/>
              <a:ext cx="274114" cy="377075"/>
            </a:xfrm>
            <a:prstGeom prst="rect">
              <a:avLst/>
            </a:prstGeom>
            <a:noFill/>
          </p:spPr>
          <p:txBody>
            <a:bodyPr wrap="none" lIns="0" rIns="0" rtlCol="0">
              <a:normAutofit/>
            </a:bodyPr>
            <a:lstStyle/>
            <a:p>
              <a:r>
                <a:rPr lang="fr-FR" altLang="fr-FR" sz="2667" dirty="0">
                  <a:solidFill>
                    <a:schemeClr val="bg1"/>
                  </a:solidFill>
                  <a:latin typeface="Lato"/>
                  <a:ea typeface="Lato"/>
                  <a:cs typeface="+mn-ea"/>
                  <a:sym typeface="+mn-lt"/>
                </a:rPr>
                <a:t>02</a:t>
              </a:r>
              <a:endParaRPr lang="zh-CN" altLang="en-US" sz="2667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988220" y="2898404"/>
              <a:ext cx="460916" cy="460916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2AFA3E0C-A071-4ADA-AEBE-59646CE1D7BD}"/>
              </a:ext>
            </a:extLst>
          </p:cNvPr>
          <p:cNvSpPr txBox="1"/>
          <p:nvPr/>
        </p:nvSpPr>
        <p:spPr>
          <a:xfrm>
            <a:off x="932134" y="247348"/>
            <a:ext cx="8667207" cy="45720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defTabSz="914400">
              <a:defRPr/>
            </a:pPr>
            <a:r>
              <a:rPr lang="af-ZA" altLang="fr-FR" sz="2400" b="1" dirty="0">
                <a:solidFill>
                  <a:schemeClr val="bg2">
                    <a:lumMod val="75000"/>
                  </a:schemeClr>
                </a:solidFill>
                <a:latin typeface="Lato"/>
                <a:ea typeface="Lato"/>
                <a:cs typeface="+mn-ea"/>
                <a:sym typeface="+mn-lt"/>
              </a:rPr>
              <a:t>Introduction</a:t>
            </a:r>
            <a:endParaRPr lang="fr-FR" altLang="fr-FR" sz="2400" b="1" dirty="0">
              <a:solidFill>
                <a:schemeClr val="bg2">
                  <a:lumMod val="75000"/>
                </a:schemeClr>
              </a:solidFill>
              <a:latin typeface="Lato"/>
              <a:ea typeface="Lato"/>
              <a:cs typeface="+mn-ea"/>
              <a:sym typeface="+mn-lt"/>
            </a:endParaRPr>
          </a:p>
        </p:txBody>
      </p:sp>
      <p:pic>
        <p:nvPicPr>
          <p:cNvPr id="26" name="Picture 2" descr="https://www.fsdm.usmba.ac.ma/Template/useful/loading/img/logo.pn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27" y="6472989"/>
            <a:ext cx="820952" cy="14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2239136" y="1281767"/>
                <a:ext cx="7787695" cy="3814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b="1" dirty="0" err="1"/>
                  <a:t>GeoPandas</a:t>
                </a:r>
                <a:r>
                  <a:rPr lang="fr-FR" sz="2000" dirty="0"/>
                  <a:t> est une </a:t>
                </a:r>
                <a:r>
                  <a:rPr lang="fr-FR" sz="2000" b="1" dirty="0"/>
                  <a:t>bibliothèque Python open-source</a:t>
                </a:r>
                <a:r>
                  <a:rPr lang="fr-FR" sz="2000" dirty="0"/>
                  <a:t> conçue pour </a:t>
                </a:r>
                <a:r>
                  <a:rPr lang="fr-FR" sz="2000" b="1" dirty="0"/>
                  <a:t>étendre les fonctionnalités de Pandas</a:t>
                </a:r>
                <a:r>
                  <a:rPr lang="fr-FR" sz="2000" dirty="0"/>
                  <a:t> aux </a:t>
                </a:r>
                <a:r>
                  <a:rPr lang="fr-FR" sz="2000" b="1" dirty="0"/>
                  <a:t>données géospatiales</a:t>
                </a:r>
                <a:r>
                  <a:rPr lang="fr-FR" sz="2000" dirty="0"/>
                  <a:t>.</a:t>
                </a:r>
              </a:p>
              <a:p>
                <a:r>
                  <a:rPr lang="fr-FR" sz="2000" dirty="0"/>
                  <a:t>Son objectif principal est de </a:t>
                </a:r>
                <a:r>
                  <a:rPr lang="fr-FR" sz="2000" b="1" dirty="0"/>
                  <a:t>simplifier la manipulation, l’analyse et la visualisation de données géographiques</a:t>
                </a:r>
                <a:r>
                  <a:rPr lang="fr-FR" sz="2000" dirty="0"/>
                  <a:t> directement dans des </a:t>
                </a:r>
                <a:r>
                  <a:rPr lang="fr-FR" sz="2000" dirty="0" err="1"/>
                  <a:t>DataFrames</a:t>
                </a:r>
                <a:r>
                  <a:rPr lang="fr-FR" sz="2000" dirty="0"/>
                  <a:t>, en intégrant </a:t>
                </a:r>
                <a:r>
                  <a:rPr lang="fr-FR" sz="2000" b="1" dirty="0"/>
                  <a:t>des objets géométriques</a:t>
                </a:r>
                <a:r>
                  <a:rPr lang="fr-FR" sz="2000" dirty="0"/>
                  <a:t> tels que :</a:t>
                </a:r>
                <a:r>
                  <a:rPr lang="fr-FR" sz="2000" b="1" dirty="0"/>
                  <a:t>Points</a:t>
                </a:r>
                <a:r>
                  <a:rPr lang="fr-FR" sz="2000" dirty="0"/>
                  <a:t> ,</a:t>
                </a:r>
                <a:r>
                  <a:rPr lang="fr-FR" sz="2000" b="1" dirty="0"/>
                  <a:t>Lignes</a:t>
                </a:r>
                <a:r>
                  <a:rPr lang="fr-FR" sz="2000" dirty="0"/>
                  <a:t> ,</a:t>
                </a:r>
                <a:r>
                  <a:rPr lang="fr-FR" sz="2000" b="1" dirty="0"/>
                  <a:t>Polygones</a:t>
                </a:r>
                <a:r>
                  <a:rPr lang="fr-FR" sz="2000" dirty="0"/>
                  <a:t> .</a:t>
                </a:r>
              </a:p>
              <a:p>
                <a:endParaRPr lang="fr-FR" sz="2000" b="1" dirty="0"/>
              </a:p>
              <a:p>
                <a:endParaRPr lang="fr-FR" sz="2000" b="1" dirty="0"/>
              </a:p>
              <a:p>
                <a:r>
                  <a:rPr lang="fr-FR" sz="2000" b="1" dirty="0"/>
                  <a:t>En résumé :</a:t>
                </a:r>
                <a:endParaRPr lang="fr-F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sz="2000" b="0"/>
                        <m:t>GeoPandas</m:t>
                      </m:r>
                      <m:r>
                        <a:rPr lang="fr-FR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fr-FR" sz="2400" i="1"/>
                        <m:t>Pandas</m:t>
                      </m:r>
                      <m:r>
                        <a:rPr lang="fr-FR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fr-FR" sz="2400" i="1"/>
                        <m:t>Donn</m:t>
                      </m:r>
                      <m:limUpp>
                        <m:limUppPr>
                          <m:ctrlPr>
                            <a:rPr lang="tzm-Arab-MA" sz="2400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m:rPr>
                              <m:nor/>
                            </m:rPr>
                            <a:rPr lang="fr-FR" sz="2400" i="1"/>
                            <m:t>e</m:t>
                          </m:r>
                        </m:e>
                        <m:lim>
                          <m:r>
                            <a:rPr lang="tzm-Arab-MA" sz="2400">
                              <a:latin typeface="Cambria Math" panose="02040503050406030204" pitchFamily="18" charset="0"/>
                            </a:rPr>
                            <m:t>ˊ</m:t>
                          </m:r>
                        </m:lim>
                      </m:limUpp>
                      <m:r>
                        <m:rPr>
                          <m:nor/>
                        </m:rPr>
                        <a:rPr lang="fr-FR" sz="2400" i="1"/>
                        <m:t>es</m:t>
                      </m:r>
                      <m:r>
                        <m:rPr>
                          <m:nor/>
                        </m:rPr>
                        <a:rPr lang="fr-FR" sz="2400" i="1"/>
                        <m:t> </m:t>
                      </m:r>
                      <m:r>
                        <m:rPr>
                          <m:nor/>
                        </m:rPr>
                        <a:rPr lang="fr-FR" sz="2400" i="1"/>
                        <m:t>g</m:t>
                      </m:r>
                      <m:limUpp>
                        <m:limUppPr>
                          <m:ctrlPr>
                            <a:rPr lang="tzm-Arab-MA" sz="2400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m:rPr>
                              <m:nor/>
                            </m:rPr>
                            <a:rPr lang="fr-FR" sz="2400" i="1"/>
                            <m:t>e</m:t>
                          </m:r>
                        </m:e>
                        <m:lim>
                          <m:r>
                            <a:rPr lang="tzm-Arab-MA" sz="2400">
                              <a:latin typeface="Cambria Math" panose="02040503050406030204" pitchFamily="18" charset="0"/>
                            </a:rPr>
                            <m:t>ˊ</m:t>
                          </m:r>
                        </m:lim>
                      </m:limUpp>
                      <m:r>
                        <m:rPr>
                          <m:nor/>
                        </m:rPr>
                        <a:rPr lang="fr-FR" sz="2400" i="1"/>
                        <m:t>ographiques</m:t>
                      </m:r>
                    </m:oMath>
                  </m:oMathPara>
                </a14:m>
                <a:endParaRPr lang="fr-FR" sz="2000" b="0" dirty="0"/>
              </a:p>
              <a:p>
                <a:endParaRPr lang="fr-FR" sz="1600" dirty="0"/>
              </a:p>
              <a:p>
                <a:pPr algn="just"/>
                <a:endPara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136" y="1281767"/>
                <a:ext cx="7787695" cy="3814762"/>
              </a:xfrm>
              <a:prstGeom prst="rect">
                <a:avLst/>
              </a:prstGeom>
              <a:blipFill>
                <a:blip r:embed="rId4"/>
                <a:stretch>
                  <a:fillRect l="-782" t="-79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任意多边形: 形状 49">
            <a:extLst>
              <a:ext uri="{FF2B5EF4-FFF2-40B4-BE49-F238E27FC236}">
                <a16:creationId xmlns:a16="http://schemas.microsoft.com/office/drawing/2014/main" id="{1DF020F5-A47C-4294-A551-EA0CEE5803CD}"/>
              </a:ext>
            </a:extLst>
          </p:cNvPr>
          <p:cNvSpPr/>
          <p:nvPr/>
        </p:nvSpPr>
        <p:spPr>
          <a:xfrm rot="2896400">
            <a:off x="944010" y="4562112"/>
            <a:ext cx="1089974" cy="1089974"/>
          </a:xfrm>
          <a:custGeom>
            <a:avLst/>
            <a:gdLst>
              <a:gd name="connsiteX0" fmla="*/ 186921 w 3829050"/>
              <a:gd name="connsiteY0" fmla="*/ 186921 h 3829050"/>
              <a:gd name="connsiteX1" fmla="*/ 638188 w 3829050"/>
              <a:gd name="connsiteY1" fmla="*/ 0 h 3829050"/>
              <a:gd name="connsiteX2" fmla="*/ 1731382 w 3829050"/>
              <a:gd name="connsiteY2" fmla="*/ 0 h 3829050"/>
              <a:gd name="connsiteX3" fmla="*/ 1731382 w 3829050"/>
              <a:gd name="connsiteY3" fmla="*/ 1173845 h 3829050"/>
              <a:gd name="connsiteX4" fmla="*/ 2166964 w 3829050"/>
              <a:gd name="connsiteY4" fmla="*/ 1609427 h 3829050"/>
              <a:gd name="connsiteX5" fmla="*/ 3829050 w 3829050"/>
              <a:gd name="connsiteY5" fmla="*/ 1609427 h 3829050"/>
              <a:gd name="connsiteX6" fmla="*/ 3829050 w 3829050"/>
              <a:gd name="connsiteY6" fmla="*/ 3190862 h 3829050"/>
              <a:gd name="connsiteX7" fmla="*/ 3190862 w 3829050"/>
              <a:gd name="connsiteY7" fmla="*/ 3829050 h 3829050"/>
              <a:gd name="connsiteX8" fmla="*/ 638188 w 3829050"/>
              <a:gd name="connsiteY8" fmla="*/ 3829050 h 3829050"/>
              <a:gd name="connsiteX9" fmla="*/ 0 w 3829050"/>
              <a:gd name="connsiteY9" fmla="*/ 3190862 h 3829050"/>
              <a:gd name="connsiteX10" fmla="*/ 0 w 3829050"/>
              <a:gd name="connsiteY10" fmla="*/ 638188 h 3829050"/>
              <a:gd name="connsiteX11" fmla="*/ 186921 w 3829050"/>
              <a:gd name="connsiteY11" fmla="*/ 186921 h 382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29050" h="3829050">
                <a:moveTo>
                  <a:pt x="186921" y="186921"/>
                </a:moveTo>
                <a:cubicBezTo>
                  <a:pt x="302411" y="71432"/>
                  <a:pt x="461958" y="0"/>
                  <a:pt x="638188" y="0"/>
                </a:cubicBezTo>
                <a:lnTo>
                  <a:pt x="1731382" y="0"/>
                </a:lnTo>
                <a:lnTo>
                  <a:pt x="1731382" y="1173845"/>
                </a:lnTo>
                <a:cubicBezTo>
                  <a:pt x="1731382" y="1414410"/>
                  <a:pt x="1926399" y="1609427"/>
                  <a:pt x="2166964" y="1609427"/>
                </a:cubicBezTo>
                <a:lnTo>
                  <a:pt x="3829050" y="1609427"/>
                </a:lnTo>
                <a:lnTo>
                  <a:pt x="3829050" y="3190862"/>
                </a:lnTo>
                <a:cubicBezTo>
                  <a:pt x="3829050" y="3543323"/>
                  <a:pt x="3543323" y="3829050"/>
                  <a:pt x="3190862" y="3829050"/>
                </a:cubicBezTo>
                <a:lnTo>
                  <a:pt x="638188" y="3829050"/>
                </a:lnTo>
                <a:cubicBezTo>
                  <a:pt x="285727" y="3829050"/>
                  <a:pt x="0" y="3543323"/>
                  <a:pt x="0" y="3190862"/>
                </a:cubicBezTo>
                <a:lnTo>
                  <a:pt x="0" y="638188"/>
                </a:lnTo>
                <a:cubicBezTo>
                  <a:pt x="0" y="461957"/>
                  <a:pt x="71432" y="302410"/>
                  <a:pt x="186921" y="186921"/>
                </a:cubicBezTo>
                <a:close/>
              </a:path>
            </a:pathLst>
          </a:custGeom>
          <a:solidFill>
            <a:srgbClr val="080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矩形: 圆角 29">
            <a:extLst>
              <a:ext uri="{FF2B5EF4-FFF2-40B4-BE49-F238E27FC236}">
                <a16:creationId xmlns:a16="http://schemas.microsoft.com/office/drawing/2014/main" id="{F06FA6BB-4799-452F-8EAF-5737E37B132C}"/>
              </a:ext>
            </a:extLst>
          </p:cNvPr>
          <p:cNvSpPr/>
          <p:nvPr/>
        </p:nvSpPr>
        <p:spPr>
          <a:xfrm rot="2809473">
            <a:off x="1569818" y="4371955"/>
            <a:ext cx="1365294" cy="1365294"/>
          </a:xfrm>
          <a:prstGeom prst="roundRect">
            <a:avLst/>
          </a:prstGeom>
          <a:solidFill>
            <a:srgbClr val="757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5" name="直接连接符 8">
            <a:extLst>
              <a:ext uri="{FF2B5EF4-FFF2-40B4-BE49-F238E27FC236}">
                <a16:creationId xmlns:a16="http://schemas.microsoft.com/office/drawing/2014/main" id="{6851A974-BB32-4A4A-BD4B-E5472C5EF039}"/>
              </a:ext>
            </a:extLst>
          </p:cNvPr>
          <p:cNvCxnSpPr/>
          <p:nvPr/>
        </p:nvCxnSpPr>
        <p:spPr>
          <a:xfrm flipV="1">
            <a:off x="9775585" y="3988349"/>
            <a:ext cx="2059156" cy="190207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35">
            <a:extLst>
              <a:ext uri="{FF2B5EF4-FFF2-40B4-BE49-F238E27FC236}">
                <a16:creationId xmlns:a16="http://schemas.microsoft.com/office/drawing/2014/main" id="{DD38C1A2-0510-41E0-98B5-3BBFABD1D301}"/>
              </a:ext>
            </a:extLst>
          </p:cNvPr>
          <p:cNvCxnSpPr/>
          <p:nvPr/>
        </p:nvCxnSpPr>
        <p:spPr>
          <a:xfrm>
            <a:off x="8180744" y="4208330"/>
            <a:ext cx="2091665" cy="2095193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9">
            <a:extLst>
              <a:ext uri="{FF2B5EF4-FFF2-40B4-BE49-F238E27FC236}">
                <a16:creationId xmlns:a16="http://schemas.microsoft.com/office/drawing/2014/main" id="{F5ABF992-1771-4FBB-AF98-53F803306C98}"/>
              </a:ext>
            </a:extLst>
          </p:cNvPr>
          <p:cNvSpPr/>
          <p:nvPr/>
        </p:nvSpPr>
        <p:spPr>
          <a:xfrm rot="2809473">
            <a:off x="11279353" y="3305702"/>
            <a:ext cx="1365294" cy="1365294"/>
          </a:xfrm>
          <a:prstGeom prst="roundRect">
            <a:avLst/>
          </a:prstGeom>
          <a:solidFill>
            <a:srgbClr val="757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9" name="直接连接符 25">
            <a:extLst>
              <a:ext uri="{FF2B5EF4-FFF2-40B4-BE49-F238E27FC236}">
                <a16:creationId xmlns:a16="http://schemas.microsoft.com/office/drawing/2014/main" id="{87FA663B-A628-4E7D-934A-5207470771F1}"/>
              </a:ext>
            </a:extLst>
          </p:cNvPr>
          <p:cNvCxnSpPr/>
          <p:nvPr/>
        </p:nvCxnSpPr>
        <p:spPr>
          <a:xfrm>
            <a:off x="-343057" y="-9076"/>
            <a:ext cx="2131397" cy="215346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5">
            <a:extLst>
              <a:ext uri="{FF2B5EF4-FFF2-40B4-BE49-F238E27FC236}">
                <a16:creationId xmlns:a16="http://schemas.microsoft.com/office/drawing/2014/main" id="{87FA663B-A628-4E7D-934A-5207470771F1}"/>
              </a:ext>
            </a:extLst>
          </p:cNvPr>
          <p:cNvCxnSpPr/>
          <p:nvPr/>
        </p:nvCxnSpPr>
        <p:spPr>
          <a:xfrm>
            <a:off x="8116860" y="-207657"/>
            <a:ext cx="3428604" cy="36399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08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2" grpId="0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FF2DF25-ED78-E38E-A80E-2DB044CF1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www.customonline.com/wp-content/uploads/GettyImages-853701240-small.jpg">
            <a:extLst>
              <a:ext uri="{FF2B5EF4-FFF2-40B4-BE49-F238E27FC236}">
                <a16:creationId xmlns:a16="http://schemas.microsoft.com/office/drawing/2014/main" id="{9DB27800-9374-96DD-CE5D-53DB3DFCED4F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r="10000"/>
          <a:stretch>
            <a:fillRect/>
          </a:stretch>
        </p:blipFill>
        <p:spPr bwMode="auto">
          <a:xfrm>
            <a:off x="0" y="0"/>
            <a:ext cx="12177055" cy="3700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1F5BB77-C43D-00B2-830E-8512061515CD}"/>
              </a:ext>
            </a:extLst>
          </p:cNvPr>
          <p:cNvSpPr/>
          <p:nvPr/>
        </p:nvSpPr>
        <p:spPr>
          <a:xfrm>
            <a:off x="0" y="-54864"/>
            <a:ext cx="12192001" cy="375542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/>
              <a:ea typeface="思源黑体 CN Light"/>
              <a:cs typeface="+mn-ea"/>
              <a:sym typeface="+mn-lt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0693F9E1-70C9-6C56-11E8-193B7CFC4222}"/>
              </a:ext>
            </a:extLst>
          </p:cNvPr>
          <p:cNvSpPr/>
          <p:nvPr/>
        </p:nvSpPr>
        <p:spPr>
          <a:xfrm rot="2809473">
            <a:off x="1417551" y="2402565"/>
            <a:ext cx="2374882" cy="2374882"/>
          </a:xfrm>
          <a:custGeom>
            <a:avLst/>
            <a:gdLst>
              <a:gd name="connsiteX0" fmla="*/ 186921 w 3829050"/>
              <a:gd name="connsiteY0" fmla="*/ 186921 h 3829050"/>
              <a:gd name="connsiteX1" fmla="*/ 638188 w 3829050"/>
              <a:gd name="connsiteY1" fmla="*/ 0 h 3829050"/>
              <a:gd name="connsiteX2" fmla="*/ 1731382 w 3829050"/>
              <a:gd name="connsiteY2" fmla="*/ 0 h 3829050"/>
              <a:gd name="connsiteX3" fmla="*/ 1731382 w 3829050"/>
              <a:gd name="connsiteY3" fmla="*/ 1173845 h 3829050"/>
              <a:gd name="connsiteX4" fmla="*/ 2166964 w 3829050"/>
              <a:gd name="connsiteY4" fmla="*/ 1609427 h 3829050"/>
              <a:gd name="connsiteX5" fmla="*/ 3829050 w 3829050"/>
              <a:gd name="connsiteY5" fmla="*/ 1609427 h 3829050"/>
              <a:gd name="connsiteX6" fmla="*/ 3829050 w 3829050"/>
              <a:gd name="connsiteY6" fmla="*/ 3190862 h 3829050"/>
              <a:gd name="connsiteX7" fmla="*/ 3190862 w 3829050"/>
              <a:gd name="connsiteY7" fmla="*/ 3829050 h 3829050"/>
              <a:gd name="connsiteX8" fmla="*/ 638188 w 3829050"/>
              <a:gd name="connsiteY8" fmla="*/ 3829050 h 3829050"/>
              <a:gd name="connsiteX9" fmla="*/ 0 w 3829050"/>
              <a:gd name="connsiteY9" fmla="*/ 3190862 h 3829050"/>
              <a:gd name="connsiteX10" fmla="*/ 0 w 3829050"/>
              <a:gd name="connsiteY10" fmla="*/ 638188 h 3829050"/>
              <a:gd name="connsiteX11" fmla="*/ 186921 w 3829050"/>
              <a:gd name="connsiteY11" fmla="*/ 186921 h 382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29050" h="3829050">
                <a:moveTo>
                  <a:pt x="186921" y="186921"/>
                </a:moveTo>
                <a:cubicBezTo>
                  <a:pt x="302411" y="71432"/>
                  <a:pt x="461958" y="0"/>
                  <a:pt x="638188" y="0"/>
                </a:cubicBezTo>
                <a:lnTo>
                  <a:pt x="1731382" y="0"/>
                </a:lnTo>
                <a:lnTo>
                  <a:pt x="1731382" y="1173845"/>
                </a:lnTo>
                <a:cubicBezTo>
                  <a:pt x="1731382" y="1414410"/>
                  <a:pt x="1926399" y="1609427"/>
                  <a:pt x="2166964" y="1609427"/>
                </a:cubicBezTo>
                <a:lnTo>
                  <a:pt x="3829050" y="1609427"/>
                </a:lnTo>
                <a:lnTo>
                  <a:pt x="3829050" y="3190862"/>
                </a:lnTo>
                <a:cubicBezTo>
                  <a:pt x="3829050" y="3543323"/>
                  <a:pt x="3543323" y="3829050"/>
                  <a:pt x="3190862" y="3829050"/>
                </a:cubicBezTo>
                <a:lnTo>
                  <a:pt x="638188" y="3829050"/>
                </a:lnTo>
                <a:cubicBezTo>
                  <a:pt x="285727" y="3829050"/>
                  <a:pt x="0" y="3543323"/>
                  <a:pt x="0" y="3190862"/>
                </a:cubicBezTo>
                <a:lnTo>
                  <a:pt x="0" y="638188"/>
                </a:lnTo>
                <a:cubicBezTo>
                  <a:pt x="0" y="461957"/>
                  <a:pt x="71432" y="302410"/>
                  <a:pt x="186921" y="18692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078" name="Picture 6" descr="https://s3.amazonaws.com/hoth.bizango/images/797280/cloud-computing-msc_feature.jpg">
            <a:extLst>
              <a:ext uri="{FF2B5EF4-FFF2-40B4-BE49-F238E27FC236}">
                <a16:creationId xmlns:a16="http://schemas.microsoft.com/office/drawing/2014/main" id="{01E4B25D-B343-03FD-D36E-245E1419C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35816">
            <a:off x="1624964" y="2588165"/>
            <a:ext cx="1960056" cy="201367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7143C418-C022-C88E-5DC3-7D900717B33B}"/>
              </a:ext>
            </a:extLst>
          </p:cNvPr>
          <p:cNvSpPr txBox="1"/>
          <p:nvPr/>
        </p:nvSpPr>
        <p:spPr>
          <a:xfrm>
            <a:off x="4283436" y="3910868"/>
            <a:ext cx="71802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</a:rPr>
              <a:t>Le Problème Résolu</a:t>
            </a:r>
            <a:endParaRPr lang="fr-FR" altLang="fr-FR" sz="6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  <a:sym typeface="+mn-lt"/>
            </a:endParaRPr>
          </a:p>
          <a:p>
            <a:endParaRPr lang="fr-FR" sz="6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718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14909" y="4032959"/>
            <a:ext cx="1117552" cy="215494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Création des VMs</a:t>
            </a:r>
            <a:endParaRPr lang="fr-FR" altLang="fr-FR" dirty="0">
              <a:solidFill>
                <a:schemeClr val="bg1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541773" y="3925090"/>
            <a:ext cx="2803000" cy="491940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des systèmes</a:t>
            </a:r>
          </a:p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d’exploitation</a:t>
            </a:r>
            <a:endParaRPr lang="fr-FR" altLang="fr-F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48999" y="3866632"/>
            <a:ext cx="3114561" cy="6145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réseau </a:t>
            </a:r>
          </a:p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VMs</a:t>
            </a:r>
            <a:endParaRPr lang="fr-FR" altLang="fr-F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348417" y="3866632"/>
            <a:ext cx="660968" cy="614556"/>
            <a:chOff x="983777" y="2858113"/>
            <a:chExt cx="460916" cy="460916"/>
          </a:xfrm>
        </p:grpSpPr>
        <p:sp>
          <p:nvSpPr>
            <p:cNvPr id="10" name="文本框 9"/>
            <p:cNvSpPr txBox="1"/>
            <p:nvPr/>
          </p:nvSpPr>
          <p:spPr>
            <a:xfrm>
              <a:off x="1067994" y="2924700"/>
              <a:ext cx="274114" cy="377075"/>
            </a:xfrm>
            <a:prstGeom prst="rect">
              <a:avLst/>
            </a:prstGeom>
            <a:noFill/>
          </p:spPr>
          <p:txBody>
            <a:bodyPr wrap="none" lIns="0" rIns="0" rtlCol="0">
              <a:normAutofit/>
            </a:bodyPr>
            <a:lstStyle/>
            <a:p>
              <a:r>
                <a:rPr lang="fr-FR" altLang="fr-FR" sz="2667" dirty="0">
                  <a:solidFill>
                    <a:schemeClr val="bg1"/>
                  </a:solidFill>
                  <a:latin typeface="Lato"/>
                  <a:ea typeface="Lato"/>
                  <a:cs typeface="+mn-ea"/>
                  <a:sym typeface="+mn-lt"/>
                </a:rPr>
                <a:t>01</a:t>
              </a:r>
              <a:endParaRPr lang="zh-CN" altLang="en-US" sz="2667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983777" y="2858113"/>
              <a:ext cx="460916" cy="460916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8016742" y="3901061"/>
            <a:ext cx="614553" cy="614555"/>
            <a:chOff x="988220" y="2898404"/>
            <a:chExt cx="460916" cy="460916"/>
          </a:xfrm>
        </p:grpSpPr>
        <p:sp>
          <p:nvSpPr>
            <p:cNvPr id="13" name="文本框 12"/>
            <p:cNvSpPr txBox="1"/>
            <p:nvPr/>
          </p:nvSpPr>
          <p:spPr>
            <a:xfrm>
              <a:off x="1067994" y="2924700"/>
              <a:ext cx="274114" cy="377075"/>
            </a:xfrm>
            <a:prstGeom prst="rect">
              <a:avLst/>
            </a:prstGeom>
            <a:noFill/>
          </p:spPr>
          <p:txBody>
            <a:bodyPr wrap="none" lIns="0" rIns="0" rtlCol="0">
              <a:normAutofit/>
            </a:bodyPr>
            <a:lstStyle/>
            <a:p>
              <a:r>
                <a:rPr lang="fr-FR" altLang="fr-FR" sz="2667" dirty="0">
                  <a:solidFill>
                    <a:schemeClr val="bg1"/>
                  </a:solidFill>
                  <a:latin typeface="Lato"/>
                  <a:ea typeface="Lato"/>
                  <a:cs typeface="+mn-ea"/>
                  <a:sym typeface="+mn-lt"/>
                </a:rPr>
                <a:t>03</a:t>
              </a:r>
              <a:endParaRPr lang="zh-CN" altLang="en-US" sz="2667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4" name="任意多边形 13"/>
            <p:cNvSpPr/>
            <p:nvPr/>
          </p:nvSpPr>
          <p:spPr>
            <a:xfrm>
              <a:off x="988220" y="2898404"/>
              <a:ext cx="460916" cy="460916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791727" y="1316031"/>
            <a:ext cx="614553" cy="614555"/>
            <a:chOff x="988220" y="2898404"/>
            <a:chExt cx="460916" cy="460916"/>
          </a:xfrm>
        </p:grpSpPr>
        <p:sp>
          <p:nvSpPr>
            <p:cNvPr id="16" name="文本框 15"/>
            <p:cNvSpPr txBox="1"/>
            <p:nvPr/>
          </p:nvSpPr>
          <p:spPr>
            <a:xfrm>
              <a:off x="1067994" y="2924700"/>
              <a:ext cx="274114" cy="377075"/>
            </a:xfrm>
            <a:prstGeom prst="rect">
              <a:avLst/>
            </a:prstGeom>
            <a:noFill/>
          </p:spPr>
          <p:txBody>
            <a:bodyPr wrap="none" lIns="0" rIns="0" rtlCol="0">
              <a:normAutofit/>
            </a:bodyPr>
            <a:lstStyle/>
            <a:p>
              <a:r>
                <a:rPr lang="fr-FR" altLang="fr-FR" sz="2667" dirty="0">
                  <a:solidFill>
                    <a:schemeClr val="bg1"/>
                  </a:solidFill>
                  <a:latin typeface="Lato"/>
                  <a:ea typeface="Lato"/>
                  <a:cs typeface="+mn-ea"/>
                  <a:sym typeface="+mn-lt"/>
                </a:rPr>
                <a:t>02</a:t>
              </a:r>
              <a:endParaRPr lang="zh-CN" altLang="en-US" sz="2667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988220" y="2898404"/>
              <a:ext cx="460916" cy="460916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2AFA3E0C-A071-4ADA-AEBE-59646CE1D7BD}"/>
              </a:ext>
            </a:extLst>
          </p:cNvPr>
          <p:cNvSpPr txBox="1"/>
          <p:nvPr/>
        </p:nvSpPr>
        <p:spPr>
          <a:xfrm>
            <a:off x="1223066" y="262412"/>
            <a:ext cx="8667207" cy="45720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defTabSz="914400">
              <a:defRPr/>
            </a:pPr>
            <a:r>
              <a:rPr lang="fr-FR" sz="2400" dirty="0">
                <a:solidFill>
                  <a:schemeClr val="bg2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 Problème Résolu</a:t>
            </a:r>
            <a:endParaRPr lang="fr-FR" altLang="fr-FR" sz="2400" b="1" dirty="0">
              <a:solidFill>
                <a:schemeClr val="bg2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+mn-lt"/>
            </a:endParaRPr>
          </a:p>
        </p:txBody>
      </p:sp>
      <p:pic>
        <p:nvPicPr>
          <p:cNvPr id="26" name="Picture 2" descr="https://www.fsdm.usmba.ac.ma/Template/useful/loading/img/logo.pn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27" y="6472989"/>
            <a:ext cx="820952" cy="14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2548260" y="2584214"/>
            <a:ext cx="80866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cs typeface="+mj-cs"/>
              </a:rPr>
              <a:t>🔴 Avant </a:t>
            </a:r>
            <a:r>
              <a:rPr lang="fr-FR" sz="2000" b="1" dirty="0" err="1">
                <a:cs typeface="+mj-cs"/>
              </a:rPr>
              <a:t>GeoPandas</a:t>
            </a:r>
            <a:r>
              <a:rPr lang="fr-FR" sz="2000" b="1" dirty="0">
                <a:cs typeface="+mj-cs"/>
              </a:rPr>
              <a:t> :</a:t>
            </a:r>
          </a:p>
          <a:p>
            <a:r>
              <a:rPr lang="fr-FR" sz="2000" dirty="0">
                <a:cs typeface="+mj-cs"/>
              </a:rPr>
              <a:t>Analyse géospatiale effectuée dans des </a:t>
            </a:r>
            <a:r>
              <a:rPr lang="fr-FR" sz="2000" b="1" dirty="0">
                <a:cs typeface="+mj-cs"/>
              </a:rPr>
              <a:t>logiciels SIG lourds</a:t>
            </a:r>
            <a:r>
              <a:rPr lang="fr-FR" sz="2000" dirty="0">
                <a:cs typeface="+mj-cs"/>
              </a:rPr>
              <a:t> (QGIS, ArcGIS).</a:t>
            </a:r>
          </a:p>
          <a:p>
            <a:r>
              <a:rPr lang="fr-FR" sz="2000" b="1" dirty="0">
                <a:cs typeface="+mj-cs"/>
              </a:rPr>
              <a:t>Séparation</a:t>
            </a:r>
            <a:r>
              <a:rPr lang="fr-FR" sz="2000" dirty="0">
                <a:cs typeface="+mj-cs"/>
              </a:rPr>
              <a:t> entre l’analyse de données (via </a:t>
            </a:r>
            <a:r>
              <a:rPr lang="fr-FR" sz="2000" b="1" dirty="0">
                <a:cs typeface="+mj-cs"/>
              </a:rPr>
              <a:t>Pandas</a:t>
            </a:r>
            <a:r>
              <a:rPr lang="fr-FR" sz="2000" dirty="0">
                <a:cs typeface="+mj-cs"/>
              </a:rPr>
              <a:t>) et l’analyse spatiale.</a:t>
            </a:r>
          </a:p>
          <a:p>
            <a:r>
              <a:rPr lang="fr-FR" sz="2000" b="1" dirty="0">
                <a:cs typeface="+mj-cs"/>
              </a:rPr>
              <a:t>Procédures manuelles</a:t>
            </a:r>
            <a:r>
              <a:rPr lang="fr-FR" sz="2000" dirty="0">
                <a:cs typeface="+mj-cs"/>
              </a:rPr>
              <a:t>, souvent longues et </a:t>
            </a:r>
            <a:r>
              <a:rPr lang="fr-FR" sz="2000" b="1" dirty="0">
                <a:cs typeface="+mj-cs"/>
              </a:rPr>
              <a:t>peu reproductibles</a:t>
            </a:r>
            <a:r>
              <a:rPr lang="fr-FR" sz="2000" dirty="0">
                <a:cs typeface="+mj-cs"/>
              </a:rPr>
              <a:t>.</a:t>
            </a:r>
          </a:p>
          <a:p>
            <a:pPr algn="just"/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任意多边形: 形状 49">
            <a:extLst>
              <a:ext uri="{FF2B5EF4-FFF2-40B4-BE49-F238E27FC236}">
                <a16:creationId xmlns:a16="http://schemas.microsoft.com/office/drawing/2014/main" id="{1DF020F5-A47C-4294-A551-EA0CEE5803CD}"/>
              </a:ext>
            </a:extLst>
          </p:cNvPr>
          <p:cNvSpPr/>
          <p:nvPr/>
        </p:nvSpPr>
        <p:spPr>
          <a:xfrm rot="2896400">
            <a:off x="944010" y="4562112"/>
            <a:ext cx="1089974" cy="1089974"/>
          </a:xfrm>
          <a:custGeom>
            <a:avLst/>
            <a:gdLst>
              <a:gd name="connsiteX0" fmla="*/ 186921 w 3829050"/>
              <a:gd name="connsiteY0" fmla="*/ 186921 h 3829050"/>
              <a:gd name="connsiteX1" fmla="*/ 638188 w 3829050"/>
              <a:gd name="connsiteY1" fmla="*/ 0 h 3829050"/>
              <a:gd name="connsiteX2" fmla="*/ 1731382 w 3829050"/>
              <a:gd name="connsiteY2" fmla="*/ 0 h 3829050"/>
              <a:gd name="connsiteX3" fmla="*/ 1731382 w 3829050"/>
              <a:gd name="connsiteY3" fmla="*/ 1173845 h 3829050"/>
              <a:gd name="connsiteX4" fmla="*/ 2166964 w 3829050"/>
              <a:gd name="connsiteY4" fmla="*/ 1609427 h 3829050"/>
              <a:gd name="connsiteX5" fmla="*/ 3829050 w 3829050"/>
              <a:gd name="connsiteY5" fmla="*/ 1609427 h 3829050"/>
              <a:gd name="connsiteX6" fmla="*/ 3829050 w 3829050"/>
              <a:gd name="connsiteY6" fmla="*/ 3190862 h 3829050"/>
              <a:gd name="connsiteX7" fmla="*/ 3190862 w 3829050"/>
              <a:gd name="connsiteY7" fmla="*/ 3829050 h 3829050"/>
              <a:gd name="connsiteX8" fmla="*/ 638188 w 3829050"/>
              <a:gd name="connsiteY8" fmla="*/ 3829050 h 3829050"/>
              <a:gd name="connsiteX9" fmla="*/ 0 w 3829050"/>
              <a:gd name="connsiteY9" fmla="*/ 3190862 h 3829050"/>
              <a:gd name="connsiteX10" fmla="*/ 0 w 3829050"/>
              <a:gd name="connsiteY10" fmla="*/ 638188 h 3829050"/>
              <a:gd name="connsiteX11" fmla="*/ 186921 w 3829050"/>
              <a:gd name="connsiteY11" fmla="*/ 186921 h 382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29050" h="3829050">
                <a:moveTo>
                  <a:pt x="186921" y="186921"/>
                </a:moveTo>
                <a:cubicBezTo>
                  <a:pt x="302411" y="71432"/>
                  <a:pt x="461958" y="0"/>
                  <a:pt x="638188" y="0"/>
                </a:cubicBezTo>
                <a:lnTo>
                  <a:pt x="1731382" y="0"/>
                </a:lnTo>
                <a:lnTo>
                  <a:pt x="1731382" y="1173845"/>
                </a:lnTo>
                <a:cubicBezTo>
                  <a:pt x="1731382" y="1414410"/>
                  <a:pt x="1926399" y="1609427"/>
                  <a:pt x="2166964" y="1609427"/>
                </a:cubicBezTo>
                <a:lnTo>
                  <a:pt x="3829050" y="1609427"/>
                </a:lnTo>
                <a:lnTo>
                  <a:pt x="3829050" y="3190862"/>
                </a:lnTo>
                <a:cubicBezTo>
                  <a:pt x="3829050" y="3543323"/>
                  <a:pt x="3543323" y="3829050"/>
                  <a:pt x="3190862" y="3829050"/>
                </a:cubicBezTo>
                <a:lnTo>
                  <a:pt x="638188" y="3829050"/>
                </a:lnTo>
                <a:cubicBezTo>
                  <a:pt x="285727" y="3829050"/>
                  <a:pt x="0" y="3543323"/>
                  <a:pt x="0" y="3190862"/>
                </a:cubicBezTo>
                <a:lnTo>
                  <a:pt x="0" y="638188"/>
                </a:lnTo>
                <a:cubicBezTo>
                  <a:pt x="0" y="461957"/>
                  <a:pt x="71432" y="302410"/>
                  <a:pt x="186921" y="186921"/>
                </a:cubicBezTo>
                <a:close/>
              </a:path>
            </a:pathLst>
          </a:custGeom>
          <a:solidFill>
            <a:srgbClr val="080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矩形: 圆角 29">
            <a:extLst>
              <a:ext uri="{FF2B5EF4-FFF2-40B4-BE49-F238E27FC236}">
                <a16:creationId xmlns:a16="http://schemas.microsoft.com/office/drawing/2014/main" id="{F06FA6BB-4799-452F-8EAF-5737E37B132C}"/>
              </a:ext>
            </a:extLst>
          </p:cNvPr>
          <p:cNvSpPr/>
          <p:nvPr/>
        </p:nvSpPr>
        <p:spPr>
          <a:xfrm rot="2809473">
            <a:off x="1569818" y="4371955"/>
            <a:ext cx="1365294" cy="1365294"/>
          </a:xfrm>
          <a:prstGeom prst="roundRect">
            <a:avLst/>
          </a:prstGeom>
          <a:solidFill>
            <a:srgbClr val="757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5" name="直接连接符 8">
            <a:extLst>
              <a:ext uri="{FF2B5EF4-FFF2-40B4-BE49-F238E27FC236}">
                <a16:creationId xmlns:a16="http://schemas.microsoft.com/office/drawing/2014/main" id="{6851A974-BB32-4A4A-BD4B-E5472C5EF039}"/>
              </a:ext>
            </a:extLst>
          </p:cNvPr>
          <p:cNvCxnSpPr/>
          <p:nvPr/>
        </p:nvCxnSpPr>
        <p:spPr>
          <a:xfrm flipV="1">
            <a:off x="9775585" y="3988349"/>
            <a:ext cx="2059156" cy="190207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35">
            <a:extLst>
              <a:ext uri="{FF2B5EF4-FFF2-40B4-BE49-F238E27FC236}">
                <a16:creationId xmlns:a16="http://schemas.microsoft.com/office/drawing/2014/main" id="{DD38C1A2-0510-41E0-98B5-3BBFABD1D301}"/>
              </a:ext>
            </a:extLst>
          </p:cNvPr>
          <p:cNvCxnSpPr/>
          <p:nvPr/>
        </p:nvCxnSpPr>
        <p:spPr>
          <a:xfrm>
            <a:off x="8180744" y="4208330"/>
            <a:ext cx="2091665" cy="2095193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9">
            <a:extLst>
              <a:ext uri="{FF2B5EF4-FFF2-40B4-BE49-F238E27FC236}">
                <a16:creationId xmlns:a16="http://schemas.microsoft.com/office/drawing/2014/main" id="{F5ABF992-1771-4FBB-AF98-53F803306C98}"/>
              </a:ext>
            </a:extLst>
          </p:cNvPr>
          <p:cNvSpPr/>
          <p:nvPr/>
        </p:nvSpPr>
        <p:spPr>
          <a:xfrm rot="2809473">
            <a:off x="11279353" y="3305702"/>
            <a:ext cx="1365294" cy="1365294"/>
          </a:xfrm>
          <a:prstGeom prst="roundRect">
            <a:avLst/>
          </a:prstGeom>
          <a:solidFill>
            <a:srgbClr val="757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9" name="直接连接符 25">
            <a:extLst>
              <a:ext uri="{FF2B5EF4-FFF2-40B4-BE49-F238E27FC236}">
                <a16:creationId xmlns:a16="http://schemas.microsoft.com/office/drawing/2014/main" id="{87FA663B-A628-4E7D-934A-5207470771F1}"/>
              </a:ext>
            </a:extLst>
          </p:cNvPr>
          <p:cNvCxnSpPr/>
          <p:nvPr/>
        </p:nvCxnSpPr>
        <p:spPr>
          <a:xfrm>
            <a:off x="-343057" y="-9076"/>
            <a:ext cx="2131397" cy="215346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5">
            <a:extLst>
              <a:ext uri="{FF2B5EF4-FFF2-40B4-BE49-F238E27FC236}">
                <a16:creationId xmlns:a16="http://schemas.microsoft.com/office/drawing/2014/main" id="{87FA663B-A628-4E7D-934A-5207470771F1}"/>
              </a:ext>
            </a:extLst>
          </p:cNvPr>
          <p:cNvCxnSpPr/>
          <p:nvPr/>
        </p:nvCxnSpPr>
        <p:spPr>
          <a:xfrm>
            <a:off x="8116860" y="-207657"/>
            <a:ext cx="3428604" cy="36399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18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2" grpId="0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940A8-0AC8-7958-C4B3-B0C4877B9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276C2DA-41AF-64A9-6DDE-A5711491CE24}"/>
              </a:ext>
            </a:extLst>
          </p:cNvPr>
          <p:cNvSpPr txBox="1"/>
          <p:nvPr/>
        </p:nvSpPr>
        <p:spPr>
          <a:xfrm>
            <a:off x="2114909" y="4032959"/>
            <a:ext cx="1117552" cy="215494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Création des VMs</a:t>
            </a:r>
            <a:endParaRPr lang="fr-FR" altLang="fr-FR" dirty="0">
              <a:solidFill>
                <a:schemeClr val="bg1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C8A7C4-E2DD-5099-4A3D-18018E38CECA}"/>
              </a:ext>
            </a:extLst>
          </p:cNvPr>
          <p:cNvSpPr txBox="1"/>
          <p:nvPr/>
        </p:nvSpPr>
        <p:spPr>
          <a:xfrm>
            <a:off x="8541773" y="3925090"/>
            <a:ext cx="2803000" cy="491940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des systèmes</a:t>
            </a:r>
          </a:p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d’exploitation</a:t>
            </a:r>
            <a:endParaRPr lang="fr-FR" altLang="fr-F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F1B7BB4-9D8A-44D3-0397-ADF0CE6C0875}"/>
              </a:ext>
            </a:extLst>
          </p:cNvPr>
          <p:cNvSpPr txBox="1"/>
          <p:nvPr/>
        </p:nvSpPr>
        <p:spPr>
          <a:xfrm>
            <a:off x="4848999" y="3866632"/>
            <a:ext cx="3114561" cy="6145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réseau </a:t>
            </a:r>
          </a:p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VMs</a:t>
            </a:r>
            <a:endParaRPr lang="fr-FR" altLang="fr-F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FE94AE1-A757-CAD7-6631-DAD5581F0EFF}"/>
              </a:ext>
            </a:extLst>
          </p:cNvPr>
          <p:cNvGrpSpPr/>
          <p:nvPr/>
        </p:nvGrpSpPr>
        <p:grpSpPr>
          <a:xfrm>
            <a:off x="1348417" y="3866632"/>
            <a:ext cx="660968" cy="614556"/>
            <a:chOff x="983777" y="2858113"/>
            <a:chExt cx="460916" cy="460916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876E0E9-8C2F-CE62-0FD4-E9FCB8BBA881}"/>
                </a:ext>
              </a:extLst>
            </p:cNvPr>
            <p:cNvSpPr txBox="1"/>
            <p:nvPr/>
          </p:nvSpPr>
          <p:spPr>
            <a:xfrm>
              <a:off x="1067994" y="2924700"/>
              <a:ext cx="274114" cy="377075"/>
            </a:xfrm>
            <a:prstGeom prst="rect">
              <a:avLst/>
            </a:prstGeom>
            <a:noFill/>
          </p:spPr>
          <p:txBody>
            <a:bodyPr wrap="none" lIns="0" rIns="0" rtlCol="0">
              <a:normAutofit/>
            </a:bodyPr>
            <a:lstStyle/>
            <a:p>
              <a:r>
                <a:rPr lang="fr-FR" altLang="fr-FR" sz="2667" dirty="0">
                  <a:solidFill>
                    <a:schemeClr val="bg1"/>
                  </a:solidFill>
                  <a:latin typeface="Lato"/>
                  <a:ea typeface="Lato"/>
                  <a:cs typeface="+mn-ea"/>
                  <a:sym typeface="+mn-lt"/>
                </a:rPr>
                <a:t>01</a:t>
              </a:r>
              <a:endParaRPr lang="zh-CN" altLang="en-US" sz="2667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1" name="任意多边形 10">
              <a:extLst>
                <a:ext uri="{FF2B5EF4-FFF2-40B4-BE49-F238E27FC236}">
                  <a16:creationId xmlns:a16="http://schemas.microsoft.com/office/drawing/2014/main" id="{CB597C73-16B0-389F-4A39-5A9682FBEDCD}"/>
                </a:ext>
              </a:extLst>
            </p:cNvPr>
            <p:cNvSpPr/>
            <p:nvPr/>
          </p:nvSpPr>
          <p:spPr>
            <a:xfrm>
              <a:off x="983777" y="2858113"/>
              <a:ext cx="460916" cy="460916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425EEFD-166A-7600-B005-5C2EFA71F2A3}"/>
              </a:ext>
            </a:extLst>
          </p:cNvPr>
          <p:cNvGrpSpPr/>
          <p:nvPr/>
        </p:nvGrpSpPr>
        <p:grpSpPr>
          <a:xfrm>
            <a:off x="8016742" y="3901061"/>
            <a:ext cx="614553" cy="614555"/>
            <a:chOff x="988220" y="2898404"/>
            <a:chExt cx="460916" cy="460916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436FF65-0ED9-32D1-6B33-C78890F0AD08}"/>
                </a:ext>
              </a:extLst>
            </p:cNvPr>
            <p:cNvSpPr txBox="1"/>
            <p:nvPr/>
          </p:nvSpPr>
          <p:spPr>
            <a:xfrm>
              <a:off x="1067994" y="2924700"/>
              <a:ext cx="274114" cy="377075"/>
            </a:xfrm>
            <a:prstGeom prst="rect">
              <a:avLst/>
            </a:prstGeom>
            <a:noFill/>
          </p:spPr>
          <p:txBody>
            <a:bodyPr wrap="none" lIns="0" rIns="0" rtlCol="0">
              <a:normAutofit/>
            </a:bodyPr>
            <a:lstStyle/>
            <a:p>
              <a:r>
                <a:rPr lang="fr-FR" altLang="fr-FR" sz="2667" dirty="0">
                  <a:solidFill>
                    <a:schemeClr val="bg1"/>
                  </a:solidFill>
                  <a:latin typeface="Lato"/>
                  <a:ea typeface="Lato"/>
                  <a:cs typeface="+mn-ea"/>
                  <a:sym typeface="+mn-lt"/>
                </a:rPr>
                <a:t>03</a:t>
              </a:r>
              <a:endParaRPr lang="zh-CN" altLang="en-US" sz="2667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4" name="任意多边形 13">
              <a:extLst>
                <a:ext uri="{FF2B5EF4-FFF2-40B4-BE49-F238E27FC236}">
                  <a16:creationId xmlns:a16="http://schemas.microsoft.com/office/drawing/2014/main" id="{6C0B5317-F177-0ECF-65FD-A34D8E83140F}"/>
                </a:ext>
              </a:extLst>
            </p:cNvPr>
            <p:cNvSpPr/>
            <p:nvPr/>
          </p:nvSpPr>
          <p:spPr>
            <a:xfrm>
              <a:off x="988220" y="2898404"/>
              <a:ext cx="460916" cy="460916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793A2C0-8B30-4EDB-9DE5-431DAFDE1599}"/>
              </a:ext>
            </a:extLst>
          </p:cNvPr>
          <p:cNvGrpSpPr/>
          <p:nvPr/>
        </p:nvGrpSpPr>
        <p:grpSpPr>
          <a:xfrm>
            <a:off x="5791727" y="1316031"/>
            <a:ext cx="614553" cy="614555"/>
            <a:chOff x="988220" y="2898404"/>
            <a:chExt cx="460916" cy="460916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210DFBE-66C1-57E2-939D-EF0235D0328B}"/>
                </a:ext>
              </a:extLst>
            </p:cNvPr>
            <p:cNvSpPr txBox="1"/>
            <p:nvPr/>
          </p:nvSpPr>
          <p:spPr>
            <a:xfrm>
              <a:off x="1067994" y="2924700"/>
              <a:ext cx="274114" cy="377075"/>
            </a:xfrm>
            <a:prstGeom prst="rect">
              <a:avLst/>
            </a:prstGeom>
            <a:noFill/>
          </p:spPr>
          <p:txBody>
            <a:bodyPr wrap="none" lIns="0" rIns="0" rtlCol="0">
              <a:normAutofit/>
            </a:bodyPr>
            <a:lstStyle/>
            <a:p>
              <a:r>
                <a:rPr lang="fr-FR" altLang="fr-FR" sz="2667" dirty="0">
                  <a:solidFill>
                    <a:schemeClr val="bg1"/>
                  </a:solidFill>
                  <a:latin typeface="Lato"/>
                  <a:ea typeface="Lato"/>
                  <a:cs typeface="+mn-ea"/>
                  <a:sym typeface="+mn-lt"/>
                </a:rPr>
                <a:t>02</a:t>
              </a:r>
              <a:endParaRPr lang="zh-CN" altLang="en-US" sz="2667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" name="任意多边形 16">
              <a:extLst>
                <a:ext uri="{FF2B5EF4-FFF2-40B4-BE49-F238E27FC236}">
                  <a16:creationId xmlns:a16="http://schemas.microsoft.com/office/drawing/2014/main" id="{FC40A2FE-7146-A02F-F656-AC01562A9E1F}"/>
                </a:ext>
              </a:extLst>
            </p:cNvPr>
            <p:cNvSpPr/>
            <p:nvPr/>
          </p:nvSpPr>
          <p:spPr>
            <a:xfrm>
              <a:off x="988220" y="2898404"/>
              <a:ext cx="460916" cy="460916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404F655A-E3F5-3AA9-986C-7C8C190A27B6}"/>
              </a:ext>
            </a:extLst>
          </p:cNvPr>
          <p:cNvSpPr txBox="1"/>
          <p:nvPr/>
        </p:nvSpPr>
        <p:spPr>
          <a:xfrm>
            <a:off x="1223066" y="262412"/>
            <a:ext cx="8667207" cy="45720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defTabSz="914400">
              <a:defRPr/>
            </a:pPr>
            <a:r>
              <a:rPr lang="fr-FR" sz="2400" dirty="0">
                <a:solidFill>
                  <a:schemeClr val="bg2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 Problème Résolu</a:t>
            </a:r>
            <a:endParaRPr lang="fr-FR" altLang="fr-FR" sz="2400" b="1" dirty="0">
              <a:solidFill>
                <a:schemeClr val="bg2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+mn-lt"/>
            </a:endParaRPr>
          </a:p>
        </p:txBody>
      </p:sp>
      <p:pic>
        <p:nvPicPr>
          <p:cNvPr id="26" name="Picture 2" descr="https://www.fsdm.usmba.ac.ma/Template/useful/loading/img/logo.png">
            <a:extLst>
              <a:ext uri="{FF2B5EF4-FFF2-40B4-BE49-F238E27FC236}">
                <a16:creationId xmlns:a16="http://schemas.microsoft.com/office/drawing/2014/main" id="{83BB578D-E828-B397-E3C0-099E214D3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27" y="6472989"/>
            <a:ext cx="820952" cy="14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D998B6F-E71B-CC0A-6B67-075F7CC8CB2A}"/>
              </a:ext>
            </a:extLst>
          </p:cNvPr>
          <p:cNvSpPr txBox="1"/>
          <p:nvPr/>
        </p:nvSpPr>
        <p:spPr>
          <a:xfrm>
            <a:off x="2534416" y="2374777"/>
            <a:ext cx="808661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🟢 Avec </a:t>
            </a:r>
            <a:r>
              <a:rPr lang="fr-FR" sz="2000" b="1" dirty="0" err="1"/>
              <a:t>GeoPandas</a:t>
            </a:r>
            <a:r>
              <a:rPr lang="fr-FR" sz="2000" b="1" dirty="0"/>
              <a:t> :</a:t>
            </a:r>
          </a:p>
          <a:p>
            <a:r>
              <a:rPr lang="fr-FR" sz="2000" b="1" dirty="0"/>
              <a:t>Unification</a:t>
            </a:r>
            <a:r>
              <a:rPr lang="fr-FR" sz="2000" dirty="0"/>
              <a:t> de l’analyse de données </a:t>
            </a:r>
            <a:r>
              <a:rPr lang="fr-FR" sz="2000" b="1" dirty="0"/>
              <a:t>et</a:t>
            </a:r>
            <a:r>
              <a:rPr lang="fr-FR" sz="2000" dirty="0"/>
              <a:t> de l’analyse spatiale dans un </a:t>
            </a:r>
            <a:r>
              <a:rPr lang="fr-FR" sz="2000" b="1" dirty="0"/>
              <a:t>même environnement Python</a:t>
            </a:r>
            <a:r>
              <a:rPr lang="fr-FR" sz="2000" dirty="0"/>
              <a:t>.</a:t>
            </a:r>
          </a:p>
          <a:p>
            <a:r>
              <a:rPr lang="fr-FR" sz="2000" b="1" dirty="0"/>
              <a:t>Automatisation</a:t>
            </a:r>
            <a:r>
              <a:rPr lang="fr-FR" sz="2000" dirty="0"/>
              <a:t> et </a:t>
            </a:r>
            <a:r>
              <a:rPr lang="fr-FR" sz="2000" b="1" dirty="0"/>
              <a:t>reproductibilité</a:t>
            </a:r>
            <a:r>
              <a:rPr lang="fr-FR" sz="2000" dirty="0"/>
              <a:t> des workflows.</a:t>
            </a:r>
          </a:p>
          <a:p>
            <a:r>
              <a:rPr lang="fr-FR" sz="2000" b="1" dirty="0"/>
              <a:t>Puissance et flexibilité de Python</a:t>
            </a:r>
            <a:r>
              <a:rPr lang="fr-FR" sz="2000" dirty="0"/>
              <a:t> mises au service de la </a:t>
            </a:r>
            <a:r>
              <a:rPr lang="fr-FR" sz="2000" b="1" dirty="0"/>
              <a:t>géographie et de la data science</a:t>
            </a:r>
            <a:r>
              <a:rPr lang="fr-FR" sz="2000" dirty="0"/>
              <a:t>.</a:t>
            </a:r>
          </a:p>
          <a:p>
            <a:pPr algn="just"/>
            <a:endParaRPr lang="fr-FR" sz="1600" dirty="0">
              <a:latin typeface="Times New Roman" panose="02020603050405020304" pitchFamily="18" charset="0"/>
            </a:endParaRPr>
          </a:p>
        </p:txBody>
      </p:sp>
      <p:sp>
        <p:nvSpPr>
          <p:cNvPr id="22" name="任意多边形: 形状 49">
            <a:extLst>
              <a:ext uri="{FF2B5EF4-FFF2-40B4-BE49-F238E27FC236}">
                <a16:creationId xmlns:a16="http://schemas.microsoft.com/office/drawing/2014/main" id="{B9155C2C-D8F7-8463-20F7-9A9C87233BCB}"/>
              </a:ext>
            </a:extLst>
          </p:cNvPr>
          <p:cNvSpPr/>
          <p:nvPr/>
        </p:nvSpPr>
        <p:spPr>
          <a:xfrm rot="2896400">
            <a:off x="944010" y="4562112"/>
            <a:ext cx="1089974" cy="1089974"/>
          </a:xfrm>
          <a:custGeom>
            <a:avLst/>
            <a:gdLst>
              <a:gd name="connsiteX0" fmla="*/ 186921 w 3829050"/>
              <a:gd name="connsiteY0" fmla="*/ 186921 h 3829050"/>
              <a:gd name="connsiteX1" fmla="*/ 638188 w 3829050"/>
              <a:gd name="connsiteY1" fmla="*/ 0 h 3829050"/>
              <a:gd name="connsiteX2" fmla="*/ 1731382 w 3829050"/>
              <a:gd name="connsiteY2" fmla="*/ 0 h 3829050"/>
              <a:gd name="connsiteX3" fmla="*/ 1731382 w 3829050"/>
              <a:gd name="connsiteY3" fmla="*/ 1173845 h 3829050"/>
              <a:gd name="connsiteX4" fmla="*/ 2166964 w 3829050"/>
              <a:gd name="connsiteY4" fmla="*/ 1609427 h 3829050"/>
              <a:gd name="connsiteX5" fmla="*/ 3829050 w 3829050"/>
              <a:gd name="connsiteY5" fmla="*/ 1609427 h 3829050"/>
              <a:gd name="connsiteX6" fmla="*/ 3829050 w 3829050"/>
              <a:gd name="connsiteY6" fmla="*/ 3190862 h 3829050"/>
              <a:gd name="connsiteX7" fmla="*/ 3190862 w 3829050"/>
              <a:gd name="connsiteY7" fmla="*/ 3829050 h 3829050"/>
              <a:gd name="connsiteX8" fmla="*/ 638188 w 3829050"/>
              <a:gd name="connsiteY8" fmla="*/ 3829050 h 3829050"/>
              <a:gd name="connsiteX9" fmla="*/ 0 w 3829050"/>
              <a:gd name="connsiteY9" fmla="*/ 3190862 h 3829050"/>
              <a:gd name="connsiteX10" fmla="*/ 0 w 3829050"/>
              <a:gd name="connsiteY10" fmla="*/ 638188 h 3829050"/>
              <a:gd name="connsiteX11" fmla="*/ 186921 w 3829050"/>
              <a:gd name="connsiteY11" fmla="*/ 186921 h 382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29050" h="3829050">
                <a:moveTo>
                  <a:pt x="186921" y="186921"/>
                </a:moveTo>
                <a:cubicBezTo>
                  <a:pt x="302411" y="71432"/>
                  <a:pt x="461958" y="0"/>
                  <a:pt x="638188" y="0"/>
                </a:cubicBezTo>
                <a:lnTo>
                  <a:pt x="1731382" y="0"/>
                </a:lnTo>
                <a:lnTo>
                  <a:pt x="1731382" y="1173845"/>
                </a:lnTo>
                <a:cubicBezTo>
                  <a:pt x="1731382" y="1414410"/>
                  <a:pt x="1926399" y="1609427"/>
                  <a:pt x="2166964" y="1609427"/>
                </a:cubicBezTo>
                <a:lnTo>
                  <a:pt x="3829050" y="1609427"/>
                </a:lnTo>
                <a:lnTo>
                  <a:pt x="3829050" y="3190862"/>
                </a:lnTo>
                <a:cubicBezTo>
                  <a:pt x="3829050" y="3543323"/>
                  <a:pt x="3543323" y="3829050"/>
                  <a:pt x="3190862" y="3829050"/>
                </a:cubicBezTo>
                <a:lnTo>
                  <a:pt x="638188" y="3829050"/>
                </a:lnTo>
                <a:cubicBezTo>
                  <a:pt x="285727" y="3829050"/>
                  <a:pt x="0" y="3543323"/>
                  <a:pt x="0" y="3190862"/>
                </a:cubicBezTo>
                <a:lnTo>
                  <a:pt x="0" y="638188"/>
                </a:lnTo>
                <a:cubicBezTo>
                  <a:pt x="0" y="461957"/>
                  <a:pt x="71432" y="302410"/>
                  <a:pt x="186921" y="186921"/>
                </a:cubicBezTo>
                <a:close/>
              </a:path>
            </a:pathLst>
          </a:custGeom>
          <a:solidFill>
            <a:srgbClr val="080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矩形: 圆角 29">
            <a:extLst>
              <a:ext uri="{FF2B5EF4-FFF2-40B4-BE49-F238E27FC236}">
                <a16:creationId xmlns:a16="http://schemas.microsoft.com/office/drawing/2014/main" id="{09FF9BDC-7424-48D8-F54A-6A51BFE84D83}"/>
              </a:ext>
            </a:extLst>
          </p:cNvPr>
          <p:cNvSpPr/>
          <p:nvPr/>
        </p:nvSpPr>
        <p:spPr>
          <a:xfrm rot="2809473">
            <a:off x="1569818" y="4371955"/>
            <a:ext cx="1365294" cy="1365294"/>
          </a:xfrm>
          <a:prstGeom prst="roundRect">
            <a:avLst/>
          </a:prstGeom>
          <a:solidFill>
            <a:srgbClr val="757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5" name="直接连接符 8">
            <a:extLst>
              <a:ext uri="{FF2B5EF4-FFF2-40B4-BE49-F238E27FC236}">
                <a16:creationId xmlns:a16="http://schemas.microsoft.com/office/drawing/2014/main" id="{35B97E80-B6C8-0645-8A52-C832B3685AD4}"/>
              </a:ext>
            </a:extLst>
          </p:cNvPr>
          <p:cNvCxnSpPr/>
          <p:nvPr/>
        </p:nvCxnSpPr>
        <p:spPr>
          <a:xfrm flipV="1">
            <a:off x="9775585" y="3988349"/>
            <a:ext cx="2059156" cy="190207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35">
            <a:extLst>
              <a:ext uri="{FF2B5EF4-FFF2-40B4-BE49-F238E27FC236}">
                <a16:creationId xmlns:a16="http://schemas.microsoft.com/office/drawing/2014/main" id="{9FB254A6-BAA2-9B78-9D52-E18C229464A4}"/>
              </a:ext>
            </a:extLst>
          </p:cNvPr>
          <p:cNvCxnSpPr/>
          <p:nvPr/>
        </p:nvCxnSpPr>
        <p:spPr>
          <a:xfrm>
            <a:off x="8180744" y="4208330"/>
            <a:ext cx="2091665" cy="2095193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9">
            <a:extLst>
              <a:ext uri="{FF2B5EF4-FFF2-40B4-BE49-F238E27FC236}">
                <a16:creationId xmlns:a16="http://schemas.microsoft.com/office/drawing/2014/main" id="{F59B92FE-31CA-27FF-10B9-56C4A6DC68D3}"/>
              </a:ext>
            </a:extLst>
          </p:cNvPr>
          <p:cNvSpPr/>
          <p:nvPr/>
        </p:nvSpPr>
        <p:spPr>
          <a:xfrm rot="2809473">
            <a:off x="11279353" y="3305702"/>
            <a:ext cx="1365294" cy="1365294"/>
          </a:xfrm>
          <a:prstGeom prst="roundRect">
            <a:avLst/>
          </a:prstGeom>
          <a:solidFill>
            <a:srgbClr val="757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9" name="直接连接符 25">
            <a:extLst>
              <a:ext uri="{FF2B5EF4-FFF2-40B4-BE49-F238E27FC236}">
                <a16:creationId xmlns:a16="http://schemas.microsoft.com/office/drawing/2014/main" id="{F7B0C727-A2A7-4E03-50C7-096442A43A56}"/>
              </a:ext>
            </a:extLst>
          </p:cNvPr>
          <p:cNvCxnSpPr/>
          <p:nvPr/>
        </p:nvCxnSpPr>
        <p:spPr>
          <a:xfrm>
            <a:off x="-343057" y="-9076"/>
            <a:ext cx="2131397" cy="215346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5">
            <a:extLst>
              <a:ext uri="{FF2B5EF4-FFF2-40B4-BE49-F238E27FC236}">
                <a16:creationId xmlns:a16="http://schemas.microsoft.com/office/drawing/2014/main" id="{03283258-CB7F-CD26-914C-B71321A6D0CF}"/>
              </a:ext>
            </a:extLst>
          </p:cNvPr>
          <p:cNvCxnSpPr/>
          <p:nvPr/>
        </p:nvCxnSpPr>
        <p:spPr>
          <a:xfrm>
            <a:off x="8116860" y="-207657"/>
            <a:ext cx="3428604" cy="36399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45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2" grpId="0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www.customonline.com/wp-content/uploads/GettyImages-853701240-small.jpg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r="10000"/>
          <a:stretch>
            <a:fillRect/>
          </a:stretch>
        </p:blipFill>
        <p:spPr bwMode="auto">
          <a:xfrm>
            <a:off x="0" y="0"/>
            <a:ext cx="12177055" cy="3700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/>
        </p:nvSpPr>
        <p:spPr>
          <a:xfrm>
            <a:off x="0" y="-54864"/>
            <a:ext cx="12192001" cy="375542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/>
              <a:ea typeface="思源黑体 CN Light"/>
              <a:cs typeface="+mn-ea"/>
              <a:sym typeface="+mn-lt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0E243AF4-7B3F-48DB-AC37-82FE76B70B33}"/>
              </a:ext>
            </a:extLst>
          </p:cNvPr>
          <p:cNvSpPr/>
          <p:nvPr/>
        </p:nvSpPr>
        <p:spPr>
          <a:xfrm rot="2809473">
            <a:off x="1417551" y="2402565"/>
            <a:ext cx="2374882" cy="2374882"/>
          </a:xfrm>
          <a:custGeom>
            <a:avLst/>
            <a:gdLst>
              <a:gd name="connsiteX0" fmla="*/ 186921 w 3829050"/>
              <a:gd name="connsiteY0" fmla="*/ 186921 h 3829050"/>
              <a:gd name="connsiteX1" fmla="*/ 638188 w 3829050"/>
              <a:gd name="connsiteY1" fmla="*/ 0 h 3829050"/>
              <a:gd name="connsiteX2" fmla="*/ 1731382 w 3829050"/>
              <a:gd name="connsiteY2" fmla="*/ 0 h 3829050"/>
              <a:gd name="connsiteX3" fmla="*/ 1731382 w 3829050"/>
              <a:gd name="connsiteY3" fmla="*/ 1173845 h 3829050"/>
              <a:gd name="connsiteX4" fmla="*/ 2166964 w 3829050"/>
              <a:gd name="connsiteY4" fmla="*/ 1609427 h 3829050"/>
              <a:gd name="connsiteX5" fmla="*/ 3829050 w 3829050"/>
              <a:gd name="connsiteY5" fmla="*/ 1609427 h 3829050"/>
              <a:gd name="connsiteX6" fmla="*/ 3829050 w 3829050"/>
              <a:gd name="connsiteY6" fmla="*/ 3190862 h 3829050"/>
              <a:gd name="connsiteX7" fmla="*/ 3190862 w 3829050"/>
              <a:gd name="connsiteY7" fmla="*/ 3829050 h 3829050"/>
              <a:gd name="connsiteX8" fmla="*/ 638188 w 3829050"/>
              <a:gd name="connsiteY8" fmla="*/ 3829050 h 3829050"/>
              <a:gd name="connsiteX9" fmla="*/ 0 w 3829050"/>
              <a:gd name="connsiteY9" fmla="*/ 3190862 h 3829050"/>
              <a:gd name="connsiteX10" fmla="*/ 0 w 3829050"/>
              <a:gd name="connsiteY10" fmla="*/ 638188 h 3829050"/>
              <a:gd name="connsiteX11" fmla="*/ 186921 w 3829050"/>
              <a:gd name="connsiteY11" fmla="*/ 186921 h 382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29050" h="3829050">
                <a:moveTo>
                  <a:pt x="186921" y="186921"/>
                </a:moveTo>
                <a:cubicBezTo>
                  <a:pt x="302411" y="71432"/>
                  <a:pt x="461958" y="0"/>
                  <a:pt x="638188" y="0"/>
                </a:cubicBezTo>
                <a:lnTo>
                  <a:pt x="1731382" y="0"/>
                </a:lnTo>
                <a:lnTo>
                  <a:pt x="1731382" y="1173845"/>
                </a:lnTo>
                <a:cubicBezTo>
                  <a:pt x="1731382" y="1414410"/>
                  <a:pt x="1926399" y="1609427"/>
                  <a:pt x="2166964" y="1609427"/>
                </a:cubicBezTo>
                <a:lnTo>
                  <a:pt x="3829050" y="1609427"/>
                </a:lnTo>
                <a:lnTo>
                  <a:pt x="3829050" y="3190862"/>
                </a:lnTo>
                <a:cubicBezTo>
                  <a:pt x="3829050" y="3543323"/>
                  <a:pt x="3543323" y="3829050"/>
                  <a:pt x="3190862" y="3829050"/>
                </a:cubicBezTo>
                <a:lnTo>
                  <a:pt x="638188" y="3829050"/>
                </a:lnTo>
                <a:cubicBezTo>
                  <a:pt x="285727" y="3829050"/>
                  <a:pt x="0" y="3543323"/>
                  <a:pt x="0" y="3190862"/>
                </a:cubicBezTo>
                <a:lnTo>
                  <a:pt x="0" y="638188"/>
                </a:lnTo>
                <a:cubicBezTo>
                  <a:pt x="0" y="461957"/>
                  <a:pt x="71432" y="302410"/>
                  <a:pt x="186921" y="18692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078" name="Picture 6" descr="https://s3.amazonaws.com/hoth.bizango/images/797280/cloud-computing-msc_feature.jpg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35816">
            <a:off x="1624964" y="2588165"/>
            <a:ext cx="1960056" cy="201367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ZoneTexte 14"/>
          <p:cNvSpPr txBox="1"/>
          <p:nvPr/>
        </p:nvSpPr>
        <p:spPr>
          <a:xfrm>
            <a:off x="3850298" y="3976671"/>
            <a:ext cx="73053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Fonctionnalités</a:t>
            </a:r>
            <a:endParaRPr lang="fr-FR" sz="60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62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文本框 75">
            <a:extLst>
              <a:ext uri="{FF2B5EF4-FFF2-40B4-BE49-F238E27FC236}">
                <a16:creationId xmlns:a16="http://schemas.microsoft.com/office/drawing/2014/main" id="{E97AA86D-A90E-48C4-973F-1CBE29EF0FF9}"/>
              </a:ext>
            </a:extLst>
          </p:cNvPr>
          <p:cNvSpPr txBox="1"/>
          <p:nvPr/>
        </p:nvSpPr>
        <p:spPr>
          <a:xfrm>
            <a:off x="1009527" y="234852"/>
            <a:ext cx="6555745" cy="61601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defTabSz="914400">
              <a:defRPr/>
            </a:pPr>
            <a:r>
              <a:rPr lang="fr-FR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Fonctionnalités</a:t>
            </a:r>
            <a:endParaRPr lang="fr-FR" altLang="fr-FR" sz="3200" b="1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+mn-lt"/>
            </a:endParaRPr>
          </a:p>
        </p:txBody>
      </p:sp>
      <p:pic>
        <p:nvPicPr>
          <p:cNvPr id="162" name="Picture 2" descr="https://www.fsdm.usmba.ac.ma/Template/useful/loading/img/logo.pn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27" y="6472989"/>
            <a:ext cx="820952" cy="19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BF347104-30FF-5C7D-C4BE-206C49D6E950}"/>
              </a:ext>
            </a:extLst>
          </p:cNvPr>
          <p:cNvSpPr txBox="1"/>
          <p:nvPr/>
        </p:nvSpPr>
        <p:spPr>
          <a:xfrm>
            <a:off x="1009527" y="1520792"/>
            <a:ext cx="101365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📁 Chargement &amp; Export des Données</a:t>
            </a:r>
          </a:p>
          <a:p>
            <a:r>
              <a:rPr lang="fr-FR" dirty="0"/>
              <a:t>Lecture et écriture de nombreux </a:t>
            </a:r>
            <a:r>
              <a:rPr lang="fr-FR" b="1" dirty="0"/>
              <a:t>formats vectoriels</a:t>
            </a:r>
            <a:r>
              <a:rPr lang="fr-FR" dirty="0"/>
              <a:t> :</a:t>
            </a:r>
          </a:p>
          <a:p>
            <a:pPr lvl="1"/>
            <a:r>
              <a:rPr lang="fr-FR" b="1" dirty="0"/>
              <a:t>Shapefile (.</a:t>
            </a:r>
            <a:r>
              <a:rPr lang="fr-FR" b="1" dirty="0" err="1"/>
              <a:t>shp</a:t>
            </a:r>
            <a:r>
              <a:rPr lang="fr-FR" b="1" dirty="0"/>
              <a:t>)</a:t>
            </a:r>
            <a:endParaRPr lang="fr-FR" dirty="0"/>
          </a:p>
          <a:p>
            <a:pPr lvl="1"/>
            <a:r>
              <a:rPr lang="fr-FR" b="1" dirty="0" err="1"/>
              <a:t>GeoJSON</a:t>
            </a:r>
            <a:r>
              <a:rPr lang="fr-FR" b="1" dirty="0"/>
              <a:t> (.</a:t>
            </a:r>
            <a:r>
              <a:rPr lang="fr-FR" b="1" dirty="0" err="1"/>
              <a:t>geojson</a:t>
            </a:r>
            <a:r>
              <a:rPr lang="fr-FR" b="1" dirty="0"/>
              <a:t>)</a:t>
            </a:r>
            <a:endParaRPr lang="fr-FR" dirty="0"/>
          </a:p>
          <a:p>
            <a:pPr lvl="1"/>
            <a:r>
              <a:rPr lang="fr-FR" b="1" dirty="0"/>
              <a:t>KML/KMZ</a:t>
            </a:r>
            <a:r>
              <a:rPr lang="fr-FR" dirty="0"/>
              <a:t> (Google </a:t>
            </a:r>
            <a:r>
              <a:rPr lang="fr-FR" dirty="0" err="1"/>
              <a:t>Earth</a:t>
            </a:r>
            <a:r>
              <a:rPr lang="fr-FR" dirty="0"/>
              <a:t>)</a:t>
            </a:r>
          </a:p>
          <a:p>
            <a:endParaRPr lang="fr-FR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5617BF5C-1C93-26EE-65DF-50DA911F1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539" y="2992937"/>
            <a:ext cx="8350928" cy="29954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D83B9-52BD-208A-79CD-36EDFE3B7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文本框 75">
            <a:extLst>
              <a:ext uri="{FF2B5EF4-FFF2-40B4-BE49-F238E27FC236}">
                <a16:creationId xmlns:a16="http://schemas.microsoft.com/office/drawing/2014/main" id="{9F715549-1234-FB64-0E90-25520FC3269B}"/>
              </a:ext>
            </a:extLst>
          </p:cNvPr>
          <p:cNvSpPr txBox="1"/>
          <p:nvPr/>
        </p:nvSpPr>
        <p:spPr>
          <a:xfrm>
            <a:off x="1009527" y="234852"/>
            <a:ext cx="6555745" cy="61601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defTabSz="914400">
              <a:defRPr/>
            </a:pPr>
            <a:r>
              <a:rPr lang="fr-FR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Fonctionnalités</a:t>
            </a:r>
            <a:endParaRPr lang="fr-FR" altLang="fr-FR" sz="3200" b="1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+mn-lt"/>
            </a:endParaRPr>
          </a:p>
        </p:txBody>
      </p:sp>
      <p:pic>
        <p:nvPicPr>
          <p:cNvPr id="162" name="Picture 2" descr="https://www.fsdm.usmba.ac.ma/Template/useful/loading/img/logo.png">
            <a:extLst>
              <a:ext uri="{FF2B5EF4-FFF2-40B4-BE49-F238E27FC236}">
                <a16:creationId xmlns:a16="http://schemas.microsoft.com/office/drawing/2014/main" id="{4064D12C-B171-C929-CC74-CEBAFDACF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27" y="6472989"/>
            <a:ext cx="820952" cy="19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44E244AE-39BA-18D3-8454-446EFDF75DE3}"/>
              </a:ext>
            </a:extLst>
          </p:cNvPr>
          <p:cNvSpPr txBox="1"/>
          <p:nvPr/>
        </p:nvSpPr>
        <p:spPr>
          <a:xfrm>
            <a:off x="1009527" y="1520792"/>
            <a:ext cx="10136528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b="1" dirty="0"/>
          </a:p>
          <a:p>
            <a:r>
              <a:rPr lang="fr-FR" sz="2000" b="1" dirty="0">
                <a:cs typeface="+mj-cs"/>
              </a:rPr>
              <a:t>📐 Gestion des Géométries</a:t>
            </a:r>
          </a:p>
          <a:p>
            <a:endParaRPr lang="fr-FR" sz="2000" b="1" dirty="0">
              <a:cs typeface="+mj-cs"/>
            </a:endParaRPr>
          </a:p>
          <a:p>
            <a:r>
              <a:rPr lang="fr-FR" sz="2000" b="1" dirty="0">
                <a:cs typeface="+mj-cs"/>
              </a:rPr>
              <a:t>Une colonne spéciale </a:t>
            </a:r>
            <a:r>
              <a:rPr lang="fr-FR" sz="2000" b="1" dirty="0" err="1">
                <a:cs typeface="+mj-cs"/>
              </a:rPr>
              <a:t>geometry</a:t>
            </a:r>
            <a:r>
              <a:rPr lang="fr-FR" sz="2000" b="1" dirty="0">
                <a:cs typeface="+mj-cs"/>
              </a:rPr>
              <a:t> stocke les formes : points, lignes, polygones.</a:t>
            </a:r>
          </a:p>
          <a:p>
            <a:r>
              <a:rPr lang="fr-FR" sz="2000" b="1" dirty="0">
                <a:cs typeface="+mj-cs"/>
              </a:rPr>
              <a:t>Chaque ligne du </a:t>
            </a:r>
            <a:r>
              <a:rPr lang="fr-FR" sz="2000" b="1" dirty="0" err="1">
                <a:cs typeface="+mj-cs"/>
              </a:rPr>
              <a:t>GeoDataFrame</a:t>
            </a:r>
            <a:r>
              <a:rPr lang="fr-FR" sz="2000" b="1" dirty="0">
                <a:cs typeface="+mj-cs"/>
              </a:rPr>
              <a:t> représente un objet spatial.</a:t>
            </a:r>
          </a:p>
          <a:p>
            <a:r>
              <a:rPr lang="fr-FR" sz="2000" b="1" dirty="0">
                <a:cs typeface="+mj-cs"/>
              </a:rPr>
              <a:t>Opérations géométriques de base :</a:t>
            </a:r>
          </a:p>
          <a:p>
            <a:r>
              <a:rPr lang="fr-FR" sz="2000" b="1" dirty="0">
                <a:cs typeface="+mj-cs"/>
              </a:rPr>
              <a:t>                                            Surface (.area)</a:t>
            </a:r>
          </a:p>
          <a:p>
            <a:r>
              <a:rPr lang="fr-FR" sz="2000" b="1" dirty="0">
                <a:cs typeface="+mj-cs"/>
              </a:rPr>
              <a:t>                                            Longueur (.</a:t>
            </a:r>
            <a:r>
              <a:rPr lang="fr-FR" sz="2000" b="1" dirty="0" err="1">
                <a:cs typeface="+mj-cs"/>
              </a:rPr>
              <a:t>length</a:t>
            </a:r>
            <a:r>
              <a:rPr lang="fr-FR" sz="2000" b="1" dirty="0">
                <a:cs typeface="+mj-cs"/>
              </a:rPr>
              <a:t>)</a:t>
            </a:r>
          </a:p>
          <a:p>
            <a:r>
              <a:rPr lang="fr-FR" sz="2000" b="1" dirty="0">
                <a:cs typeface="+mj-cs"/>
              </a:rPr>
              <a:t>                                            Centroïde (.</a:t>
            </a:r>
            <a:r>
              <a:rPr lang="fr-FR" sz="2000" b="1" dirty="0" err="1">
                <a:cs typeface="+mj-cs"/>
              </a:rPr>
              <a:t>centroid</a:t>
            </a:r>
            <a:r>
              <a:rPr lang="fr-FR" sz="2000" b="1" dirty="0">
                <a:cs typeface="+mj-cs"/>
              </a:rPr>
              <a:t>)</a:t>
            </a:r>
          </a:p>
          <a:p>
            <a:endParaRPr lang="fr-FR" b="1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9059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6CFB2-DCD8-4776-E690-1CA59BA01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文本框 75">
            <a:extLst>
              <a:ext uri="{FF2B5EF4-FFF2-40B4-BE49-F238E27FC236}">
                <a16:creationId xmlns:a16="http://schemas.microsoft.com/office/drawing/2014/main" id="{B1D1C3BB-D27B-F647-06DF-61BDF7C4A8DF}"/>
              </a:ext>
            </a:extLst>
          </p:cNvPr>
          <p:cNvSpPr txBox="1"/>
          <p:nvPr/>
        </p:nvSpPr>
        <p:spPr>
          <a:xfrm>
            <a:off x="1009527" y="234852"/>
            <a:ext cx="6555745" cy="61601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defTabSz="914400">
              <a:defRPr/>
            </a:pPr>
            <a:r>
              <a:rPr lang="fr-FR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Fonctionnalités</a:t>
            </a:r>
            <a:endParaRPr lang="fr-FR" altLang="fr-FR" sz="3200" b="1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+mn-lt"/>
            </a:endParaRPr>
          </a:p>
        </p:txBody>
      </p:sp>
      <p:pic>
        <p:nvPicPr>
          <p:cNvPr id="162" name="Picture 2" descr="https://www.fsdm.usmba.ac.ma/Template/useful/loading/img/logo.png">
            <a:extLst>
              <a:ext uri="{FF2B5EF4-FFF2-40B4-BE49-F238E27FC236}">
                <a16:creationId xmlns:a16="http://schemas.microsoft.com/office/drawing/2014/main" id="{6589F868-A51B-87D5-838D-E137C47AA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27" y="6472989"/>
            <a:ext cx="820952" cy="19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3E9127FA-B148-687C-2003-2327653E21C5}"/>
              </a:ext>
            </a:extLst>
          </p:cNvPr>
          <p:cNvSpPr txBox="1"/>
          <p:nvPr/>
        </p:nvSpPr>
        <p:spPr>
          <a:xfrm>
            <a:off x="1009527" y="1520792"/>
            <a:ext cx="1013652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000" b="1" dirty="0"/>
          </a:p>
          <a:p>
            <a:r>
              <a:rPr lang="fr-FR" sz="2400" b="1" dirty="0"/>
              <a:t>🔍 Opérations Spatiales Avancées :</a:t>
            </a:r>
          </a:p>
          <a:p>
            <a:endParaRPr lang="fr-FR" sz="2400" b="1" dirty="0"/>
          </a:p>
          <a:p>
            <a:r>
              <a:rPr lang="fr-FR" sz="2400" b="1" dirty="0"/>
              <a:t>Jointure spatiale (</a:t>
            </a:r>
            <a:r>
              <a:rPr lang="fr-FR" sz="2000" b="1" dirty="0" err="1"/>
              <a:t>sjoin</a:t>
            </a:r>
            <a:r>
              <a:rPr lang="fr-FR" sz="2400" b="1" dirty="0"/>
              <a:t>)</a:t>
            </a:r>
            <a:r>
              <a:rPr lang="fr-FR" sz="2400" dirty="0"/>
              <a:t> : fusion basée sur la position géographique.</a:t>
            </a:r>
          </a:p>
          <a:p>
            <a:r>
              <a:rPr lang="fr-FR" sz="2400" b="1" dirty="0"/>
              <a:t>Filtrage spatial</a:t>
            </a:r>
            <a:r>
              <a:rPr lang="fr-FR" sz="2400" dirty="0"/>
              <a:t> : sélectionner les objets dans une zone donnée.</a:t>
            </a:r>
          </a:p>
          <a:p>
            <a:r>
              <a:rPr lang="fr-FR" sz="2400" b="1" dirty="0"/>
              <a:t>Tampon (</a:t>
            </a:r>
            <a:r>
              <a:rPr lang="fr-FR" sz="2000" b="1" dirty="0"/>
              <a:t>buffer</a:t>
            </a:r>
            <a:r>
              <a:rPr lang="fr-FR" sz="2400" b="1" dirty="0"/>
              <a:t>)</a:t>
            </a:r>
            <a:r>
              <a:rPr lang="fr-FR" sz="2400" dirty="0"/>
              <a:t> : créer une zone d’influence autour d’un objet.</a:t>
            </a:r>
          </a:p>
          <a:p>
            <a:r>
              <a:rPr lang="fr-FR" sz="2400" b="1" dirty="0"/>
              <a:t>Intersection / Union</a:t>
            </a:r>
            <a:r>
              <a:rPr lang="fr-FR" sz="2400" dirty="0"/>
              <a:t> : combiner ou croiser des géométries.</a:t>
            </a:r>
          </a:p>
          <a:p>
            <a:endParaRPr lang="fr-FR" b="1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3866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A8437-7D1B-8E48-CCD5-7ABECC3AB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文本框 75">
            <a:extLst>
              <a:ext uri="{FF2B5EF4-FFF2-40B4-BE49-F238E27FC236}">
                <a16:creationId xmlns:a16="http://schemas.microsoft.com/office/drawing/2014/main" id="{625CCCE3-1CFD-B8B8-0AB8-207E2E941821}"/>
              </a:ext>
            </a:extLst>
          </p:cNvPr>
          <p:cNvSpPr txBox="1"/>
          <p:nvPr/>
        </p:nvSpPr>
        <p:spPr>
          <a:xfrm>
            <a:off x="1009527" y="234852"/>
            <a:ext cx="6555745" cy="61601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defTabSz="914400">
              <a:defRPr/>
            </a:pPr>
            <a:r>
              <a:rPr lang="fr-FR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Fonctionnalités</a:t>
            </a:r>
            <a:endParaRPr lang="fr-FR" altLang="fr-FR" sz="3200" b="1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+mn-lt"/>
            </a:endParaRPr>
          </a:p>
        </p:txBody>
      </p:sp>
      <p:pic>
        <p:nvPicPr>
          <p:cNvPr id="162" name="Picture 2" descr="https://www.fsdm.usmba.ac.ma/Template/useful/loading/img/logo.png">
            <a:extLst>
              <a:ext uri="{FF2B5EF4-FFF2-40B4-BE49-F238E27FC236}">
                <a16:creationId xmlns:a16="http://schemas.microsoft.com/office/drawing/2014/main" id="{868F0F52-42A8-7F0A-8241-E95BAD373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27" y="6472989"/>
            <a:ext cx="820952" cy="19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A0A12261-27A7-D7AD-9BFC-14A9F305D254}"/>
              </a:ext>
            </a:extLst>
          </p:cNvPr>
          <p:cNvSpPr txBox="1"/>
          <p:nvPr/>
        </p:nvSpPr>
        <p:spPr>
          <a:xfrm>
            <a:off x="306882" y="1892213"/>
            <a:ext cx="549715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000" b="1" dirty="0"/>
          </a:p>
          <a:p>
            <a:r>
              <a:rPr lang="fr-FR" sz="2400" b="1" dirty="0"/>
              <a:t>🗺️ Reprojection &amp; Visualisation</a:t>
            </a:r>
          </a:p>
          <a:p>
            <a:endParaRPr lang="fr-FR" sz="2400" b="1" dirty="0"/>
          </a:p>
          <a:p>
            <a:r>
              <a:rPr lang="fr-FR" sz="2400" b="1" dirty="0"/>
              <a:t>Reprojection</a:t>
            </a:r>
            <a:r>
              <a:rPr lang="fr-FR" sz="2400" dirty="0"/>
              <a:t> : changer le </a:t>
            </a:r>
            <a:r>
              <a:rPr lang="fr-FR" sz="2400" b="1" dirty="0"/>
              <a:t>système de coordonnées (CRS)</a:t>
            </a:r>
            <a:r>
              <a:rPr lang="fr-FR" sz="2400" dirty="0"/>
              <a:t> pour des calculs précis ou des fonds de carte cohérents.</a:t>
            </a:r>
          </a:p>
          <a:p>
            <a:r>
              <a:rPr lang="fr-FR" sz="2400" b="1" dirty="0"/>
              <a:t>Visualisation</a:t>
            </a:r>
            <a:r>
              <a:rPr lang="fr-FR" sz="2400" dirty="0"/>
              <a:t> : créer des </a:t>
            </a:r>
            <a:r>
              <a:rPr lang="fr-FR" sz="2400" b="1" dirty="0"/>
              <a:t>cartes simples en une ligne</a:t>
            </a:r>
            <a:r>
              <a:rPr lang="fr-FR" sz="2400" dirty="0"/>
              <a:t> :</a:t>
            </a:r>
          </a:p>
          <a:p>
            <a:endParaRPr lang="fr-FR" b="1" dirty="0"/>
          </a:p>
          <a:p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EF8F377-D004-5920-6EA7-9C635EACE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1998" y="778483"/>
            <a:ext cx="5712253" cy="525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677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www.customonline.com/wp-content/uploads/GettyImages-853701240-small.jpg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r="10000"/>
          <a:stretch>
            <a:fillRect/>
          </a:stretch>
        </p:blipFill>
        <p:spPr bwMode="auto">
          <a:xfrm>
            <a:off x="0" y="0"/>
            <a:ext cx="12177055" cy="3700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/>
        </p:nvSpPr>
        <p:spPr>
          <a:xfrm>
            <a:off x="0" y="-54864"/>
            <a:ext cx="12192001" cy="375542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/>
              <a:ea typeface="思源黑体 CN Light"/>
              <a:cs typeface="+mn-ea"/>
              <a:sym typeface="+mn-lt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0E243AF4-7B3F-48DB-AC37-82FE76B70B33}"/>
              </a:ext>
            </a:extLst>
          </p:cNvPr>
          <p:cNvSpPr/>
          <p:nvPr/>
        </p:nvSpPr>
        <p:spPr>
          <a:xfrm rot="2809473">
            <a:off x="1417551" y="2402565"/>
            <a:ext cx="2374882" cy="2374882"/>
          </a:xfrm>
          <a:custGeom>
            <a:avLst/>
            <a:gdLst>
              <a:gd name="connsiteX0" fmla="*/ 186921 w 3829050"/>
              <a:gd name="connsiteY0" fmla="*/ 186921 h 3829050"/>
              <a:gd name="connsiteX1" fmla="*/ 638188 w 3829050"/>
              <a:gd name="connsiteY1" fmla="*/ 0 h 3829050"/>
              <a:gd name="connsiteX2" fmla="*/ 1731382 w 3829050"/>
              <a:gd name="connsiteY2" fmla="*/ 0 h 3829050"/>
              <a:gd name="connsiteX3" fmla="*/ 1731382 w 3829050"/>
              <a:gd name="connsiteY3" fmla="*/ 1173845 h 3829050"/>
              <a:gd name="connsiteX4" fmla="*/ 2166964 w 3829050"/>
              <a:gd name="connsiteY4" fmla="*/ 1609427 h 3829050"/>
              <a:gd name="connsiteX5" fmla="*/ 3829050 w 3829050"/>
              <a:gd name="connsiteY5" fmla="*/ 1609427 h 3829050"/>
              <a:gd name="connsiteX6" fmla="*/ 3829050 w 3829050"/>
              <a:gd name="connsiteY6" fmla="*/ 3190862 h 3829050"/>
              <a:gd name="connsiteX7" fmla="*/ 3190862 w 3829050"/>
              <a:gd name="connsiteY7" fmla="*/ 3829050 h 3829050"/>
              <a:gd name="connsiteX8" fmla="*/ 638188 w 3829050"/>
              <a:gd name="connsiteY8" fmla="*/ 3829050 h 3829050"/>
              <a:gd name="connsiteX9" fmla="*/ 0 w 3829050"/>
              <a:gd name="connsiteY9" fmla="*/ 3190862 h 3829050"/>
              <a:gd name="connsiteX10" fmla="*/ 0 w 3829050"/>
              <a:gd name="connsiteY10" fmla="*/ 638188 h 3829050"/>
              <a:gd name="connsiteX11" fmla="*/ 186921 w 3829050"/>
              <a:gd name="connsiteY11" fmla="*/ 186921 h 382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29050" h="3829050">
                <a:moveTo>
                  <a:pt x="186921" y="186921"/>
                </a:moveTo>
                <a:cubicBezTo>
                  <a:pt x="302411" y="71432"/>
                  <a:pt x="461958" y="0"/>
                  <a:pt x="638188" y="0"/>
                </a:cubicBezTo>
                <a:lnTo>
                  <a:pt x="1731382" y="0"/>
                </a:lnTo>
                <a:lnTo>
                  <a:pt x="1731382" y="1173845"/>
                </a:lnTo>
                <a:cubicBezTo>
                  <a:pt x="1731382" y="1414410"/>
                  <a:pt x="1926399" y="1609427"/>
                  <a:pt x="2166964" y="1609427"/>
                </a:cubicBezTo>
                <a:lnTo>
                  <a:pt x="3829050" y="1609427"/>
                </a:lnTo>
                <a:lnTo>
                  <a:pt x="3829050" y="3190862"/>
                </a:lnTo>
                <a:cubicBezTo>
                  <a:pt x="3829050" y="3543323"/>
                  <a:pt x="3543323" y="3829050"/>
                  <a:pt x="3190862" y="3829050"/>
                </a:cubicBezTo>
                <a:lnTo>
                  <a:pt x="638188" y="3829050"/>
                </a:lnTo>
                <a:cubicBezTo>
                  <a:pt x="285727" y="3829050"/>
                  <a:pt x="0" y="3543323"/>
                  <a:pt x="0" y="3190862"/>
                </a:cubicBezTo>
                <a:lnTo>
                  <a:pt x="0" y="638188"/>
                </a:lnTo>
                <a:cubicBezTo>
                  <a:pt x="0" y="461957"/>
                  <a:pt x="71432" y="302410"/>
                  <a:pt x="186921" y="18692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078" name="Picture 6" descr="https://s3.amazonaws.com/hoth.bizango/images/797280/cloud-computing-msc_feature.jpg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35816">
            <a:off x="1624964" y="2588165"/>
            <a:ext cx="1960056" cy="201367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ZoneTexte 14"/>
          <p:cNvSpPr txBox="1"/>
          <p:nvPr/>
        </p:nvSpPr>
        <p:spPr>
          <a:xfrm>
            <a:off x="4283436" y="3910868"/>
            <a:ext cx="64556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 d'Usage Concrets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sz="6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185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90"/>
          <p:cNvSpPr txBox="1"/>
          <p:nvPr/>
        </p:nvSpPr>
        <p:spPr>
          <a:xfrm>
            <a:off x="969841" y="1602797"/>
            <a:ext cx="10450220" cy="32276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fr-FR" sz="2400" b="1" dirty="0"/>
              <a:t>Urbanisme</a:t>
            </a:r>
            <a:r>
              <a:rPr lang="fr-FR" sz="2400" dirty="0"/>
              <a:t> : Analyser la densité de population, localiser</a:t>
            </a:r>
            <a:r>
              <a:rPr lang="fr-FR" sz="3200" dirty="0"/>
              <a:t> </a:t>
            </a:r>
            <a:r>
              <a:rPr lang="fr-FR" sz="2800" dirty="0"/>
              <a:t>des équipements</a:t>
            </a:r>
            <a:r>
              <a:rPr lang="fr-FR" sz="2000" dirty="0"/>
              <a:t>.</a:t>
            </a:r>
            <a:endParaRPr lang="fr-FR" sz="2400" dirty="0"/>
          </a:p>
          <a:p>
            <a:r>
              <a:rPr lang="fr-FR" sz="2400" b="1" dirty="0"/>
              <a:t>Logistique</a:t>
            </a:r>
            <a:r>
              <a:rPr lang="fr-FR" sz="2400" dirty="0"/>
              <a:t> : Optimiser les zones de livraison, calculer des distances.</a:t>
            </a:r>
          </a:p>
          <a:p>
            <a:r>
              <a:rPr lang="fr-FR" sz="2400" b="1" dirty="0"/>
              <a:t>Environnement</a:t>
            </a:r>
            <a:r>
              <a:rPr lang="fr-FR" sz="2400" dirty="0"/>
              <a:t> : Étudier l'évolution du territoire, modéliser des risques.</a:t>
            </a:r>
          </a:p>
          <a:p>
            <a:r>
              <a:rPr lang="fr-FR" sz="2400" b="1" dirty="0"/>
              <a:t>Immobilier</a:t>
            </a:r>
            <a:r>
              <a:rPr lang="fr-FR" sz="2400" dirty="0"/>
              <a:t> : Croiser les prix au m² avec la localisation (proximité transports, parcs).</a:t>
            </a:r>
          </a:p>
          <a:p>
            <a:r>
              <a:rPr lang="fr-FR" sz="2400" b="1" dirty="0"/>
              <a:t>Réseaux</a:t>
            </a:r>
            <a:r>
              <a:rPr lang="fr-FR" sz="2400" dirty="0"/>
              <a:t> : Planifier l'emplacement d'antennes relais.</a:t>
            </a:r>
          </a:p>
          <a:p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962E43E-ADB9-46AF-B447-BF903DC6823D}"/>
              </a:ext>
            </a:extLst>
          </p:cNvPr>
          <p:cNvSpPr txBox="1"/>
          <p:nvPr/>
        </p:nvSpPr>
        <p:spPr>
          <a:xfrm>
            <a:off x="969841" y="261378"/>
            <a:ext cx="6555745" cy="457200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fr-FR" sz="2800" b="1" dirty="0">
                <a:solidFill>
                  <a:schemeClr val="bg2">
                    <a:lumMod val="75000"/>
                  </a:schemeClr>
                </a:solidFill>
              </a:rPr>
              <a:t>Cas d'Usage Concrets</a:t>
            </a:r>
          </a:p>
        </p:txBody>
      </p:sp>
      <p:pic>
        <p:nvPicPr>
          <p:cNvPr id="40" name="Picture 2" descr="https://www.fsdm.usmba.ac.ma/Template/useful/loading/img/logo.pn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27" y="6472989"/>
            <a:ext cx="820952" cy="14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CF6300B-BA8D-1A07-E12A-FF6FA0116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www.customonline.com/wp-content/uploads/GettyImages-853701240-small.jpg">
            <a:extLst>
              <a:ext uri="{FF2B5EF4-FFF2-40B4-BE49-F238E27FC236}">
                <a16:creationId xmlns:a16="http://schemas.microsoft.com/office/drawing/2014/main" id="{3C274599-F9D7-0FA0-539C-6E4D68C377B2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r="10000"/>
          <a:stretch>
            <a:fillRect/>
          </a:stretch>
        </p:blipFill>
        <p:spPr bwMode="auto">
          <a:xfrm>
            <a:off x="0" y="0"/>
            <a:ext cx="12177055" cy="3700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CEE2481-050F-7A26-B586-895F82E560C4}"/>
              </a:ext>
            </a:extLst>
          </p:cNvPr>
          <p:cNvSpPr/>
          <p:nvPr/>
        </p:nvSpPr>
        <p:spPr>
          <a:xfrm>
            <a:off x="0" y="-54864"/>
            <a:ext cx="12192001" cy="375542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/>
              <a:ea typeface="思源黑体 CN Light"/>
              <a:cs typeface="+mn-ea"/>
              <a:sym typeface="+mn-lt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2CD729B6-4D7A-C0B1-D48B-52C2F43D8B06}"/>
              </a:ext>
            </a:extLst>
          </p:cNvPr>
          <p:cNvSpPr/>
          <p:nvPr/>
        </p:nvSpPr>
        <p:spPr>
          <a:xfrm rot="2809473">
            <a:off x="1417551" y="2402565"/>
            <a:ext cx="2374882" cy="2374882"/>
          </a:xfrm>
          <a:custGeom>
            <a:avLst/>
            <a:gdLst>
              <a:gd name="connsiteX0" fmla="*/ 186921 w 3829050"/>
              <a:gd name="connsiteY0" fmla="*/ 186921 h 3829050"/>
              <a:gd name="connsiteX1" fmla="*/ 638188 w 3829050"/>
              <a:gd name="connsiteY1" fmla="*/ 0 h 3829050"/>
              <a:gd name="connsiteX2" fmla="*/ 1731382 w 3829050"/>
              <a:gd name="connsiteY2" fmla="*/ 0 h 3829050"/>
              <a:gd name="connsiteX3" fmla="*/ 1731382 w 3829050"/>
              <a:gd name="connsiteY3" fmla="*/ 1173845 h 3829050"/>
              <a:gd name="connsiteX4" fmla="*/ 2166964 w 3829050"/>
              <a:gd name="connsiteY4" fmla="*/ 1609427 h 3829050"/>
              <a:gd name="connsiteX5" fmla="*/ 3829050 w 3829050"/>
              <a:gd name="connsiteY5" fmla="*/ 1609427 h 3829050"/>
              <a:gd name="connsiteX6" fmla="*/ 3829050 w 3829050"/>
              <a:gd name="connsiteY6" fmla="*/ 3190862 h 3829050"/>
              <a:gd name="connsiteX7" fmla="*/ 3190862 w 3829050"/>
              <a:gd name="connsiteY7" fmla="*/ 3829050 h 3829050"/>
              <a:gd name="connsiteX8" fmla="*/ 638188 w 3829050"/>
              <a:gd name="connsiteY8" fmla="*/ 3829050 h 3829050"/>
              <a:gd name="connsiteX9" fmla="*/ 0 w 3829050"/>
              <a:gd name="connsiteY9" fmla="*/ 3190862 h 3829050"/>
              <a:gd name="connsiteX10" fmla="*/ 0 w 3829050"/>
              <a:gd name="connsiteY10" fmla="*/ 638188 h 3829050"/>
              <a:gd name="connsiteX11" fmla="*/ 186921 w 3829050"/>
              <a:gd name="connsiteY11" fmla="*/ 186921 h 382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29050" h="3829050">
                <a:moveTo>
                  <a:pt x="186921" y="186921"/>
                </a:moveTo>
                <a:cubicBezTo>
                  <a:pt x="302411" y="71432"/>
                  <a:pt x="461958" y="0"/>
                  <a:pt x="638188" y="0"/>
                </a:cubicBezTo>
                <a:lnTo>
                  <a:pt x="1731382" y="0"/>
                </a:lnTo>
                <a:lnTo>
                  <a:pt x="1731382" y="1173845"/>
                </a:lnTo>
                <a:cubicBezTo>
                  <a:pt x="1731382" y="1414410"/>
                  <a:pt x="1926399" y="1609427"/>
                  <a:pt x="2166964" y="1609427"/>
                </a:cubicBezTo>
                <a:lnTo>
                  <a:pt x="3829050" y="1609427"/>
                </a:lnTo>
                <a:lnTo>
                  <a:pt x="3829050" y="3190862"/>
                </a:lnTo>
                <a:cubicBezTo>
                  <a:pt x="3829050" y="3543323"/>
                  <a:pt x="3543323" y="3829050"/>
                  <a:pt x="3190862" y="3829050"/>
                </a:cubicBezTo>
                <a:lnTo>
                  <a:pt x="638188" y="3829050"/>
                </a:lnTo>
                <a:cubicBezTo>
                  <a:pt x="285727" y="3829050"/>
                  <a:pt x="0" y="3543323"/>
                  <a:pt x="0" y="3190862"/>
                </a:cubicBezTo>
                <a:lnTo>
                  <a:pt x="0" y="638188"/>
                </a:lnTo>
                <a:cubicBezTo>
                  <a:pt x="0" y="461957"/>
                  <a:pt x="71432" y="302410"/>
                  <a:pt x="186921" y="18692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078" name="Picture 6" descr="https://s3.amazonaws.com/hoth.bizango/images/797280/cloud-computing-msc_feature.jpg">
            <a:extLst>
              <a:ext uri="{FF2B5EF4-FFF2-40B4-BE49-F238E27FC236}">
                <a16:creationId xmlns:a16="http://schemas.microsoft.com/office/drawing/2014/main" id="{A9012E6E-68AD-82C4-4D00-AB1C21C1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35816">
            <a:off x="1624964" y="2588165"/>
            <a:ext cx="1960056" cy="201367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B67996D7-FD84-4A76-0E19-B1612A800715}"/>
              </a:ext>
            </a:extLst>
          </p:cNvPr>
          <p:cNvSpPr txBox="1"/>
          <p:nvPr/>
        </p:nvSpPr>
        <p:spPr>
          <a:xfrm>
            <a:off x="4283436" y="3910868"/>
            <a:ext cx="64556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sz="6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584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2847-E4A3-F0A7-C543-68EFADD50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90">
            <a:extLst>
              <a:ext uri="{FF2B5EF4-FFF2-40B4-BE49-F238E27FC236}">
                <a16:creationId xmlns:a16="http://schemas.microsoft.com/office/drawing/2014/main" id="{124E997A-BBE0-7B66-BD35-CC5D4B50716E}"/>
              </a:ext>
            </a:extLst>
          </p:cNvPr>
          <p:cNvSpPr txBox="1"/>
          <p:nvPr/>
        </p:nvSpPr>
        <p:spPr>
          <a:xfrm>
            <a:off x="497431" y="996509"/>
            <a:ext cx="10450220" cy="6200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fr-FR" sz="2800" b="1" dirty="0"/>
              <a:t>définition</a:t>
            </a:r>
          </a:p>
          <a:p>
            <a:endParaRPr lang="fr-FR" sz="28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A34A8F6-216E-EBD8-EC25-5F5B692870F9}"/>
              </a:ext>
            </a:extLst>
          </p:cNvPr>
          <p:cNvSpPr txBox="1"/>
          <p:nvPr/>
        </p:nvSpPr>
        <p:spPr>
          <a:xfrm>
            <a:off x="969841" y="261378"/>
            <a:ext cx="6555745" cy="457200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fr-FR" sz="2800" b="1" dirty="0">
                <a:solidFill>
                  <a:schemeClr val="bg2">
                    <a:lumMod val="75000"/>
                  </a:schemeClr>
                </a:solidFill>
              </a:rPr>
              <a:t>Application</a:t>
            </a:r>
          </a:p>
        </p:txBody>
      </p:sp>
      <p:pic>
        <p:nvPicPr>
          <p:cNvPr id="40" name="Picture 2" descr="https://www.fsdm.usmba.ac.ma/Template/useful/loading/img/logo.png">
            <a:extLst>
              <a:ext uri="{FF2B5EF4-FFF2-40B4-BE49-F238E27FC236}">
                <a16:creationId xmlns:a16="http://schemas.microsoft.com/office/drawing/2014/main" id="{F18F49F9-DA6B-8793-8C95-9690FB69B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27" y="6472989"/>
            <a:ext cx="820952" cy="14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C1FE855-8E03-F876-DBBE-EC65E924F209}"/>
              </a:ext>
            </a:extLst>
          </p:cNvPr>
          <p:cNvSpPr txBox="1"/>
          <p:nvPr/>
        </p:nvSpPr>
        <p:spPr>
          <a:xfrm>
            <a:off x="855815" y="1739916"/>
            <a:ext cx="973345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Notre application </a:t>
            </a:r>
            <a:r>
              <a:rPr lang="fr-FR" sz="2000" b="1" dirty="0" err="1"/>
              <a:t>GeoAI</a:t>
            </a:r>
            <a:r>
              <a:rPr lang="fr-FR" sz="2000" dirty="0"/>
              <a:t> révolutionne l'analyse des risques d'inondation en combinant </a:t>
            </a:r>
            <a:r>
              <a:rPr lang="fr-FR" sz="2000" b="1" dirty="0"/>
              <a:t>intelligence artificielle</a:t>
            </a:r>
            <a:r>
              <a:rPr lang="fr-FR" sz="2000" dirty="0"/>
              <a:t> et </a:t>
            </a:r>
            <a:r>
              <a:rPr lang="fr-FR" sz="2000" b="1" dirty="0"/>
              <a:t>données géospatiales</a:t>
            </a:r>
            <a:r>
              <a:rPr lang="fr-FR" sz="2000" dirty="0"/>
              <a:t>.</a:t>
            </a:r>
          </a:p>
          <a:p>
            <a:r>
              <a:rPr lang="fr-FR" sz="2000" dirty="0"/>
              <a:t>Une solution clé-en-main qui transforme vos cartes SIG en </a:t>
            </a:r>
            <a:r>
              <a:rPr lang="fr-FR" sz="2000" b="1" dirty="0"/>
              <a:t>outils de décision intelligents</a:t>
            </a:r>
            <a:r>
              <a:rPr lang="fr-FR" sz="2000" dirty="0"/>
              <a:t> pour anticiper les risques et protéger les populations.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2" name="TextBox 90">
            <a:extLst>
              <a:ext uri="{FF2B5EF4-FFF2-40B4-BE49-F238E27FC236}">
                <a16:creationId xmlns:a16="http://schemas.microsoft.com/office/drawing/2014/main" id="{7CDD2729-E2DE-E850-E201-4FFFC770A814}"/>
              </a:ext>
            </a:extLst>
          </p:cNvPr>
          <p:cNvSpPr txBox="1"/>
          <p:nvPr/>
        </p:nvSpPr>
        <p:spPr>
          <a:xfrm>
            <a:off x="370699" y="3429000"/>
            <a:ext cx="10450220" cy="6200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fr-FR" sz="2800" b="1" dirty="0"/>
              <a:t>Problématique et Solution </a:t>
            </a:r>
          </a:p>
          <a:p>
            <a:endParaRPr lang="fr-FR" sz="28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6442231-A059-2E84-6AE6-4357A5DCB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203" y="4040498"/>
            <a:ext cx="980122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480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99542-952F-C20C-3184-E0B9E7E4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90">
            <a:extLst>
              <a:ext uri="{FF2B5EF4-FFF2-40B4-BE49-F238E27FC236}">
                <a16:creationId xmlns:a16="http://schemas.microsoft.com/office/drawing/2014/main" id="{AE9F0530-8565-E431-42DD-3CA64F707DE8}"/>
              </a:ext>
            </a:extLst>
          </p:cNvPr>
          <p:cNvSpPr txBox="1"/>
          <p:nvPr/>
        </p:nvSpPr>
        <p:spPr>
          <a:xfrm>
            <a:off x="497431" y="996509"/>
            <a:ext cx="10450220" cy="6200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fr-FR" sz="2800" b="1" dirty="0"/>
              <a:t>Interface Utilisateur</a:t>
            </a:r>
          </a:p>
          <a:p>
            <a:endParaRPr lang="fr-FR" sz="28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E42CFE0-558E-0D11-30E5-6FA27858321C}"/>
              </a:ext>
            </a:extLst>
          </p:cNvPr>
          <p:cNvSpPr txBox="1"/>
          <p:nvPr/>
        </p:nvSpPr>
        <p:spPr>
          <a:xfrm>
            <a:off x="969841" y="261378"/>
            <a:ext cx="6555745" cy="457200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fr-FR" sz="2800" b="1" dirty="0">
                <a:solidFill>
                  <a:schemeClr val="bg2">
                    <a:lumMod val="75000"/>
                  </a:schemeClr>
                </a:solidFill>
              </a:rPr>
              <a:t>Application</a:t>
            </a:r>
          </a:p>
        </p:txBody>
      </p:sp>
      <p:pic>
        <p:nvPicPr>
          <p:cNvPr id="40" name="Picture 2" descr="https://www.fsdm.usmba.ac.ma/Template/useful/loading/img/logo.png">
            <a:extLst>
              <a:ext uri="{FF2B5EF4-FFF2-40B4-BE49-F238E27FC236}">
                <a16:creationId xmlns:a16="http://schemas.microsoft.com/office/drawing/2014/main" id="{8B6EF6B6-9C46-093F-1CDE-C3668529E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27" y="6472989"/>
            <a:ext cx="820952" cy="14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F6B8F61-FDFD-B301-658F-DE769F0B7773}"/>
              </a:ext>
            </a:extLst>
          </p:cNvPr>
          <p:cNvSpPr txBox="1"/>
          <p:nvPr/>
        </p:nvSpPr>
        <p:spPr>
          <a:xfrm>
            <a:off x="497431" y="2131997"/>
            <a:ext cx="45854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📁 Chargez vos données</a:t>
            </a:r>
            <a:r>
              <a:rPr lang="fr-FR" dirty="0"/>
              <a:t> : Importez vos shapefiles existants (bâtiments, rivières, routes, MNT) ou générez instantanément un jeu de données réaliste pour tester l'application sans fichiers personnels.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65BFA29-C22B-2824-4D4C-37D8DC98A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1378"/>
            <a:ext cx="4991129" cy="575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237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82266-D2CD-D933-9F42-2C122D97A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90">
            <a:extLst>
              <a:ext uri="{FF2B5EF4-FFF2-40B4-BE49-F238E27FC236}">
                <a16:creationId xmlns:a16="http://schemas.microsoft.com/office/drawing/2014/main" id="{CCD678F7-BFDE-09E5-15B6-775BBF000FD8}"/>
              </a:ext>
            </a:extLst>
          </p:cNvPr>
          <p:cNvSpPr txBox="1"/>
          <p:nvPr/>
        </p:nvSpPr>
        <p:spPr>
          <a:xfrm>
            <a:off x="497431" y="996509"/>
            <a:ext cx="10450220" cy="6200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fr-FR" sz="2800" b="1" dirty="0"/>
              <a:t>Interface Utilisateur</a:t>
            </a:r>
          </a:p>
          <a:p>
            <a:endParaRPr lang="fr-FR" sz="28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E5C401B-7159-3614-6841-DC21D4F05D35}"/>
              </a:ext>
            </a:extLst>
          </p:cNvPr>
          <p:cNvSpPr txBox="1"/>
          <p:nvPr/>
        </p:nvSpPr>
        <p:spPr>
          <a:xfrm>
            <a:off x="969841" y="261378"/>
            <a:ext cx="6555745" cy="457200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fr-FR" sz="2800" b="1" dirty="0">
                <a:solidFill>
                  <a:schemeClr val="bg2">
                    <a:lumMod val="75000"/>
                  </a:schemeClr>
                </a:solidFill>
              </a:rPr>
              <a:t>Application</a:t>
            </a:r>
          </a:p>
        </p:txBody>
      </p:sp>
      <p:pic>
        <p:nvPicPr>
          <p:cNvPr id="40" name="Picture 2" descr="https://www.fsdm.usmba.ac.ma/Template/useful/loading/img/logo.png">
            <a:extLst>
              <a:ext uri="{FF2B5EF4-FFF2-40B4-BE49-F238E27FC236}">
                <a16:creationId xmlns:a16="http://schemas.microsoft.com/office/drawing/2014/main" id="{67400E5D-FBE3-45D0-8FCB-719977204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27" y="6472989"/>
            <a:ext cx="820952" cy="14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B53C3BB-404F-5672-78F5-ED545A947EDF}"/>
              </a:ext>
            </a:extLst>
          </p:cNvPr>
          <p:cNvSpPr txBox="1"/>
          <p:nvPr/>
        </p:nvSpPr>
        <p:spPr>
          <a:xfrm>
            <a:off x="333097" y="2305251"/>
            <a:ext cx="42581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Configurez la puissance de l'IA</a:t>
            </a:r>
            <a:r>
              <a:rPr lang="fr-FR" dirty="0"/>
              <a:t> : Ajustez le nombre d'arbres (précision) et la taille du jeu de test (fiabilité) pour optimiser l'analyse. Notre algorithme </a:t>
            </a:r>
            <a:r>
              <a:rPr lang="fr-FR" dirty="0" err="1"/>
              <a:t>Random</a:t>
            </a:r>
            <a:r>
              <a:rPr lang="fr-FR" dirty="0"/>
              <a:t> Forest trouve l'équilibre parfait entre vitesse et exactitude.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694A6A9-7F09-31A6-3ECE-8F74A7B5A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0432" y="1746986"/>
            <a:ext cx="5687219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020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F284A-7C41-7112-67C5-3D2D401C0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90">
            <a:extLst>
              <a:ext uri="{FF2B5EF4-FFF2-40B4-BE49-F238E27FC236}">
                <a16:creationId xmlns:a16="http://schemas.microsoft.com/office/drawing/2014/main" id="{45FAE381-BE5F-BA77-ACC9-AB320AACD09E}"/>
              </a:ext>
            </a:extLst>
          </p:cNvPr>
          <p:cNvSpPr txBox="1"/>
          <p:nvPr/>
        </p:nvSpPr>
        <p:spPr>
          <a:xfrm>
            <a:off x="497431" y="996509"/>
            <a:ext cx="10450220" cy="6200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fr-FR" sz="2800" b="1" dirty="0"/>
              <a:t>Interface Utilisateur</a:t>
            </a:r>
          </a:p>
          <a:p>
            <a:endParaRPr lang="fr-FR" sz="28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CE7AC0D-169E-2507-BB88-7327E4059B0E}"/>
              </a:ext>
            </a:extLst>
          </p:cNvPr>
          <p:cNvSpPr txBox="1"/>
          <p:nvPr/>
        </p:nvSpPr>
        <p:spPr>
          <a:xfrm>
            <a:off x="969841" y="261378"/>
            <a:ext cx="6555745" cy="457200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fr-FR" sz="2800" b="1" dirty="0">
                <a:solidFill>
                  <a:schemeClr val="bg2">
                    <a:lumMod val="75000"/>
                  </a:schemeClr>
                </a:solidFill>
              </a:rPr>
              <a:t>Application</a:t>
            </a:r>
          </a:p>
        </p:txBody>
      </p:sp>
      <p:pic>
        <p:nvPicPr>
          <p:cNvPr id="40" name="Picture 2" descr="https://www.fsdm.usmba.ac.ma/Template/useful/loading/img/logo.png">
            <a:extLst>
              <a:ext uri="{FF2B5EF4-FFF2-40B4-BE49-F238E27FC236}">
                <a16:creationId xmlns:a16="http://schemas.microsoft.com/office/drawing/2014/main" id="{CC890E59-89BE-EE6D-343C-4AAB8A725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27" y="6472989"/>
            <a:ext cx="820952" cy="14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2639A2B-3EF7-D258-9D03-CDB97188498E}"/>
              </a:ext>
            </a:extLst>
          </p:cNvPr>
          <p:cNvSpPr txBox="1"/>
          <p:nvPr/>
        </p:nvSpPr>
        <p:spPr>
          <a:xfrm>
            <a:off x="333097" y="2305251"/>
            <a:ext cx="42581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Exportez vos résultats</a:t>
            </a:r>
            <a:r>
              <a:rPr lang="fr-FR" dirty="0"/>
              <a:t> : Générez une carte interactive pour explorer les risques en détail, une carte statique pour vos rapports, ou exportez les données brutes (Shapefile, </a:t>
            </a:r>
            <a:r>
              <a:rPr lang="fr-FR" dirty="0" err="1"/>
              <a:t>GeoJSON</a:t>
            </a:r>
            <a:r>
              <a:rPr lang="fr-FR" dirty="0"/>
              <a:t>) pour les réutiliser dans vos outils SIG habituels. Chaque format sert un besoin spécifique de partage et d'analyse approfondie.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553EE95-8AF6-D858-809F-9A9BD7C5A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039" y="489978"/>
            <a:ext cx="5534025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007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0EB57-DA21-2B1E-8F93-8C82947DB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90">
            <a:extLst>
              <a:ext uri="{FF2B5EF4-FFF2-40B4-BE49-F238E27FC236}">
                <a16:creationId xmlns:a16="http://schemas.microsoft.com/office/drawing/2014/main" id="{70B3AF02-5418-37C2-DF80-228994D02711}"/>
              </a:ext>
            </a:extLst>
          </p:cNvPr>
          <p:cNvSpPr txBox="1"/>
          <p:nvPr/>
        </p:nvSpPr>
        <p:spPr>
          <a:xfrm>
            <a:off x="497431" y="996509"/>
            <a:ext cx="10450220" cy="6200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fr-FR" sz="2800" b="1" dirty="0"/>
              <a:t>Interface Utilisateur</a:t>
            </a:r>
          </a:p>
          <a:p>
            <a:endParaRPr lang="fr-FR" sz="28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140562C-0991-24AC-EFE0-84DBC59CC80F}"/>
              </a:ext>
            </a:extLst>
          </p:cNvPr>
          <p:cNvSpPr txBox="1"/>
          <p:nvPr/>
        </p:nvSpPr>
        <p:spPr>
          <a:xfrm>
            <a:off x="969841" y="261378"/>
            <a:ext cx="6555745" cy="457200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fr-FR" sz="2800" b="1" dirty="0">
                <a:solidFill>
                  <a:schemeClr val="bg2">
                    <a:lumMod val="75000"/>
                  </a:schemeClr>
                </a:solidFill>
              </a:rPr>
              <a:t>Application</a:t>
            </a:r>
          </a:p>
        </p:txBody>
      </p:sp>
      <p:pic>
        <p:nvPicPr>
          <p:cNvPr id="40" name="Picture 2" descr="https://www.fsdm.usmba.ac.ma/Template/useful/loading/img/logo.png">
            <a:extLst>
              <a:ext uri="{FF2B5EF4-FFF2-40B4-BE49-F238E27FC236}">
                <a16:creationId xmlns:a16="http://schemas.microsoft.com/office/drawing/2014/main" id="{57A3CC23-FE4A-1B9F-057A-A7C86C0FE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27" y="6472989"/>
            <a:ext cx="820952" cy="14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FADFF24-2EDE-1E15-1A62-3CA1F5606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582" y="1606924"/>
            <a:ext cx="9959852" cy="443470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685D433-F5BC-FAF0-3D74-DA69DB77B06F}"/>
              </a:ext>
            </a:extLst>
          </p:cNvPr>
          <p:cNvSpPr txBox="1"/>
          <p:nvPr/>
        </p:nvSpPr>
        <p:spPr>
          <a:xfrm>
            <a:off x="4390699" y="3824277"/>
            <a:ext cx="62697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L'IA a analysé 300 bâtiments</a:t>
            </a:r>
            <a:r>
              <a:rPr lang="fr-FR" dirty="0"/>
              <a:t> avec une précision de </a:t>
            </a:r>
            <a:r>
              <a:rPr lang="fr-FR" b="1" dirty="0"/>
              <a:t>85-95%</a:t>
            </a:r>
            <a:r>
              <a:rPr lang="fr-FR" dirty="0"/>
              <a:t> et identifié </a:t>
            </a:r>
            <a:r>
              <a:rPr lang="fr-FR" b="1" dirty="0"/>
              <a:t>20 bâtiments à risque élevé</a:t>
            </a:r>
            <a:r>
              <a:rPr lang="fr-FR" dirty="0"/>
              <a:t> (6.7%). La majorité des constructions (55.3%) présentent un risque très faible.</a:t>
            </a:r>
          </a:p>
        </p:txBody>
      </p:sp>
    </p:spTree>
    <p:extLst>
      <p:ext uri="{BB962C8B-B14F-4D97-AF65-F5344CB8AC3E}">
        <p14:creationId xmlns:p14="http://schemas.microsoft.com/office/powerpoint/2010/main" val="1313413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AF10B-7B8E-F8C6-3C97-55368DB2B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90">
            <a:extLst>
              <a:ext uri="{FF2B5EF4-FFF2-40B4-BE49-F238E27FC236}">
                <a16:creationId xmlns:a16="http://schemas.microsoft.com/office/drawing/2014/main" id="{2946E278-002E-4081-D7FC-6D5C5E0579B4}"/>
              </a:ext>
            </a:extLst>
          </p:cNvPr>
          <p:cNvSpPr txBox="1"/>
          <p:nvPr/>
        </p:nvSpPr>
        <p:spPr>
          <a:xfrm>
            <a:off x="497431" y="996509"/>
            <a:ext cx="10450220" cy="6200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fr-FR" sz="2800" b="1" dirty="0"/>
              <a:t>Interface Utilisateur</a:t>
            </a:r>
          </a:p>
          <a:p>
            <a:endParaRPr lang="fr-FR" sz="28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267B1C7-A105-4E18-F898-F23D02B0F498}"/>
              </a:ext>
            </a:extLst>
          </p:cNvPr>
          <p:cNvSpPr txBox="1"/>
          <p:nvPr/>
        </p:nvSpPr>
        <p:spPr>
          <a:xfrm>
            <a:off x="969841" y="261378"/>
            <a:ext cx="6555745" cy="457200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fr-FR" sz="2800" b="1" dirty="0">
                <a:solidFill>
                  <a:schemeClr val="bg2">
                    <a:lumMod val="75000"/>
                  </a:schemeClr>
                </a:solidFill>
              </a:rPr>
              <a:t>Application</a:t>
            </a:r>
          </a:p>
        </p:txBody>
      </p:sp>
      <p:pic>
        <p:nvPicPr>
          <p:cNvPr id="40" name="Picture 2" descr="https://www.fsdm.usmba.ac.ma/Template/useful/loading/img/logo.png">
            <a:extLst>
              <a:ext uri="{FF2B5EF4-FFF2-40B4-BE49-F238E27FC236}">
                <a16:creationId xmlns:a16="http://schemas.microsoft.com/office/drawing/2014/main" id="{DBDF5E7A-4E94-E63D-3AC2-1B804D85F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27" y="6472989"/>
            <a:ext cx="820952" cy="14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2744F1A-4BDC-A82B-F473-288F889B0DA2}"/>
              </a:ext>
            </a:extLst>
          </p:cNvPr>
          <p:cNvSpPr txBox="1"/>
          <p:nvPr/>
        </p:nvSpPr>
        <p:spPr>
          <a:xfrm>
            <a:off x="7853080" y="3429000"/>
            <a:ext cx="4100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La carte permet de visualiser le risque d’inondation des bâtiments et d’identifier les zones à risque élevé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E37F38C-CEA5-6733-4C07-83C28C273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45" y="1377576"/>
            <a:ext cx="7210735" cy="510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063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990A9-9B56-9296-820D-814D2AE97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90">
            <a:extLst>
              <a:ext uri="{FF2B5EF4-FFF2-40B4-BE49-F238E27FC236}">
                <a16:creationId xmlns:a16="http://schemas.microsoft.com/office/drawing/2014/main" id="{4B27EB43-44F2-0AD9-C4F2-E8083EB53461}"/>
              </a:ext>
            </a:extLst>
          </p:cNvPr>
          <p:cNvSpPr txBox="1"/>
          <p:nvPr/>
        </p:nvSpPr>
        <p:spPr>
          <a:xfrm>
            <a:off x="497431" y="996509"/>
            <a:ext cx="10450220" cy="6200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fr-FR" sz="2800" b="1" dirty="0"/>
              <a:t>Interface Utilisateur</a:t>
            </a:r>
          </a:p>
          <a:p>
            <a:endParaRPr lang="fr-FR" sz="28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778C31D-B31B-032D-E2A3-41131BDA92DC}"/>
              </a:ext>
            </a:extLst>
          </p:cNvPr>
          <p:cNvSpPr txBox="1"/>
          <p:nvPr/>
        </p:nvSpPr>
        <p:spPr>
          <a:xfrm>
            <a:off x="969841" y="261378"/>
            <a:ext cx="6555745" cy="457200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fr-FR" sz="2800" b="1" dirty="0">
                <a:solidFill>
                  <a:schemeClr val="bg2">
                    <a:lumMod val="75000"/>
                  </a:schemeClr>
                </a:solidFill>
              </a:rPr>
              <a:t>Application</a:t>
            </a:r>
          </a:p>
        </p:txBody>
      </p:sp>
      <p:pic>
        <p:nvPicPr>
          <p:cNvPr id="40" name="Picture 2" descr="https://www.fsdm.usmba.ac.ma/Template/useful/loading/img/logo.png">
            <a:extLst>
              <a:ext uri="{FF2B5EF4-FFF2-40B4-BE49-F238E27FC236}">
                <a16:creationId xmlns:a16="http://schemas.microsoft.com/office/drawing/2014/main" id="{BA978976-576D-6669-448C-E1F2DD68B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27" y="6472989"/>
            <a:ext cx="820952" cy="14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77B2979-9BF0-8AC9-0925-BDDDEB0155D6}"/>
              </a:ext>
            </a:extLst>
          </p:cNvPr>
          <p:cNvSpPr txBox="1"/>
          <p:nvPr/>
        </p:nvSpPr>
        <p:spPr>
          <a:xfrm>
            <a:off x="7016817" y="2505670"/>
            <a:ext cx="48318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Cette fonctionnalité valide et approfondit</a:t>
            </a:r>
            <a:r>
              <a:rPr lang="fr-FR" dirty="0"/>
              <a:t> les résultats de l'IA en fournissant des analyses statistiques détaillées et visualisations qui :</a:t>
            </a:r>
          </a:p>
          <a:p>
            <a:r>
              <a:rPr lang="fr-FR" b="1" dirty="0"/>
              <a:t>📊 Confirment</a:t>
            </a:r>
            <a:r>
              <a:rPr lang="fr-FR" dirty="0"/>
              <a:t> la logique des prédictions via des graphiques et données chiffrées</a:t>
            </a:r>
          </a:p>
          <a:p>
            <a:r>
              <a:rPr lang="fr-FR" b="1" dirty="0"/>
              <a:t>🎯 Identifient</a:t>
            </a:r>
            <a:r>
              <a:rPr lang="fr-FR" dirty="0"/>
              <a:t> les profils types de risque</a:t>
            </a:r>
          </a:p>
          <a:p>
            <a:r>
              <a:rPr lang="fr-FR" b="1" dirty="0"/>
              <a:t>🚀 Transforment</a:t>
            </a:r>
            <a:r>
              <a:rPr lang="fr-FR" dirty="0"/>
              <a:t> les données brutes en insights actionnables pour la prise de décision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08EC03C-4DDB-9004-4FE0-DC0F01D0D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63" y="1718423"/>
            <a:ext cx="6684003" cy="385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342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www.customonline.com/wp-content/uploads/GettyImages-853701240-small.jpg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r="10000"/>
          <a:stretch>
            <a:fillRect/>
          </a:stretch>
        </p:blipFill>
        <p:spPr bwMode="auto">
          <a:xfrm>
            <a:off x="0" y="0"/>
            <a:ext cx="12177055" cy="3700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/>
        </p:nvSpPr>
        <p:spPr>
          <a:xfrm>
            <a:off x="0" y="-54864"/>
            <a:ext cx="12192001" cy="375542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/>
              <a:ea typeface="思源黑体 CN Light"/>
              <a:cs typeface="+mn-ea"/>
              <a:sym typeface="+mn-lt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0E243AF4-7B3F-48DB-AC37-82FE76B70B33}"/>
              </a:ext>
            </a:extLst>
          </p:cNvPr>
          <p:cNvSpPr/>
          <p:nvPr/>
        </p:nvSpPr>
        <p:spPr>
          <a:xfrm rot="2809473">
            <a:off x="1417551" y="2402565"/>
            <a:ext cx="2374882" cy="2374882"/>
          </a:xfrm>
          <a:custGeom>
            <a:avLst/>
            <a:gdLst>
              <a:gd name="connsiteX0" fmla="*/ 186921 w 3829050"/>
              <a:gd name="connsiteY0" fmla="*/ 186921 h 3829050"/>
              <a:gd name="connsiteX1" fmla="*/ 638188 w 3829050"/>
              <a:gd name="connsiteY1" fmla="*/ 0 h 3829050"/>
              <a:gd name="connsiteX2" fmla="*/ 1731382 w 3829050"/>
              <a:gd name="connsiteY2" fmla="*/ 0 h 3829050"/>
              <a:gd name="connsiteX3" fmla="*/ 1731382 w 3829050"/>
              <a:gd name="connsiteY3" fmla="*/ 1173845 h 3829050"/>
              <a:gd name="connsiteX4" fmla="*/ 2166964 w 3829050"/>
              <a:gd name="connsiteY4" fmla="*/ 1609427 h 3829050"/>
              <a:gd name="connsiteX5" fmla="*/ 3829050 w 3829050"/>
              <a:gd name="connsiteY5" fmla="*/ 1609427 h 3829050"/>
              <a:gd name="connsiteX6" fmla="*/ 3829050 w 3829050"/>
              <a:gd name="connsiteY6" fmla="*/ 3190862 h 3829050"/>
              <a:gd name="connsiteX7" fmla="*/ 3190862 w 3829050"/>
              <a:gd name="connsiteY7" fmla="*/ 3829050 h 3829050"/>
              <a:gd name="connsiteX8" fmla="*/ 638188 w 3829050"/>
              <a:gd name="connsiteY8" fmla="*/ 3829050 h 3829050"/>
              <a:gd name="connsiteX9" fmla="*/ 0 w 3829050"/>
              <a:gd name="connsiteY9" fmla="*/ 3190862 h 3829050"/>
              <a:gd name="connsiteX10" fmla="*/ 0 w 3829050"/>
              <a:gd name="connsiteY10" fmla="*/ 638188 h 3829050"/>
              <a:gd name="connsiteX11" fmla="*/ 186921 w 3829050"/>
              <a:gd name="connsiteY11" fmla="*/ 186921 h 382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29050" h="3829050">
                <a:moveTo>
                  <a:pt x="186921" y="186921"/>
                </a:moveTo>
                <a:cubicBezTo>
                  <a:pt x="302411" y="71432"/>
                  <a:pt x="461958" y="0"/>
                  <a:pt x="638188" y="0"/>
                </a:cubicBezTo>
                <a:lnTo>
                  <a:pt x="1731382" y="0"/>
                </a:lnTo>
                <a:lnTo>
                  <a:pt x="1731382" y="1173845"/>
                </a:lnTo>
                <a:cubicBezTo>
                  <a:pt x="1731382" y="1414410"/>
                  <a:pt x="1926399" y="1609427"/>
                  <a:pt x="2166964" y="1609427"/>
                </a:cubicBezTo>
                <a:lnTo>
                  <a:pt x="3829050" y="1609427"/>
                </a:lnTo>
                <a:lnTo>
                  <a:pt x="3829050" y="3190862"/>
                </a:lnTo>
                <a:cubicBezTo>
                  <a:pt x="3829050" y="3543323"/>
                  <a:pt x="3543323" y="3829050"/>
                  <a:pt x="3190862" y="3829050"/>
                </a:cubicBezTo>
                <a:lnTo>
                  <a:pt x="638188" y="3829050"/>
                </a:lnTo>
                <a:cubicBezTo>
                  <a:pt x="285727" y="3829050"/>
                  <a:pt x="0" y="3543323"/>
                  <a:pt x="0" y="3190862"/>
                </a:cubicBezTo>
                <a:lnTo>
                  <a:pt x="0" y="638188"/>
                </a:lnTo>
                <a:cubicBezTo>
                  <a:pt x="0" y="461957"/>
                  <a:pt x="71432" y="302410"/>
                  <a:pt x="186921" y="18692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078" name="Picture 6" descr="https://s3.amazonaws.com/hoth.bizango/images/797280/cloud-computing-msc_feature.jpg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35816">
            <a:off x="1624964" y="2588165"/>
            <a:ext cx="1960056" cy="201367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ZoneTexte 14"/>
          <p:cNvSpPr txBox="1"/>
          <p:nvPr/>
        </p:nvSpPr>
        <p:spPr>
          <a:xfrm>
            <a:off x="4283436" y="3910868"/>
            <a:ext cx="64556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f-ZA" sz="60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Démonstration </a:t>
            </a:r>
            <a:endParaRPr lang="fr-FR" sz="6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809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www.customonline.com/wp-content/uploads/GettyImages-853701240-small.jpg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r="10000"/>
          <a:stretch>
            <a:fillRect/>
          </a:stretch>
        </p:blipFill>
        <p:spPr bwMode="auto">
          <a:xfrm>
            <a:off x="0" y="0"/>
            <a:ext cx="12177055" cy="3700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/>
        </p:nvSpPr>
        <p:spPr>
          <a:xfrm>
            <a:off x="0" y="-54864"/>
            <a:ext cx="12192001" cy="375542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/>
              <a:ea typeface="思源黑体 CN Light"/>
              <a:cs typeface="+mn-ea"/>
              <a:sym typeface="+mn-lt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0E243AF4-7B3F-48DB-AC37-82FE76B70B33}"/>
              </a:ext>
            </a:extLst>
          </p:cNvPr>
          <p:cNvSpPr/>
          <p:nvPr/>
        </p:nvSpPr>
        <p:spPr>
          <a:xfrm rot="2809473">
            <a:off x="1417551" y="2402565"/>
            <a:ext cx="2374882" cy="2374882"/>
          </a:xfrm>
          <a:custGeom>
            <a:avLst/>
            <a:gdLst>
              <a:gd name="connsiteX0" fmla="*/ 186921 w 3829050"/>
              <a:gd name="connsiteY0" fmla="*/ 186921 h 3829050"/>
              <a:gd name="connsiteX1" fmla="*/ 638188 w 3829050"/>
              <a:gd name="connsiteY1" fmla="*/ 0 h 3829050"/>
              <a:gd name="connsiteX2" fmla="*/ 1731382 w 3829050"/>
              <a:gd name="connsiteY2" fmla="*/ 0 h 3829050"/>
              <a:gd name="connsiteX3" fmla="*/ 1731382 w 3829050"/>
              <a:gd name="connsiteY3" fmla="*/ 1173845 h 3829050"/>
              <a:gd name="connsiteX4" fmla="*/ 2166964 w 3829050"/>
              <a:gd name="connsiteY4" fmla="*/ 1609427 h 3829050"/>
              <a:gd name="connsiteX5" fmla="*/ 3829050 w 3829050"/>
              <a:gd name="connsiteY5" fmla="*/ 1609427 h 3829050"/>
              <a:gd name="connsiteX6" fmla="*/ 3829050 w 3829050"/>
              <a:gd name="connsiteY6" fmla="*/ 3190862 h 3829050"/>
              <a:gd name="connsiteX7" fmla="*/ 3190862 w 3829050"/>
              <a:gd name="connsiteY7" fmla="*/ 3829050 h 3829050"/>
              <a:gd name="connsiteX8" fmla="*/ 638188 w 3829050"/>
              <a:gd name="connsiteY8" fmla="*/ 3829050 h 3829050"/>
              <a:gd name="connsiteX9" fmla="*/ 0 w 3829050"/>
              <a:gd name="connsiteY9" fmla="*/ 3190862 h 3829050"/>
              <a:gd name="connsiteX10" fmla="*/ 0 w 3829050"/>
              <a:gd name="connsiteY10" fmla="*/ 638188 h 3829050"/>
              <a:gd name="connsiteX11" fmla="*/ 186921 w 3829050"/>
              <a:gd name="connsiteY11" fmla="*/ 186921 h 382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29050" h="3829050">
                <a:moveTo>
                  <a:pt x="186921" y="186921"/>
                </a:moveTo>
                <a:cubicBezTo>
                  <a:pt x="302411" y="71432"/>
                  <a:pt x="461958" y="0"/>
                  <a:pt x="638188" y="0"/>
                </a:cubicBezTo>
                <a:lnTo>
                  <a:pt x="1731382" y="0"/>
                </a:lnTo>
                <a:lnTo>
                  <a:pt x="1731382" y="1173845"/>
                </a:lnTo>
                <a:cubicBezTo>
                  <a:pt x="1731382" y="1414410"/>
                  <a:pt x="1926399" y="1609427"/>
                  <a:pt x="2166964" y="1609427"/>
                </a:cubicBezTo>
                <a:lnTo>
                  <a:pt x="3829050" y="1609427"/>
                </a:lnTo>
                <a:lnTo>
                  <a:pt x="3829050" y="3190862"/>
                </a:lnTo>
                <a:cubicBezTo>
                  <a:pt x="3829050" y="3543323"/>
                  <a:pt x="3543323" y="3829050"/>
                  <a:pt x="3190862" y="3829050"/>
                </a:cubicBezTo>
                <a:lnTo>
                  <a:pt x="638188" y="3829050"/>
                </a:lnTo>
                <a:cubicBezTo>
                  <a:pt x="285727" y="3829050"/>
                  <a:pt x="0" y="3543323"/>
                  <a:pt x="0" y="3190862"/>
                </a:cubicBezTo>
                <a:lnTo>
                  <a:pt x="0" y="638188"/>
                </a:lnTo>
                <a:cubicBezTo>
                  <a:pt x="0" y="461957"/>
                  <a:pt x="71432" y="302410"/>
                  <a:pt x="186921" y="18692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078" name="Picture 6" descr="https://s3.amazonaws.com/hoth.bizango/images/797280/cloud-computing-msc_feature.jpg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35816">
            <a:off x="1624964" y="2588165"/>
            <a:ext cx="1960056" cy="201367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ZoneTexte 14"/>
          <p:cNvSpPr txBox="1"/>
          <p:nvPr/>
        </p:nvSpPr>
        <p:spPr>
          <a:xfrm>
            <a:off x="4283436" y="3910868"/>
            <a:ext cx="64556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f-ZA" sz="60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fr-FR" sz="6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588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14909" y="4032959"/>
            <a:ext cx="1117552" cy="215494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Création des VMs</a:t>
            </a:r>
            <a:endParaRPr lang="fr-FR" altLang="fr-FR" dirty="0">
              <a:solidFill>
                <a:schemeClr val="bg1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541773" y="3925090"/>
            <a:ext cx="2803000" cy="491940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des systèmes</a:t>
            </a:r>
          </a:p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d’exploitation</a:t>
            </a:r>
            <a:endParaRPr lang="fr-FR" altLang="fr-F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48999" y="3866632"/>
            <a:ext cx="3114561" cy="6145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réseau </a:t>
            </a:r>
          </a:p>
          <a:p>
            <a:pPr algn="ctr"/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VMs</a:t>
            </a:r>
            <a:endParaRPr lang="fr-FR" altLang="fr-F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348417" y="3866632"/>
            <a:ext cx="660968" cy="614556"/>
            <a:chOff x="983777" y="2858113"/>
            <a:chExt cx="460916" cy="460916"/>
          </a:xfrm>
        </p:grpSpPr>
        <p:sp>
          <p:nvSpPr>
            <p:cNvPr id="10" name="文本框 9"/>
            <p:cNvSpPr txBox="1"/>
            <p:nvPr/>
          </p:nvSpPr>
          <p:spPr>
            <a:xfrm>
              <a:off x="1067994" y="2924700"/>
              <a:ext cx="274114" cy="377075"/>
            </a:xfrm>
            <a:prstGeom prst="rect">
              <a:avLst/>
            </a:prstGeom>
            <a:noFill/>
          </p:spPr>
          <p:txBody>
            <a:bodyPr wrap="none" lIns="0" rIns="0" rtlCol="0">
              <a:normAutofit/>
            </a:bodyPr>
            <a:lstStyle/>
            <a:p>
              <a:r>
                <a:rPr lang="fr-FR" altLang="fr-FR" sz="2667" dirty="0">
                  <a:solidFill>
                    <a:schemeClr val="bg1"/>
                  </a:solidFill>
                  <a:latin typeface="Lato"/>
                  <a:ea typeface="Lato"/>
                  <a:cs typeface="+mn-ea"/>
                  <a:sym typeface="+mn-lt"/>
                </a:rPr>
                <a:t>01</a:t>
              </a:r>
              <a:endParaRPr lang="zh-CN" altLang="en-US" sz="2667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983777" y="2858113"/>
              <a:ext cx="460916" cy="460916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8016742" y="3901061"/>
            <a:ext cx="614553" cy="614555"/>
            <a:chOff x="988220" y="2898404"/>
            <a:chExt cx="460916" cy="460916"/>
          </a:xfrm>
        </p:grpSpPr>
        <p:sp>
          <p:nvSpPr>
            <p:cNvPr id="13" name="文本框 12"/>
            <p:cNvSpPr txBox="1"/>
            <p:nvPr/>
          </p:nvSpPr>
          <p:spPr>
            <a:xfrm>
              <a:off x="1067994" y="2924700"/>
              <a:ext cx="274114" cy="377075"/>
            </a:xfrm>
            <a:prstGeom prst="rect">
              <a:avLst/>
            </a:prstGeom>
            <a:noFill/>
          </p:spPr>
          <p:txBody>
            <a:bodyPr wrap="none" lIns="0" rIns="0" rtlCol="0">
              <a:normAutofit/>
            </a:bodyPr>
            <a:lstStyle/>
            <a:p>
              <a:r>
                <a:rPr lang="fr-FR" altLang="fr-FR" sz="2667" dirty="0">
                  <a:solidFill>
                    <a:schemeClr val="bg1"/>
                  </a:solidFill>
                  <a:latin typeface="Lato"/>
                  <a:ea typeface="Lato"/>
                  <a:cs typeface="+mn-ea"/>
                  <a:sym typeface="+mn-lt"/>
                </a:rPr>
                <a:t>03</a:t>
              </a:r>
              <a:endParaRPr lang="zh-CN" altLang="en-US" sz="2667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4" name="任意多边形 13"/>
            <p:cNvSpPr/>
            <p:nvPr/>
          </p:nvSpPr>
          <p:spPr>
            <a:xfrm>
              <a:off x="988220" y="2898404"/>
              <a:ext cx="460916" cy="460916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791727" y="1316031"/>
            <a:ext cx="614553" cy="614555"/>
            <a:chOff x="988220" y="2898404"/>
            <a:chExt cx="460916" cy="460916"/>
          </a:xfrm>
        </p:grpSpPr>
        <p:sp>
          <p:nvSpPr>
            <p:cNvPr id="16" name="文本框 15"/>
            <p:cNvSpPr txBox="1"/>
            <p:nvPr/>
          </p:nvSpPr>
          <p:spPr>
            <a:xfrm>
              <a:off x="1067994" y="2924700"/>
              <a:ext cx="274114" cy="377075"/>
            </a:xfrm>
            <a:prstGeom prst="rect">
              <a:avLst/>
            </a:prstGeom>
            <a:noFill/>
          </p:spPr>
          <p:txBody>
            <a:bodyPr wrap="none" lIns="0" rIns="0" rtlCol="0">
              <a:normAutofit/>
            </a:bodyPr>
            <a:lstStyle/>
            <a:p>
              <a:r>
                <a:rPr lang="fr-FR" altLang="fr-FR" sz="2667" dirty="0">
                  <a:solidFill>
                    <a:schemeClr val="bg1"/>
                  </a:solidFill>
                  <a:latin typeface="Lato"/>
                  <a:ea typeface="Lato"/>
                  <a:cs typeface="+mn-ea"/>
                  <a:sym typeface="+mn-lt"/>
                </a:rPr>
                <a:t>02</a:t>
              </a:r>
              <a:endParaRPr lang="zh-CN" altLang="en-US" sz="2667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988220" y="2898404"/>
              <a:ext cx="460916" cy="460916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2AFA3E0C-A071-4ADA-AEBE-59646CE1D7BD}"/>
              </a:ext>
            </a:extLst>
          </p:cNvPr>
          <p:cNvSpPr txBox="1"/>
          <p:nvPr/>
        </p:nvSpPr>
        <p:spPr>
          <a:xfrm>
            <a:off x="932134" y="247348"/>
            <a:ext cx="8667207" cy="45720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defTabSz="914400">
              <a:defRPr/>
            </a:pPr>
            <a:r>
              <a:rPr lang="af-ZA" altLang="fr-F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"/>
                <a:ea typeface="Lato"/>
                <a:cs typeface="+mn-ea"/>
                <a:sym typeface="+mn-lt"/>
              </a:rPr>
              <a:t>conclusion </a:t>
            </a:r>
            <a:endParaRPr lang="fr-FR" altLang="fr-FR" sz="2400" b="1" dirty="0">
              <a:solidFill>
                <a:schemeClr val="tx1">
                  <a:lumMod val="65000"/>
                  <a:lumOff val="35000"/>
                </a:schemeClr>
              </a:solidFill>
              <a:latin typeface="Lato"/>
              <a:ea typeface="Lato"/>
              <a:cs typeface="+mn-ea"/>
              <a:sym typeface="+mn-lt"/>
            </a:endParaRPr>
          </a:p>
        </p:txBody>
      </p:sp>
      <p:pic>
        <p:nvPicPr>
          <p:cNvPr id="26" name="Picture 2" descr="https://www.fsdm.usmba.ac.ma/Template/useful/loading/img/logo.pn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27" y="6472989"/>
            <a:ext cx="820952" cy="14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任意多边形: 形状 49">
            <a:extLst>
              <a:ext uri="{FF2B5EF4-FFF2-40B4-BE49-F238E27FC236}">
                <a16:creationId xmlns:a16="http://schemas.microsoft.com/office/drawing/2014/main" id="{1DF020F5-A47C-4294-A551-EA0CEE5803CD}"/>
              </a:ext>
            </a:extLst>
          </p:cNvPr>
          <p:cNvSpPr/>
          <p:nvPr/>
        </p:nvSpPr>
        <p:spPr>
          <a:xfrm rot="2896400">
            <a:off x="944010" y="4562112"/>
            <a:ext cx="1089974" cy="1089974"/>
          </a:xfrm>
          <a:custGeom>
            <a:avLst/>
            <a:gdLst>
              <a:gd name="connsiteX0" fmla="*/ 186921 w 3829050"/>
              <a:gd name="connsiteY0" fmla="*/ 186921 h 3829050"/>
              <a:gd name="connsiteX1" fmla="*/ 638188 w 3829050"/>
              <a:gd name="connsiteY1" fmla="*/ 0 h 3829050"/>
              <a:gd name="connsiteX2" fmla="*/ 1731382 w 3829050"/>
              <a:gd name="connsiteY2" fmla="*/ 0 h 3829050"/>
              <a:gd name="connsiteX3" fmla="*/ 1731382 w 3829050"/>
              <a:gd name="connsiteY3" fmla="*/ 1173845 h 3829050"/>
              <a:gd name="connsiteX4" fmla="*/ 2166964 w 3829050"/>
              <a:gd name="connsiteY4" fmla="*/ 1609427 h 3829050"/>
              <a:gd name="connsiteX5" fmla="*/ 3829050 w 3829050"/>
              <a:gd name="connsiteY5" fmla="*/ 1609427 h 3829050"/>
              <a:gd name="connsiteX6" fmla="*/ 3829050 w 3829050"/>
              <a:gd name="connsiteY6" fmla="*/ 3190862 h 3829050"/>
              <a:gd name="connsiteX7" fmla="*/ 3190862 w 3829050"/>
              <a:gd name="connsiteY7" fmla="*/ 3829050 h 3829050"/>
              <a:gd name="connsiteX8" fmla="*/ 638188 w 3829050"/>
              <a:gd name="connsiteY8" fmla="*/ 3829050 h 3829050"/>
              <a:gd name="connsiteX9" fmla="*/ 0 w 3829050"/>
              <a:gd name="connsiteY9" fmla="*/ 3190862 h 3829050"/>
              <a:gd name="connsiteX10" fmla="*/ 0 w 3829050"/>
              <a:gd name="connsiteY10" fmla="*/ 638188 h 3829050"/>
              <a:gd name="connsiteX11" fmla="*/ 186921 w 3829050"/>
              <a:gd name="connsiteY11" fmla="*/ 186921 h 382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29050" h="3829050">
                <a:moveTo>
                  <a:pt x="186921" y="186921"/>
                </a:moveTo>
                <a:cubicBezTo>
                  <a:pt x="302411" y="71432"/>
                  <a:pt x="461958" y="0"/>
                  <a:pt x="638188" y="0"/>
                </a:cubicBezTo>
                <a:lnTo>
                  <a:pt x="1731382" y="0"/>
                </a:lnTo>
                <a:lnTo>
                  <a:pt x="1731382" y="1173845"/>
                </a:lnTo>
                <a:cubicBezTo>
                  <a:pt x="1731382" y="1414410"/>
                  <a:pt x="1926399" y="1609427"/>
                  <a:pt x="2166964" y="1609427"/>
                </a:cubicBezTo>
                <a:lnTo>
                  <a:pt x="3829050" y="1609427"/>
                </a:lnTo>
                <a:lnTo>
                  <a:pt x="3829050" y="3190862"/>
                </a:lnTo>
                <a:cubicBezTo>
                  <a:pt x="3829050" y="3543323"/>
                  <a:pt x="3543323" y="3829050"/>
                  <a:pt x="3190862" y="3829050"/>
                </a:cubicBezTo>
                <a:lnTo>
                  <a:pt x="638188" y="3829050"/>
                </a:lnTo>
                <a:cubicBezTo>
                  <a:pt x="285727" y="3829050"/>
                  <a:pt x="0" y="3543323"/>
                  <a:pt x="0" y="3190862"/>
                </a:cubicBezTo>
                <a:lnTo>
                  <a:pt x="0" y="638188"/>
                </a:lnTo>
                <a:cubicBezTo>
                  <a:pt x="0" y="461957"/>
                  <a:pt x="71432" y="302410"/>
                  <a:pt x="186921" y="186921"/>
                </a:cubicBezTo>
                <a:close/>
              </a:path>
            </a:pathLst>
          </a:custGeom>
          <a:solidFill>
            <a:srgbClr val="080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矩形: 圆角 29">
            <a:extLst>
              <a:ext uri="{FF2B5EF4-FFF2-40B4-BE49-F238E27FC236}">
                <a16:creationId xmlns:a16="http://schemas.microsoft.com/office/drawing/2014/main" id="{F06FA6BB-4799-452F-8EAF-5737E37B132C}"/>
              </a:ext>
            </a:extLst>
          </p:cNvPr>
          <p:cNvSpPr/>
          <p:nvPr/>
        </p:nvSpPr>
        <p:spPr>
          <a:xfrm rot="2809473">
            <a:off x="1569818" y="4371955"/>
            <a:ext cx="1365294" cy="1365294"/>
          </a:xfrm>
          <a:prstGeom prst="roundRect">
            <a:avLst/>
          </a:prstGeom>
          <a:solidFill>
            <a:srgbClr val="757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5" name="直接连接符 8">
            <a:extLst>
              <a:ext uri="{FF2B5EF4-FFF2-40B4-BE49-F238E27FC236}">
                <a16:creationId xmlns:a16="http://schemas.microsoft.com/office/drawing/2014/main" id="{6851A974-BB32-4A4A-BD4B-E5472C5EF039}"/>
              </a:ext>
            </a:extLst>
          </p:cNvPr>
          <p:cNvCxnSpPr/>
          <p:nvPr/>
        </p:nvCxnSpPr>
        <p:spPr>
          <a:xfrm flipV="1">
            <a:off x="9775585" y="3988349"/>
            <a:ext cx="2059156" cy="190207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35">
            <a:extLst>
              <a:ext uri="{FF2B5EF4-FFF2-40B4-BE49-F238E27FC236}">
                <a16:creationId xmlns:a16="http://schemas.microsoft.com/office/drawing/2014/main" id="{DD38C1A2-0510-41E0-98B5-3BBFABD1D301}"/>
              </a:ext>
            </a:extLst>
          </p:cNvPr>
          <p:cNvCxnSpPr/>
          <p:nvPr/>
        </p:nvCxnSpPr>
        <p:spPr>
          <a:xfrm>
            <a:off x="8180744" y="4208330"/>
            <a:ext cx="2091665" cy="2095193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9">
            <a:extLst>
              <a:ext uri="{FF2B5EF4-FFF2-40B4-BE49-F238E27FC236}">
                <a16:creationId xmlns:a16="http://schemas.microsoft.com/office/drawing/2014/main" id="{F5ABF992-1771-4FBB-AF98-53F803306C98}"/>
              </a:ext>
            </a:extLst>
          </p:cNvPr>
          <p:cNvSpPr/>
          <p:nvPr/>
        </p:nvSpPr>
        <p:spPr>
          <a:xfrm rot="2809473">
            <a:off x="11279353" y="3305702"/>
            <a:ext cx="1365294" cy="1365294"/>
          </a:xfrm>
          <a:prstGeom prst="roundRect">
            <a:avLst/>
          </a:prstGeom>
          <a:solidFill>
            <a:srgbClr val="757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9" name="直接连接符 25">
            <a:extLst>
              <a:ext uri="{FF2B5EF4-FFF2-40B4-BE49-F238E27FC236}">
                <a16:creationId xmlns:a16="http://schemas.microsoft.com/office/drawing/2014/main" id="{87FA663B-A628-4E7D-934A-5207470771F1}"/>
              </a:ext>
            </a:extLst>
          </p:cNvPr>
          <p:cNvCxnSpPr/>
          <p:nvPr/>
        </p:nvCxnSpPr>
        <p:spPr>
          <a:xfrm>
            <a:off x="-343057" y="-9076"/>
            <a:ext cx="2131397" cy="215346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5">
            <a:extLst>
              <a:ext uri="{FF2B5EF4-FFF2-40B4-BE49-F238E27FC236}">
                <a16:creationId xmlns:a16="http://schemas.microsoft.com/office/drawing/2014/main" id="{87FA663B-A628-4E7D-934A-5207470771F1}"/>
              </a:ext>
            </a:extLst>
          </p:cNvPr>
          <p:cNvCxnSpPr/>
          <p:nvPr/>
        </p:nvCxnSpPr>
        <p:spPr>
          <a:xfrm>
            <a:off x="8116860" y="-207657"/>
            <a:ext cx="3428604" cy="36399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22D6D80C-0EE8-494A-A338-3A711B7FD944}"/>
              </a:ext>
            </a:extLst>
          </p:cNvPr>
          <p:cNvSpPr txBox="1"/>
          <p:nvPr/>
        </p:nvSpPr>
        <p:spPr>
          <a:xfrm>
            <a:off x="999682" y="1960182"/>
            <a:ext cx="98439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i="1" dirty="0"/>
              <a:t>En conclusion, </a:t>
            </a:r>
            <a:r>
              <a:rPr lang="fr-FR" sz="2400" i="1" dirty="0" err="1"/>
              <a:t>GeoPandas</a:t>
            </a:r>
            <a:r>
              <a:rPr lang="fr-FR" sz="2400" i="1" dirty="0"/>
              <a:t> n'est pas juste une bibliothèque technique, c'est un changement de paradigme qui rend l'analyse spatiale accessible, reproductible et intégrable dans vos flux de travail data existants. Que vous soyez data </a:t>
            </a:r>
            <a:r>
              <a:rPr lang="fr-FR" sz="2400" i="1" dirty="0" err="1"/>
              <a:t>scientist</a:t>
            </a:r>
            <a:r>
              <a:rPr lang="fr-FR" sz="2400" i="1" dirty="0"/>
              <a:t>, géomaticien ou analyste, </a:t>
            </a:r>
            <a:r>
              <a:rPr lang="fr-FR" sz="2400" i="1" dirty="0" err="1"/>
              <a:t>GeoPandas</a:t>
            </a:r>
            <a:r>
              <a:rPr lang="fr-FR" sz="2400" i="1" dirty="0"/>
              <a:t> vous donne les clés pour donner une dimension spatiale à vos insights.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953957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3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8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48A4718-A319-4EC6-952C-92C565C9F46C}"/>
              </a:ext>
            </a:extLst>
          </p:cNvPr>
          <p:cNvCxnSpPr/>
          <p:nvPr/>
        </p:nvCxnSpPr>
        <p:spPr>
          <a:xfrm flipV="1">
            <a:off x="5463735" y="-558988"/>
            <a:ext cx="2839937" cy="270616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3D6D202-8EF4-4728-9F27-C1DEF760BBE8}"/>
              </a:ext>
            </a:extLst>
          </p:cNvPr>
          <p:cNvCxnSpPr/>
          <p:nvPr/>
        </p:nvCxnSpPr>
        <p:spPr>
          <a:xfrm>
            <a:off x="-330357" y="3624"/>
            <a:ext cx="3428604" cy="36399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DD38C1A2-0510-41E0-98B5-3BBFABD1D301}"/>
              </a:ext>
            </a:extLst>
          </p:cNvPr>
          <p:cNvCxnSpPr/>
          <p:nvPr/>
        </p:nvCxnSpPr>
        <p:spPr>
          <a:xfrm>
            <a:off x="8180744" y="4208330"/>
            <a:ext cx="3784255" cy="398472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851A974-BB32-4A4A-BD4B-E5472C5EF039}"/>
              </a:ext>
            </a:extLst>
          </p:cNvPr>
          <p:cNvCxnSpPr/>
          <p:nvPr/>
        </p:nvCxnSpPr>
        <p:spPr>
          <a:xfrm flipV="1">
            <a:off x="9775585" y="3988349"/>
            <a:ext cx="2059156" cy="190207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47BDADCE-704B-4FB4-8D0E-46056EC7403D}"/>
              </a:ext>
            </a:extLst>
          </p:cNvPr>
          <p:cNvCxnSpPr/>
          <p:nvPr/>
        </p:nvCxnSpPr>
        <p:spPr>
          <a:xfrm flipV="1">
            <a:off x="-384522" y="3356559"/>
            <a:ext cx="3788000" cy="350144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D702E490-8D7A-4298-8626-403B64CA820D}"/>
              </a:ext>
            </a:extLst>
          </p:cNvPr>
          <p:cNvSpPr/>
          <p:nvPr/>
        </p:nvSpPr>
        <p:spPr>
          <a:xfrm rot="2809473">
            <a:off x="3098719" y="1319803"/>
            <a:ext cx="3829050" cy="3829050"/>
          </a:xfrm>
          <a:custGeom>
            <a:avLst/>
            <a:gdLst>
              <a:gd name="connsiteX0" fmla="*/ 186921 w 3829050"/>
              <a:gd name="connsiteY0" fmla="*/ 186921 h 3829050"/>
              <a:gd name="connsiteX1" fmla="*/ 638188 w 3829050"/>
              <a:gd name="connsiteY1" fmla="*/ 0 h 3829050"/>
              <a:gd name="connsiteX2" fmla="*/ 1731382 w 3829050"/>
              <a:gd name="connsiteY2" fmla="*/ 0 h 3829050"/>
              <a:gd name="connsiteX3" fmla="*/ 1731382 w 3829050"/>
              <a:gd name="connsiteY3" fmla="*/ 1173845 h 3829050"/>
              <a:gd name="connsiteX4" fmla="*/ 2166964 w 3829050"/>
              <a:gd name="connsiteY4" fmla="*/ 1609427 h 3829050"/>
              <a:gd name="connsiteX5" fmla="*/ 3829050 w 3829050"/>
              <a:gd name="connsiteY5" fmla="*/ 1609427 h 3829050"/>
              <a:gd name="connsiteX6" fmla="*/ 3829050 w 3829050"/>
              <a:gd name="connsiteY6" fmla="*/ 3190862 h 3829050"/>
              <a:gd name="connsiteX7" fmla="*/ 3190862 w 3829050"/>
              <a:gd name="connsiteY7" fmla="*/ 3829050 h 3829050"/>
              <a:gd name="connsiteX8" fmla="*/ 638188 w 3829050"/>
              <a:gd name="connsiteY8" fmla="*/ 3829050 h 3829050"/>
              <a:gd name="connsiteX9" fmla="*/ 0 w 3829050"/>
              <a:gd name="connsiteY9" fmla="*/ 3190862 h 3829050"/>
              <a:gd name="connsiteX10" fmla="*/ 0 w 3829050"/>
              <a:gd name="connsiteY10" fmla="*/ 638188 h 3829050"/>
              <a:gd name="connsiteX11" fmla="*/ 186921 w 3829050"/>
              <a:gd name="connsiteY11" fmla="*/ 186921 h 382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29050" h="3829050">
                <a:moveTo>
                  <a:pt x="186921" y="186921"/>
                </a:moveTo>
                <a:cubicBezTo>
                  <a:pt x="302411" y="71432"/>
                  <a:pt x="461958" y="0"/>
                  <a:pt x="638188" y="0"/>
                </a:cubicBezTo>
                <a:lnTo>
                  <a:pt x="1731382" y="0"/>
                </a:lnTo>
                <a:lnTo>
                  <a:pt x="1731382" y="1173845"/>
                </a:lnTo>
                <a:cubicBezTo>
                  <a:pt x="1731382" y="1414410"/>
                  <a:pt x="1926399" y="1609427"/>
                  <a:pt x="2166964" y="1609427"/>
                </a:cubicBezTo>
                <a:lnTo>
                  <a:pt x="3829050" y="1609427"/>
                </a:lnTo>
                <a:lnTo>
                  <a:pt x="3829050" y="3190862"/>
                </a:lnTo>
                <a:cubicBezTo>
                  <a:pt x="3829050" y="3543323"/>
                  <a:pt x="3543323" y="3829050"/>
                  <a:pt x="3190862" y="3829050"/>
                </a:cubicBezTo>
                <a:lnTo>
                  <a:pt x="638188" y="3829050"/>
                </a:lnTo>
                <a:cubicBezTo>
                  <a:pt x="285727" y="3829050"/>
                  <a:pt x="0" y="3543323"/>
                  <a:pt x="0" y="3190862"/>
                </a:cubicBezTo>
                <a:lnTo>
                  <a:pt x="0" y="638188"/>
                </a:lnTo>
                <a:cubicBezTo>
                  <a:pt x="0" y="461957"/>
                  <a:pt x="71432" y="302410"/>
                  <a:pt x="186921" y="186921"/>
                </a:cubicBezTo>
                <a:close/>
              </a:path>
            </a:pathLst>
          </a:custGeom>
          <a:solidFill>
            <a:srgbClr val="080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C083C7F-49F8-4CB3-9C75-A8C12209C36A}"/>
              </a:ext>
            </a:extLst>
          </p:cNvPr>
          <p:cNvSpPr/>
          <p:nvPr/>
        </p:nvSpPr>
        <p:spPr>
          <a:xfrm rot="2809473">
            <a:off x="7924432" y="3728782"/>
            <a:ext cx="1365294" cy="1365294"/>
          </a:xfrm>
          <a:prstGeom prst="roundRect">
            <a:avLst/>
          </a:prstGeom>
          <a:solidFill>
            <a:srgbClr val="757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BA78050-FBBA-4B42-9683-8176730B0A6F}"/>
              </a:ext>
            </a:extLst>
          </p:cNvPr>
          <p:cNvSpPr/>
          <p:nvPr/>
        </p:nvSpPr>
        <p:spPr>
          <a:xfrm rot="2809473">
            <a:off x="3383106" y="5223703"/>
            <a:ext cx="803364" cy="80336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6" name="矩形 61536760">
            <a:extLst>
              <a:ext uri="{FF2B5EF4-FFF2-40B4-BE49-F238E27FC236}">
                <a16:creationId xmlns:a16="http://schemas.microsoft.com/office/drawing/2014/main" id="{6792229B-0652-4178-9D24-562BCB59F9ED}"/>
              </a:ext>
            </a:extLst>
          </p:cNvPr>
          <p:cNvSpPr/>
          <p:nvPr/>
        </p:nvSpPr>
        <p:spPr>
          <a:xfrm>
            <a:off x="3222055" y="2635370"/>
            <a:ext cx="6850816" cy="111623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fr-FR" altLang="fr-FR" sz="4500" b="1" spc="-150" dirty="0">
                <a:solidFill>
                  <a:schemeClr val="accent1">
                    <a:lumMod val="50000"/>
                  </a:schemeClr>
                </a:solidFill>
                <a:effectLst>
                  <a:glow rad="127000"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/>
                <a:ea typeface="Lato"/>
                <a:cs typeface="+mj-cs"/>
              </a:rPr>
              <a:t>Merci pour votre attention !</a:t>
            </a: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1DF020F5-A47C-4294-A551-EA0CEE5803CD}"/>
              </a:ext>
            </a:extLst>
          </p:cNvPr>
          <p:cNvSpPr/>
          <p:nvPr/>
        </p:nvSpPr>
        <p:spPr>
          <a:xfrm rot="2809473">
            <a:off x="1225088" y="1567750"/>
            <a:ext cx="1089974" cy="1089974"/>
          </a:xfrm>
          <a:custGeom>
            <a:avLst/>
            <a:gdLst>
              <a:gd name="connsiteX0" fmla="*/ 186921 w 3829050"/>
              <a:gd name="connsiteY0" fmla="*/ 186921 h 3829050"/>
              <a:gd name="connsiteX1" fmla="*/ 638188 w 3829050"/>
              <a:gd name="connsiteY1" fmla="*/ 0 h 3829050"/>
              <a:gd name="connsiteX2" fmla="*/ 1731382 w 3829050"/>
              <a:gd name="connsiteY2" fmla="*/ 0 h 3829050"/>
              <a:gd name="connsiteX3" fmla="*/ 1731382 w 3829050"/>
              <a:gd name="connsiteY3" fmla="*/ 1173845 h 3829050"/>
              <a:gd name="connsiteX4" fmla="*/ 2166964 w 3829050"/>
              <a:gd name="connsiteY4" fmla="*/ 1609427 h 3829050"/>
              <a:gd name="connsiteX5" fmla="*/ 3829050 w 3829050"/>
              <a:gd name="connsiteY5" fmla="*/ 1609427 h 3829050"/>
              <a:gd name="connsiteX6" fmla="*/ 3829050 w 3829050"/>
              <a:gd name="connsiteY6" fmla="*/ 3190862 h 3829050"/>
              <a:gd name="connsiteX7" fmla="*/ 3190862 w 3829050"/>
              <a:gd name="connsiteY7" fmla="*/ 3829050 h 3829050"/>
              <a:gd name="connsiteX8" fmla="*/ 638188 w 3829050"/>
              <a:gd name="connsiteY8" fmla="*/ 3829050 h 3829050"/>
              <a:gd name="connsiteX9" fmla="*/ 0 w 3829050"/>
              <a:gd name="connsiteY9" fmla="*/ 3190862 h 3829050"/>
              <a:gd name="connsiteX10" fmla="*/ 0 w 3829050"/>
              <a:gd name="connsiteY10" fmla="*/ 638188 h 3829050"/>
              <a:gd name="connsiteX11" fmla="*/ 186921 w 3829050"/>
              <a:gd name="connsiteY11" fmla="*/ 186921 h 382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29050" h="3829050">
                <a:moveTo>
                  <a:pt x="186921" y="186921"/>
                </a:moveTo>
                <a:cubicBezTo>
                  <a:pt x="302411" y="71432"/>
                  <a:pt x="461958" y="0"/>
                  <a:pt x="638188" y="0"/>
                </a:cubicBezTo>
                <a:lnTo>
                  <a:pt x="1731382" y="0"/>
                </a:lnTo>
                <a:lnTo>
                  <a:pt x="1731382" y="1173845"/>
                </a:lnTo>
                <a:cubicBezTo>
                  <a:pt x="1731382" y="1414410"/>
                  <a:pt x="1926399" y="1609427"/>
                  <a:pt x="2166964" y="1609427"/>
                </a:cubicBezTo>
                <a:lnTo>
                  <a:pt x="3829050" y="1609427"/>
                </a:lnTo>
                <a:lnTo>
                  <a:pt x="3829050" y="3190862"/>
                </a:lnTo>
                <a:cubicBezTo>
                  <a:pt x="3829050" y="3543323"/>
                  <a:pt x="3543323" y="3829050"/>
                  <a:pt x="3190862" y="3829050"/>
                </a:cubicBezTo>
                <a:lnTo>
                  <a:pt x="638188" y="3829050"/>
                </a:lnTo>
                <a:cubicBezTo>
                  <a:pt x="285727" y="3829050"/>
                  <a:pt x="0" y="3543323"/>
                  <a:pt x="0" y="3190862"/>
                </a:cubicBezTo>
                <a:lnTo>
                  <a:pt x="0" y="638188"/>
                </a:lnTo>
                <a:cubicBezTo>
                  <a:pt x="0" y="461957"/>
                  <a:pt x="71432" y="302410"/>
                  <a:pt x="186921" y="186921"/>
                </a:cubicBezTo>
                <a:close/>
              </a:path>
            </a:pathLst>
          </a:custGeom>
          <a:solidFill>
            <a:srgbClr val="080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F06FA6BB-4799-452F-8EAF-5737E37B132C}"/>
              </a:ext>
            </a:extLst>
          </p:cNvPr>
          <p:cNvSpPr/>
          <p:nvPr/>
        </p:nvSpPr>
        <p:spPr>
          <a:xfrm rot="2809473">
            <a:off x="1569445" y="1464529"/>
            <a:ext cx="1365294" cy="1365294"/>
          </a:xfrm>
          <a:prstGeom prst="roundRect">
            <a:avLst/>
          </a:prstGeom>
          <a:solidFill>
            <a:srgbClr val="757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295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Click="0" advTm="3000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2.6 unknown"/>
  <p:tag name="AS_RELEASE_DATE" val="2021.11.30"/>
  <p:tag name="AS_TITLE" val="Aspose.Slides for Java"/>
  <p:tag name="AS_VERSION" val="21.11"/>
  <p:tag name="ISPRING_PRESENTATION_TITLE" val="PowerPoint 演示文稿"/>
</p:tagLst>
</file>

<file path=ppt/theme/theme1.xml><?xml version="1.0" encoding="utf-8"?>
<a:theme xmlns:a="http://schemas.openxmlformats.org/drawingml/2006/main" name="Office Theme">
  <a:themeElements>
    <a:clrScheme name="自定义 1899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7577CD"/>
      </a:accent1>
      <a:accent2>
        <a:srgbClr val="080957"/>
      </a:accent2>
      <a:accent3>
        <a:srgbClr val="FF6D02"/>
      </a:accent3>
      <a:accent4>
        <a:srgbClr val="4A33B7"/>
      </a:accent4>
      <a:accent5>
        <a:srgbClr val="343D74"/>
      </a:accent5>
      <a:accent6>
        <a:srgbClr val="778495"/>
      </a:accent6>
      <a:hlink>
        <a:srgbClr val="4276AA"/>
      </a:hlink>
      <a:folHlink>
        <a:srgbClr val="BFBFBF"/>
      </a:folHlink>
    </a:clrScheme>
    <a:fontScheme name="思源黑体">
      <a:majorFont>
        <a:latin typeface="思源黑体 CN Heavy"/>
        <a:ea typeface="思源黑体 CN Normal"/>
        <a:cs typeface="Arial"/>
      </a:majorFont>
      <a:minorFont>
        <a:latin typeface="思源黑体 CN Light"/>
        <a:ea typeface="思源黑体 CN Regular"/>
        <a:cs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等线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等线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6104</TotalTime>
  <Words>904</Words>
  <Application>Microsoft Office PowerPoint</Application>
  <PresentationFormat>Widescreen</PresentationFormat>
  <Paragraphs>166</Paragraphs>
  <Slides>26</Slides>
  <Notes>26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等线</vt:lpstr>
      <vt:lpstr>Arial</vt:lpstr>
      <vt:lpstr>Calibri</vt:lpstr>
      <vt:lpstr>Cambria Math</vt:lpstr>
      <vt:lpstr>Lato</vt:lpstr>
      <vt:lpstr>Open Sans Light</vt:lpstr>
      <vt:lpstr>Times New Roman</vt:lpstr>
      <vt:lpstr>思源黑体 CN Light</vt:lpstr>
      <vt:lpstr>思源黑体 CN Medium</vt:lpstr>
      <vt:lpstr>Office Theme</vt:lpstr>
      <vt:lpstr>PowerPoint Presentation</vt:lpstr>
      <vt:lpstr>Contenu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MUSTAPHA BEN-CHEIKH</cp:lastModifiedBy>
  <cp:revision>348</cp:revision>
  <dcterms:created xsi:type="dcterms:W3CDTF">2019-07-11T04:52:53Z</dcterms:created>
  <dcterms:modified xsi:type="dcterms:W3CDTF">2025-11-11T22:10:15Z</dcterms:modified>
</cp:coreProperties>
</file>